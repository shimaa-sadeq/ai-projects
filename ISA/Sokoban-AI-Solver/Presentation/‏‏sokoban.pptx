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8" r:id="rId3"/>
    <p:sldId id="260" r:id="rId4"/>
    <p:sldId id="274" r:id="rId5"/>
    <p:sldId id="259" r:id="rId6"/>
    <p:sldId id="261" r:id="rId7"/>
    <p:sldId id="264" r:id="rId8"/>
    <p:sldId id="262" r:id="rId9"/>
    <p:sldId id="271" r:id="rId10"/>
    <p:sldId id="265" r:id="rId11"/>
    <p:sldId id="267" r:id="rId12"/>
    <p:sldId id="266" r:id="rId13"/>
    <p:sldId id="268" r:id="rId14"/>
    <p:sldId id="269" r:id="rId15"/>
    <p:sldId id="263" r:id="rId16"/>
    <p:sldId id="275" r:id="rId17"/>
    <p:sldId id="273" r:id="rId18"/>
  </p:sldIdLst>
  <p:sldSz cx="18288000" cy="10287000"/>
  <p:notesSz cx="6858000" cy="9144000"/>
  <p:embeddedFontLst>
    <p:embeddedFont>
      <p:font typeface="Anonymous Pro" panose="020B0604020202020204" charset="0"/>
      <p:regular r:id="rId20"/>
    </p:embeddedFont>
    <p:embeddedFont>
      <p:font typeface="Anonymous Pro Bold" panose="020B0604020202020204" charset="0"/>
      <p:regular r:id="rId21"/>
    </p:embeddedFont>
    <p:embeddedFont>
      <p:font typeface="Anonymous Pro Italics" panose="020B0604020202020204" charset="0"/>
      <p:regular r:id="rId22"/>
    </p:embeddedFont>
    <p:embeddedFont>
      <p:font typeface="HelveticaNeueLT Arabic 55 Roman" panose="020B0604020202020204" pitchFamily="34" charset="-78"/>
      <p:regular r:id="rId23"/>
    </p:embeddedFont>
    <p:embeddedFont>
      <p:font typeface="HK Modular" panose="020B0604020202020204" charset="0"/>
      <p:regular r:id="rId24"/>
    </p:embeddedFont>
    <p:embeddedFont>
      <p:font typeface="SuperDario"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A050"/>
    <a:srgbClr val="2E1B5B"/>
    <a:srgbClr val="10D000"/>
    <a:srgbClr val="DAF5FF"/>
    <a:srgbClr val="E6E6E6"/>
    <a:srgbClr val="A8D67C"/>
    <a:srgbClr val="8BE800"/>
    <a:srgbClr val="FFB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739"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83413F47-4AA2-4069-BB44-E6011E85493B}" type="datetimeFigureOut">
              <a:rPr lang="en-US" smtClean="0"/>
              <a:t>6/5/2026</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5260FFB0-5E7B-47AB-9522-C33D543A41F4}" type="slidenum">
              <a:rPr lang="en-US" smtClean="0"/>
              <a:t>‹#›</a:t>
            </a:fld>
            <a:endParaRPr lang="en-US"/>
          </a:p>
        </p:txBody>
      </p:sp>
    </p:spTree>
    <p:extLst>
      <p:ext uri="{BB962C8B-B14F-4D97-AF65-F5344CB8AC3E}">
        <p14:creationId xmlns:p14="http://schemas.microsoft.com/office/powerpoint/2010/main" val="219172614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SY" dirty="0"/>
              <a:t>تمثيل الحالة وقواعد اللعبة تم تمثيل حالة اللعبة باستخدام العناصر التالية: موقع اللاعب: زوج مرتب من الإحداثيات (</a:t>
            </a:r>
            <a:r>
              <a:rPr lang="en-US" dirty="0"/>
              <a:t>x, y). </a:t>
            </a:r>
            <a:r>
              <a:rPr lang="ar-SY" dirty="0"/>
              <a:t>مواقع الصناديق: مجموعة (</a:t>
            </a:r>
            <a:r>
              <a:rPr lang="en-US" dirty="0"/>
              <a:t>Set) </a:t>
            </a:r>
            <a:r>
              <a:rPr lang="ar-SY" dirty="0"/>
              <a:t>من الإحداثيات. مواقع الأهداف: مجموعة ثابتة من الإحداثيات. الجدران: مواقع غير قابلة للحركة. تُعد الحالة ناجحة عندما تصبح جميع الصناديق موضوعة فوق الأهداف. أي حركة غير قانونية، مثل الاصطدام بجدار أو دفع صندوق إلى موقع غير صالح، يتم رفضها مباشرة. </a:t>
            </a:r>
            <a:endParaRPr lang="en-US" dirty="0"/>
          </a:p>
        </p:txBody>
      </p:sp>
      <p:sp>
        <p:nvSpPr>
          <p:cNvPr id="4" name="عنصر نائب لرقم الشريحة 3"/>
          <p:cNvSpPr>
            <a:spLocks noGrp="1"/>
          </p:cNvSpPr>
          <p:nvPr>
            <p:ph type="sldNum" sz="quarter" idx="5"/>
          </p:nvPr>
        </p:nvSpPr>
        <p:spPr/>
        <p:txBody>
          <a:bodyPr/>
          <a:lstStyle/>
          <a:p>
            <a:fld id="{5260FFB0-5E7B-47AB-9522-C33D543A41F4}" type="slidenum">
              <a:rPr lang="en-US" smtClean="0"/>
              <a:t>5</a:t>
            </a:fld>
            <a:endParaRPr lang="en-US"/>
          </a:p>
        </p:txBody>
      </p:sp>
    </p:spTree>
    <p:extLst>
      <p:ext uri="{BB962C8B-B14F-4D97-AF65-F5344CB8AC3E}">
        <p14:creationId xmlns:p14="http://schemas.microsoft.com/office/powerpoint/2010/main" val="1925507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SY" dirty="0"/>
              <a:t>خوارزمية </a:t>
            </a:r>
            <a:r>
              <a:rPr lang="en-US" dirty="0"/>
              <a:t>A* </a:t>
            </a:r>
            <a:r>
              <a:rPr lang="ar-SY" dirty="0"/>
              <a:t>المستخدمة تعتمد خوارزمية </a:t>
            </a:r>
            <a:r>
              <a:rPr lang="en-US" dirty="0"/>
              <a:t>A* </a:t>
            </a:r>
            <a:r>
              <a:rPr lang="ar-SY" dirty="0"/>
              <a:t>على الجمع بين: </a:t>
            </a:r>
            <a:r>
              <a:rPr lang="en-US" dirty="0"/>
              <a:t>g(n): </a:t>
            </a:r>
            <a:r>
              <a:rPr lang="ar-SY" dirty="0"/>
              <a:t>تكلفة الوصول إلى الحالة الحالية (عدد الحركات المنفذة). </a:t>
            </a:r>
            <a:r>
              <a:rPr lang="en-US" dirty="0"/>
              <a:t>h(n): </a:t>
            </a:r>
            <a:r>
              <a:rPr lang="ar-SY" dirty="0"/>
              <a:t>دالة إرشادية لتقدير المسافة المتبقية للوصول إلى الحالة الهدف. 1. الدالة الإرشادية (</a:t>
            </a:r>
            <a:r>
              <a:rPr lang="en-US" dirty="0"/>
              <a:t>Heuristic Function) </a:t>
            </a:r>
            <a:r>
              <a:rPr lang="ar-SY" dirty="0"/>
              <a:t>تم استخدام مسافة </a:t>
            </a:r>
            <a:r>
              <a:rPr lang="en-US" dirty="0"/>
              <a:t>Manhattan </a:t>
            </a:r>
            <a:r>
              <a:rPr lang="ar-SY" dirty="0"/>
              <a:t>لحساب أقرب مسافة بين كل صندوق وأقرب هدف، مع إضافة وزن بسيط لمسافة اللاعب عن أقرب صندوق. يساعد هذا الأسلوب على توجيه البحث بشكل أكثر كفاءة وتقليل استكشاف الحالات غير المفيدة. </a:t>
            </a:r>
            <a:endParaRPr lang="en-US" dirty="0"/>
          </a:p>
        </p:txBody>
      </p:sp>
      <p:sp>
        <p:nvSpPr>
          <p:cNvPr id="4" name="عنصر نائب لرقم الشريحة 3"/>
          <p:cNvSpPr>
            <a:spLocks noGrp="1"/>
          </p:cNvSpPr>
          <p:nvPr>
            <p:ph type="sldNum" sz="quarter" idx="5"/>
          </p:nvPr>
        </p:nvSpPr>
        <p:spPr/>
        <p:txBody>
          <a:bodyPr/>
          <a:lstStyle/>
          <a:p>
            <a:fld id="{5260FFB0-5E7B-47AB-9522-C33D543A41F4}" type="slidenum">
              <a:rPr lang="en-US" smtClean="0"/>
              <a:t>6</a:t>
            </a:fld>
            <a:endParaRPr lang="en-US"/>
          </a:p>
        </p:txBody>
      </p:sp>
    </p:spTree>
    <p:extLst>
      <p:ext uri="{BB962C8B-B14F-4D97-AF65-F5344CB8AC3E}">
        <p14:creationId xmlns:p14="http://schemas.microsoft.com/office/powerpoint/2010/main" val="2647448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SY" dirty="0"/>
              <a:t>الكشف عن حالات الجمود (</a:t>
            </a:r>
            <a:r>
              <a:rPr lang="en-US" dirty="0"/>
              <a:t>Deadlock Detection) </a:t>
            </a:r>
            <a:r>
              <a:rPr lang="ar-SY" dirty="0"/>
              <a:t>لتحسين الأداء وتقليل فضاء البحث، تم تضمين عدة فحوصات للكشف المبكر عن حالات الجمود، من أبرزها: وجود الصندوق في زاوية لا تحتوي على هدف. انحصار الصندوق بين جدارين أو بين جدار وصندوق آخر. فحص خاص للممرات الضيقة في المستويات المتقدمة. تساهم هذه الآليات في منع الخوارزمية من استكشاف حالات غير قابلة للحل وتحسين سرعة البحث بشكل ملحوظ. </a:t>
            </a:r>
            <a:endParaRPr lang="en-US" dirty="0"/>
          </a:p>
        </p:txBody>
      </p:sp>
      <p:sp>
        <p:nvSpPr>
          <p:cNvPr id="4" name="عنصر نائب لرقم الشريحة 3"/>
          <p:cNvSpPr>
            <a:spLocks noGrp="1"/>
          </p:cNvSpPr>
          <p:nvPr>
            <p:ph type="sldNum" sz="quarter" idx="5"/>
          </p:nvPr>
        </p:nvSpPr>
        <p:spPr/>
        <p:txBody>
          <a:bodyPr/>
          <a:lstStyle/>
          <a:p>
            <a:fld id="{5260FFB0-5E7B-47AB-9522-C33D543A41F4}" type="slidenum">
              <a:rPr lang="en-US" smtClean="0"/>
              <a:t>7</a:t>
            </a:fld>
            <a:endParaRPr lang="en-US"/>
          </a:p>
        </p:txBody>
      </p:sp>
    </p:spTree>
    <p:extLst>
      <p:ext uri="{BB962C8B-B14F-4D97-AF65-F5344CB8AC3E}">
        <p14:creationId xmlns:p14="http://schemas.microsoft.com/office/powerpoint/2010/main" val="1071772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6.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7.svg"/><Relationship Id="rId7"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5.sv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22.svg"/><Relationship Id="rId4" Type="http://schemas.openxmlformats.org/officeDocument/2006/relationships/image" Target="../media/image21.svg"/><Relationship Id="rId9" Type="http://schemas.openxmlformats.org/officeDocument/2006/relationships/image" Target="../media/image23.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2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2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svg"/><Relationship Id="rId7"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24.sv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svg"/><Relationship Id="rId7" Type="http://schemas.openxmlformats.org/officeDocument/2006/relationships/image" Target="../media/image28.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9.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1.svg"/><Relationship Id="rId7" Type="http://schemas.openxmlformats.org/officeDocument/2006/relationships/image" Target="../media/image34.svg"/><Relationship Id="rId2"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4.svg"/><Relationship Id="rId10" Type="http://schemas.openxmlformats.org/officeDocument/2006/relationships/image" Target="../media/image37.png"/><Relationship Id="rId4" Type="http://schemas.openxmlformats.org/officeDocument/2006/relationships/image" Target="../media/image32.svg"/><Relationship Id="rId9" Type="http://schemas.openxmlformats.org/officeDocument/2006/relationships/image" Target="../media/image36.svg"/></Relationships>
</file>

<file path=ppt/slides/_rels/slide12.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2.png"/><Relationship Id="rId2"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slideLayout" Target="../slideLayouts/slideLayout7.xml"/><Relationship Id="rId4" Type="http://schemas.openxmlformats.org/officeDocument/2006/relationships/image" Target="../media/image45.svg"/></Relationships>
</file>

<file path=ppt/slides/_rels/slide1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32.sv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9.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9.svg"/><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0.svg"/></Relationships>
</file>

<file path=ppt/slides/_rels/slide17.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36.svg"/><Relationship Id="rId7" Type="http://schemas.openxmlformats.org/officeDocument/2006/relationships/image" Target="../media/image18.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svg"/><Relationship Id="rId10" Type="http://schemas.openxmlformats.org/officeDocument/2006/relationships/image" Target="../media/image29.svg"/><Relationship Id="rId4" Type="http://schemas.openxmlformats.org/officeDocument/2006/relationships/image" Target="../media/image39.svg"/><Relationship Id="rId9" Type="http://schemas.openxmlformats.org/officeDocument/2006/relationships/image" Target="../media/image4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1410138" y="355567"/>
            <a:ext cx="4936169" cy="1202630"/>
          </a:xfrm>
          <a:custGeom>
            <a:avLst/>
            <a:gdLst/>
            <a:ahLst/>
            <a:cxnLst/>
            <a:rect l="l" t="t" r="r" b="b"/>
            <a:pathLst>
              <a:path w="4936169" h="1202630">
                <a:moveTo>
                  <a:pt x="0" y="0"/>
                </a:moveTo>
                <a:lnTo>
                  <a:pt x="4936169" y="0"/>
                </a:lnTo>
                <a:lnTo>
                  <a:pt x="4936169" y="1202630"/>
                </a:lnTo>
                <a:lnTo>
                  <a:pt x="0" y="12026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5910616" y="2397630"/>
            <a:ext cx="6689788" cy="1143346"/>
          </a:xfrm>
          <a:custGeom>
            <a:avLst/>
            <a:gdLst/>
            <a:ahLst/>
            <a:cxnLst/>
            <a:rect l="l" t="t" r="r" b="b"/>
            <a:pathLst>
              <a:path w="6689788" h="1143346">
                <a:moveTo>
                  <a:pt x="0" y="0"/>
                </a:moveTo>
                <a:lnTo>
                  <a:pt x="6689788" y="0"/>
                </a:lnTo>
                <a:lnTo>
                  <a:pt x="6689788" y="1143346"/>
                </a:lnTo>
                <a:lnTo>
                  <a:pt x="0" y="11433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403621" y="919222"/>
            <a:ext cx="5245314" cy="1277949"/>
          </a:xfrm>
          <a:custGeom>
            <a:avLst/>
            <a:gdLst/>
            <a:ahLst/>
            <a:cxnLst/>
            <a:rect l="l" t="t" r="r" b="b"/>
            <a:pathLst>
              <a:path w="5245314" h="1277949">
                <a:moveTo>
                  <a:pt x="0" y="0"/>
                </a:moveTo>
                <a:lnTo>
                  <a:pt x="5245314" y="0"/>
                </a:lnTo>
                <a:lnTo>
                  <a:pt x="5245314" y="1277949"/>
                </a:lnTo>
                <a:lnTo>
                  <a:pt x="0" y="127794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3595795" y="7394483"/>
            <a:ext cx="533895" cy="1334738"/>
          </a:xfrm>
          <a:custGeom>
            <a:avLst/>
            <a:gdLst/>
            <a:ahLst/>
            <a:cxnLst/>
            <a:rect l="l" t="t" r="r" b="b"/>
            <a:pathLst>
              <a:path w="533895" h="1334738">
                <a:moveTo>
                  <a:pt x="0" y="0"/>
                </a:moveTo>
                <a:lnTo>
                  <a:pt x="533896" y="0"/>
                </a:lnTo>
                <a:lnTo>
                  <a:pt x="533896" y="1334738"/>
                </a:lnTo>
                <a:lnTo>
                  <a:pt x="0" y="13347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10" name="Freeform 10"/>
          <p:cNvSpPr/>
          <p:nvPr/>
        </p:nvSpPr>
        <p:spPr>
          <a:xfrm>
            <a:off x="16586370" y="626763"/>
            <a:ext cx="1345859" cy="1770867"/>
          </a:xfrm>
          <a:custGeom>
            <a:avLst/>
            <a:gdLst/>
            <a:ahLst/>
            <a:cxnLst/>
            <a:rect l="l" t="t" r="r" b="b"/>
            <a:pathLst>
              <a:path w="1345859" h="1770867">
                <a:moveTo>
                  <a:pt x="0" y="0"/>
                </a:moveTo>
                <a:lnTo>
                  <a:pt x="1345860" y="0"/>
                </a:lnTo>
                <a:lnTo>
                  <a:pt x="1345860" y="1770867"/>
                </a:lnTo>
                <a:lnTo>
                  <a:pt x="0" y="1770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a:off x="16801991" y="5909042"/>
            <a:ext cx="1425917" cy="2781044"/>
          </a:xfrm>
          <a:custGeom>
            <a:avLst/>
            <a:gdLst/>
            <a:ahLst/>
            <a:cxnLst/>
            <a:rect l="l" t="t" r="r" b="b"/>
            <a:pathLst>
              <a:path w="1425917" h="2781044">
                <a:moveTo>
                  <a:pt x="0" y="0"/>
                </a:moveTo>
                <a:lnTo>
                  <a:pt x="1425917" y="0"/>
                </a:lnTo>
                <a:lnTo>
                  <a:pt x="1425917" y="2781044"/>
                </a:lnTo>
                <a:lnTo>
                  <a:pt x="0" y="278104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a:off x="14133872" y="5419661"/>
            <a:ext cx="3381078" cy="3270424"/>
          </a:xfrm>
          <a:custGeom>
            <a:avLst/>
            <a:gdLst/>
            <a:ahLst/>
            <a:cxnLst/>
            <a:rect l="l" t="t" r="r" b="b"/>
            <a:pathLst>
              <a:path w="3381078" h="3270424">
                <a:moveTo>
                  <a:pt x="0" y="0"/>
                </a:moveTo>
                <a:lnTo>
                  <a:pt x="3381077" y="0"/>
                </a:lnTo>
                <a:lnTo>
                  <a:pt x="3381077" y="3270425"/>
                </a:lnTo>
                <a:lnTo>
                  <a:pt x="0" y="327042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4" name="Freeform 14"/>
          <p:cNvSpPr/>
          <p:nvPr/>
        </p:nvSpPr>
        <p:spPr>
          <a:xfrm>
            <a:off x="3807534" y="231278"/>
            <a:ext cx="2978226" cy="725604"/>
          </a:xfrm>
          <a:custGeom>
            <a:avLst/>
            <a:gdLst/>
            <a:ahLst/>
            <a:cxnLst/>
            <a:rect l="l" t="t" r="r" b="b"/>
            <a:pathLst>
              <a:path w="2978226" h="725604">
                <a:moveTo>
                  <a:pt x="0" y="0"/>
                </a:moveTo>
                <a:lnTo>
                  <a:pt x="2978226" y="0"/>
                </a:lnTo>
                <a:lnTo>
                  <a:pt x="2978226" y="725604"/>
                </a:lnTo>
                <a:lnTo>
                  <a:pt x="0" y="72560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2260963" y="975544"/>
            <a:ext cx="13329923" cy="2030043"/>
          </a:xfrm>
          <a:prstGeom prst="rect">
            <a:avLst/>
          </a:prstGeom>
        </p:spPr>
        <p:txBody>
          <a:bodyPr lIns="0" tIns="0" rIns="0" bIns="0" rtlCol="0" anchor="t">
            <a:spAutoFit/>
          </a:bodyPr>
          <a:lstStyle/>
          <a:p>
            <a:pPr algn="ctr">
              <a:lnSpc>
                <a:spcPts val="18235"/>
              </a:lnSpc>
            </a:pPr>
            <a:r>
              <a:rPr lang="en-US" sz="9600" b="1" dirty="0">
                <a:solidFill>
                  <a:srgbClr val="2E1B5B"/>
                </a:solidFill>
                <a:latin typeface="HK Modular"/>
                <a:ea typeface="HK Modular"/>
                <a:cs typeface="HK Modular"/>
                <a:sym typeface="HK Modular"/>
              </a:rPr>
              <a:t>LET'S PLAY</a:t>
            </a:r>
          </a:p>
        </p:txBody>
      </p:sp>
      <p:sp>
        <p:nvSpPr>
          <p:cNvPr id="16" name="Freeform 16"/>
          <p:cNvSpPr/>
          <p:nvPr/>
        </p:nvSpPr>
        <p:spPr>
          <a:xfrm>
            <a:off x="5627012" y="7299564"/>
            <a:ext cx="737982" cy="737982"/>
          </a:xfrm>
          <a:custGeom>
            <a:avLst/>
            <a:gdLst/>
            <a:ahLst/>
            <a:cxnLst/>
            <a:rect l="l" t="t" r="r" b="b"/>
            <a:pathLst>
              <a:path w="737982" h="737982">
                <a:moveTo>
                  <a:pt x="0" y="0"/>
                </a:moveTo>
                <a:lnTo>
                  <a:pt x="737981" y="0"/>
                </a:lnTo>
                <a:lnTo>
                  <a:pt x="737981" y="737982"/>
                </a:lnTo>
                <a:lnTo>
                  <a:pt x="0" y="73798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7" name="Freeform 17"/>
          <p:cNvSpPr/>
          <p:nvPr/>
        </p:nvSpPr>
        <p:spPr>
          <a:xfrm>
            <a:off x="11246460" y="7299564"/>
            <a:ext cx="748490" cy="748490"/>
          </a:xfrm>
          <a:custGeom>
            <a:avLst/>
            <a:gdLst/>
            <a:ahLst/>
            <a:cxnLst/>
            <a:rect l="l" t="t" r="r" b="b"/>
            <a:pathLst>
              <a:path w="748490" h="748490">
                <a:moveTo>
                  <a:pt x="0" y="0"/>
                </a:moveTo>
                <a:lnTo>
                  <a:pt x="748490" y="0"/>
                </a:lnTo>
                <a:lnTo>
                  <a:pt x="748490" y="748489"/>
                </a:lnTo>
                <a:lnTo>
                  <a:pt x="0" y="748489"/>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8" name="Freeform 18"/>
          <p:cNvSpPr/>
          <p:nvPr/>
        </p:nvSpPr>
        <p:spPr>
          <a:xfrm>
            <a:off x="6854565" y="5810652"/>
            <a:ext cx="1533953" cy="2879433"/>
          </a:xfrm>
          <a:custGeom>
            <a:avLst/>
            <a:gdLst/>
            <a:ahLst/>
            <a:cxnLst/>
            <a:rect l="l" t="t" r="r" b="b"/>
            <a:pathLst>
              <a:path w="1533953" h="2879433">
                <a:moveTo>
                  <a:pt x="0" y="0"/>
                </a:moveTo>
                <a:lnTo>
                  <a:pt x="1533953" y="0"/>
                </a:lnTo>
                <a:lnTo>
                  <a:pt x="1533953" y="2879434"/>
                </a:lnTo>
                <a:lnTo>
                  <a:pt x="0" y="2879434"/>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9" name="Freeform 19"/>
          <p:cNvSpPr/>
          <p:nvPr/>
        </p:nvSpPr>
        <p:spPr>
          <a:xfrm>
            <a:off x="9315147" y="5742126"/>
            <a:ext cx="1586538" cy="2947960"/>
          </a:xfrm>
          <a:custGeom>
            <a:avLst/>
            <a:gdLst/>
            <a:ahLst/>
            <a:cxnLst/>
            <a:rect l="l" t="t" r="r" b="b"/>
            <a:pathLst>
              <a:path w="1586538" h="2947960">
                <a:moveTo>
                  <a:pt x="0" y="0"/>
                </a:moveTo>
                <a:lnTo>
                  <a:pt x="1586539" y="0"/>
                </a:lnTo>
                <a:lnTo>
                  <a:pt x="1586539" y="2947960"/>
                </a:lnTo>
                <a:lnTo>
                  <a:pt x="0" y="2947960"/>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20" name="TextBox 20"/>
          <p:cNvSpPr txBox="1"/>
          <p:nvPr/>
        </p:nvSpPr>
        <p:spPr>
          <a:xfrm>
            <a:off x="3245862" y="3165630"/>
            <a:ext cx="11360124" cy="919867"/>
          </a:xfrm>
          <a:prstGeom prst="rect">
            <a:avLst/>
          </a:prstGeom>
        </p:spPr>
        <p:txBody>
          <a:bodyPr lIns="0" tIns="0" rIns="0" bIns="0" rtlCol="0" anchor="t">
            <a:spAutoFit/>
          </a:bodyPr>
          <a:lstStyle/>
          <a:p>
            <a:pPr algn="ctr">
              <a:lnSpc>
                <a:spcPts val="7004"/>
              </a:lnSpc>
            </a:pPr>
            <a:r>
              <a:rPr lang="en-US" sz="8800" b="1" dirty="0">
                <a:solidFill>
                  <a:srgbClr val="FFC000"/>
                </a:solidFill>
                <a:effectLst>
                  <a:outerShdw blurRad="38100" dist="38100" dir="2700000" algn="tl">
                    <a:srgbClr val="000000">
                      <a:alpha val="43137"/>
                    </a:srgbClr>
                  </a:outerShdw>
                </a:effectLst>
                <a:latin typeface="Anonymous Pro Bold"/>
                <a:ea typeface="Anonymous Pro Bold"/>
                <a:cs typeface="Anonymous Pro Bold"/>
                <a:sym typeface="Anonymous Pro Bold"/>
              </a:rPr>
              <a:t>SOKOBAN</a:t>
            </a:r>
          </a:p>
        </p:txBody>
      </p:sp>
      <p:pic>
        <p:nvPicPr>
          <p:cNvPr id="22" name="صورة 21">
            <a:extLst>
              <a:ext uri="{FF2B5EF4-FFF2-40B4-BE49-F238E27FC236}">
                <a16:creationId xmlns:a16="http://schemas.microsoft.com/office/drawing/2014/main" id="{C3E67D27-6B9E-191F-D613-53919A7D2F9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87382" y="4085497"/>
            <a:ext cx="2778192" cy="1192867"/>
          </a:xfrm>
          <a:prstGeom prst="rect">
            <a:avLst/>
          </a:prstGeom>
        </p:spPr>
      </p:pic>
      <p:sp>
        <p:nvSpPr>
          <p:cNvPr id="27" name="مربع نص 26">
            <a:extLst>
              <a:ext uri="{FF2B5EF4-FFF2-40B4-BE49-F238E27FC236}">
                <a16:creationId xmlns:a16="http://schemas.microsoft.com/office/drawing/2014/main" id="{432DC5DC-DBDE-98D7-1D32-BCB6B62D524B}"/>
              </a:ext>
            </a:extLst>
          </p:cNvPr>
          <p:cNvSpPr txBox="1"/>
          <p:nvPr/>
        </p:nvSpPr>
        <p:spPr>
          <a:xfrm>
            <a:off x="6163" y="7189172"/>
            <a:ext cx="7791512"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rgbClr val="10D000"/>
                </a:solidFill>
                <a:effectLst>
                  <a:outerShdw blurRad="38100" dist="38100" dir="2700000" algn="tl">
                    <a:srgbClr val="000000">
                      <a:alpha val="43137"/>
                    </a:srgbClr>
                  </a:outerShdw>
                </a:effectLst>
              </a:rPr>
              <a:t>Prepared by: </a:t>
            </a:r>
            <a:r>
              <a:rPr lang="en-US" sz="2800" dirty="0">
                <a:solidFill>
                  <a:srgbClr val="2E1B5B"/>
                </a:solidFill>
                <a:effectLst>
                  <a:outerShdw blurRad="38100" dist="38100" dir="2700000" algn="tl">
                    <a:srgbClr val="000000">
                      <a:alpha val="43137"/>
                    </a:srgbClr>
                  </a:outerShdw>
                </a:effectLst>
              </a:rPr>
              <a:t>Shaimaa Sadeq</a:t>
            </a:r>
          </a:p>
          <a:p>
            <a:pPr marL="285750" indent="-285750">
              <a:buFont typeface="Arial" panose="020B0604020202020204" pitchFamily="34" charset="0"/>
              <a:buChar char="•"/>
            </a:pPr>
            <a:r>
              <a:rPr lang="en-US" sz="2800" dirty="0">
                <a:solidFill>
                  <a:srgbClr val="10D000"/>
                </a:solidFill>
                <a:effectLst>
                  <a:outerShdw blurRad="38100" dist="38100" dir="2700000" algn="tl">
                    <a:srgbClr val="000000">
                      <a:alpha val="43137"/>
                    </a:srgbClr>
                  </a:outerShdw>
                </a:effectLst>
              </a:rPr>
              <a:t>Instructor: </a:t>
            </a:r>
            <a:r>
              <a:rPr lang="en-US" sz="2800" dirty="0">
                <a:solidFill>
                  <a:srgbClr val="2E1B5B"/>
                </a:solidFill>
                <a:effectLst>
                  <a:outerShdw blurRad="38100" dist="38100" dir="2700000" algn="tl">
                    <a:srgbClr val="000000">
                      <a:alpha val="43137"/>
                    </a:srgbClr>
                  </a:outerShdw>
                </a:effectLst>
              </a:rPr>
              <a:t>Eng. Noor Al-Hakim</a:t>
            </a:r>
          </a:p>
          <a:p>
            <a:pPr marL="285750" indent="-285750">
              <a:buFont typeface="Arial" panose="020B0604020202020204" pitchFamily="34" charset="0"/>
              <a:buChar char="•"/>
            </a:pPr>
            <a:r>
              <a:rPr lang="en-US" sz="2800" dirty="0">
                <a:solidFill>
                  <a:srgbClr val="10D000"/>
                </a:solidFill>
                <a:effectLst>
                  <a:outerShdw blurRad="38100" dist="38100" dir="2700000" algn="tl">
                    <a:srgbClr val="000000">
                      <a:alpha val="43137"/>
                    </a:srgbClr>
                  </a:outerShdw>
                </a:effectLst>
              </a:rPr>
              <a:t>Course: </a:t>
            </a:r>
            <a:r>
              <a:rPr lang="en-US" sz="2800" dirty="0">
                <a:solidFill>
                  <a:srgbClr val="2E1B5B"/>
                </a:solidFill>
                <a:effectLst>
                  <a:outerShdw blurRad="38100" dist="38100" dir="2700000" algn="tl">
                    <a:srgbClr val="000000">
                      <a:alpha val="43137"/>
                    </a:srgbClr>
                  </a:outerShdw>
                </a:effectLst>
              </a:rPr>
              <a:t>Intelligent Search Algorithms</a:t>
            </a:r>
          </a:p>
        </p:txBody>
      </p:sp>
      <p:sp>
        <p:nvSpPr>
          <p:cNvPr id="29" name="Freeform 8">
            <a:extLst>
              <a:ext uri="{FF2B5EF4-FFF2-40B4-BE49-F238E27FC236}">
                <a16:creationId xmlns:a16="http://schemas.microsoft.com/office/drawing/2014/main" id="{0A7E255F-83F8-E910-1DA6-46066825C943}"/>
              </a:ext>
            </a:extLst>
          </p:cNvPr>
          <p:cNvSpPr/>
          <p:nvPr/>
        </p:nvSpPr>
        <p:spPr>
          <a:xfrm>
            <a:off x="13040091" y="7380685"/>
            <a:ext cx="533895" cy="1334738"/>
          </a:xfrm>
          <a:custGeom>
            <a:avLst/>
            <a:gdLst/>
            <a:ahLst/>
            <a:cxnLst/>
            <a:rect l="l" t="t" r="r" b="b"/>
            <a:pathLst>
              <a:path w="533895" h="1334738">
                <a:moveTo>
                  <a:pt x="0" y="0"/>
                </a:moveTo>
                <a:lnTo>
                  <a:pt x="533896" y="0"/>
                </a:lnTo>
                <a:lnTo>
                  <a:pt x="533896" y="1334738"/>
                </a:lnTo>
                <a:lnTo>
                  <a:pt x="0" y="133473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0" name="Freeform 8">
            <a:extLst>
              <a:ext uri="{FF2B5EF4-FFF2-40B4-BE49-F238E27FC236}">
                <a16:creationId xmlns:a16="http://schemas.microsoft.com/office/drawing/2014/main" id="{1F2C912B-2E8C-277E-9DD6-C71A2EDA450D}"/>
              </a:ext>
            </a:extLst>
          </p:cNvPr>
          <p:cNvSpPr/>
          <p:nvPr/>
        </p:nvSpPr>
        <p:spPr>
          <a:xfrm>
            <a:off x="12474393" y="7380685"/>
            <a:ext cx="533895" cy="1334738"/>
          </a:xfrm>
          <a:custGeom>
            <a:avLst/>
            <a:gdLst/>
            <a:ahLst/>
            <a:cxnLst/>
            <a:rect l="l" t="t" r="r" b="b"/>
            <a:pathLst>
              <a:path w="533895" h="1334738">
                <a:moveTo>
                  <a:pt x="0" y="0"/>
                </a:moveTo>
                <a:lnTo>
                  <a:pt x="533896" y="0"/>
                </a:lnTo>
                <a:lnTo>
                  <a:pt x="533896" y="1334738"/>
                </a:lnTo>
                <a:lnTo>
                  <a:pt x="0" y="133473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 name="Group 7">
            <a:extLst>
              <a:ext uri="{FF2B5EF4-FFF2-40B4-BE49-F238E27FC236}">
                <a16:creationId xmlns:a16="http://schemas.microsoft.com/office/drawing/2014/main" id="{86268E68-BA4D-2212-2CBF-67F67898A0F7}"/>
              </a:ext>
            </a:extLst>
          </p:cNvPr>
          <p:cNvGrpSpPr>
            <a:grpSpLocks noChangeAspect="1"/>
          </p:cNvGrpSpPr>
          <p:nvPr/>
        </p:nvGrpSpPr>
        <p:grpSpPr>
          <a:xfrm rot="-1629761">
            <a:off x="10099120" y="4878401"/>
            <a:ext cx="532905" cy="674487"/>
            <a:chOff x="0" y="0"/>
            <a:chExt cx="1457960" cy="1845310"/>
          </a:xfrm>
        </p:grpSpPr>
        <p:sp>
          <p:nvSpPr>
            <p:cNvPr id="9" name="Freeform 8">
              <a:extLst>
                <a:ext uri="{FF2B5EF4-FFF2-40B4-BE49-F238E27FC236}">
                  <a16:creationId xmlns:a16="http://schemas.microsoft.com/office/drawing/2014/main" id="{65EC81DA-EA34-B9F1-B1DF-9DB8340D9F2A}"/>
                </a:ext>
              </a:extLst>
            </p:cNvPr>
            <p:cNvSpPr/>
            <p:nvPr/>
          </p:nvSpPr>
          <p:spPr>
            <a:xfrm>
              <a:off x="44508" y="44761"/>
              <a:ext cx="1369984" cy="1756099"/>
            </a:xfrm>
            <a:custGeom>
              <a:avLst/>
              <a:gdLst/>
              <a:ahLst/>
              <a:cxnLst/>
              <a:rect l="l" t="t" r="r" b="b"/>
              <a:pathLst>
                <a:path w="1369984" h="1756099">
                  <a:moveTo>
                    <a:pt x="899102" y="515309"/>
                  </a:moveTo>
                  <a:cubicBezTo>
                    <a:pt x="899102" y="392119"/>
                    <a:pt x="641292" y="425139"/>
                    <a:pt x="641292" y="425139"/>
                  </a:cubicBezTo>
                  <a:lnTo>
                    <a:pt x="641292" y="148279"/>
                  </a:lnTo>
                  <a:cubicBezTo>
                    <a:pt x="641292" y="-49841"/>
                    <a:pt x="377132" y="-46031"/>
                    <a:pt x="377132" y="139389"/>
                  </a:cubicBezTo>
                  <a:lnTo>
                    <a:pt x="377132" y="931869"/>
                  </a:lnTo>
                  <a:lnTo>
                    <a:pt x="213302" y="768039"/>
                  </a:lnTo>
                  <a:cubicBezTo>
                    <a:pt x="162502" y="717239"/>
                    <a:pt x="49472" y="698189"/>
                    <a:pt x="11372" y="768039"/>
                  </a:cubicBezTo>
                  <a:cubicBezTo>
                    <a:pt x="-26728" y="837889"/>
                    <a:pt x="43122" y="931869"/>
                    <a:pt x="43122" y="931869"/>
                  </a:cubicBezTo>
                  <a:cubicBezTo>
                    <a:pt x="43122" y="931869"/>
                    <a:pt x="433012" y="1453839"/>
                    <a:pt x="483812" y="1756099"/>
                  </a:cubicBezTo>
                  <a:lnTo>
                    <a:pt x="1167072" y="1756099"/>
                  </a:lnTo>
                  <a:cubicBezTo>
                    <a:pt x="1167072" y="1743399"/>
                    <a:pt x="1349952" y="1192219"/>
                    <a:pt x="1362652" y="1126179"/>
                  </a:cubicBezTo>
                  <a:cubicBezTo>
                    <a:pt x="1375352" y="1060139"/>
                    <a:pt x="1369002" y="940759"/>
                    <a:pt x="1362652" y="785819"/>
                  </a:cubicBezTo>
                  <a:cubicBezTo>
                    <a:pt x="1356302" y="632149"/>
                    <a:pt x="1211522" y="590239"/>
                    <a:pt x="1146752" y="590239"/>
                  </a:cubicBezTo>
                  <a:lnTo>
                    <a:pt x="1144212" y="594049"/>
                  </a:lnTo>
                  <a:cubicBezTo>
                    <a:pt x="1122622" y="506419"/>
                    <a:pt x="952442" y="515309"/>
                    <a:pt x="899102" y="515309"/>
                  </a:cubicBezTo>
                  <a:close/>
                </a:path>
              </a:pathLst>
            </a:custGeom>
            <a:solidFill>
              <a:srgbClr val="E9EEF1"/>
            </a:solidFill>
          </p:spPr>
        </p:sp>
        <p:sp>
          <p:nvSpPr>
            <p:cNvPr id="13" name="Freeform 9">
              <a:extLst>
                <a:ext uri="{FF2B5EF4-FFF2-40B4-BE49-F238E27FC236}">
                  <a16:creationId xmlns:a16="http://schemas.microsoft.com/office/drawing/2014/main" id="{60DAA2DF-24E2-9B76-FE88-0FF1F13CED08}"/>
                </a:ext>
              </a:extLst>
            </p:cNvPr>
            <p:cNvSpPr/>
            <p:nvPr/>
          </p:nvSpPr>
          <p:spPr>
            <a:xfrm>
              <a:off x="-95" y="2540"/>
              <a:ext cx="1457586" cy="1844040"/>
            </a:xfrm>
            <a:custGeom>
              <a:avLst/>
              <a:gdLst/>
              <a:ahLst/>
              <a:cxnLst/>
              <a:rect l="l" t="t" r="r" b="b"/>
              <a:pathLst>
                <a:path w="1457586" h="1844040">
                  <a:moveTo>
                    <a:pt x="1451705" y="863600"/>
                  </a:moveTo>
                  <a:lnTo>
                    <a:pt x="1450435" y="828040"/>
                  </a:lnTo>
                  <a:cubicBezTo>
                    <a:pt x="1444085" y="669290"/>
                    <a:pt x="1312005" y="601980"/>
                    <a:pt x="1215485" y="591820"/>
                  </a:cubicBezTo>
                  <a:cubicBezTo>
                    <a:pt x="1210405" y="585470"/>
                    <a:pt x="1205325" y="577850"/>
                    <a:pt x="1198975" y="572770"/>
                  </a:cubicBezTo>
                  <a:cubicBezTo>
                    <a:pt x="1145635" y="519430"/>
                    <a:pt x="1045305" y="514350"/>
                    <a:pt x="977995" y="514350"/>
                  </a:cubicBezTo>
                  <a:cubicBezTo>
                    <a:pt x="971645" y="497840"/>
                    <a:pt x="961485" y="483870"/>
                    <a:pt x="947515" y="471170"/>
                  </a:cubicBezTo>
                  <a:cubicBezTo>
                    <a:pt x="892905" y="422910"/>
                    <a:pt x="791305" y="419100"/>
                    <a:pt x="729075" y="421640"/>
                  </a:cubicBezTo>
                  <a:lnTo>
                    <a:pt x="729075" y="193040"/>
                  </a:lnTo>
                  <a:cubicBezTo>
                    <a:pt x="729075" y="119380"/>
                    <a:pt x="698595" y="73660"/>
                    <a:pt x="674465" y="49530"/>
                  </a:cubicBezTo>
                  <a:cubicBezTo>
                    <a:pt x="641445" y="17780"/>
                    <a:pt x="598265" y="0"/>
                    <a:pt x="551275" y="0"/>
                  </a:cubicBezTo>
                  <a:cubicBezTo>
                    <a:pt x="463645" y="0"/>
                    <a:pt x="376015" y="63500"/>
                    <a:pt x="376015" y="184150"/>
                  </a:cubicBezTo>
                  <a:lnTo>
                    <a:pt x="376015" y="868680"/>
                  </a:lnTo>
                  <a:lnTo>
                    <a:pt x="288385" y="781050"/>
                  </a:lnTo>
                  <a:cubicBezTo>
                    <a:pt x="246475" y="739140"/>
                    <a:pt x="176625" y="716280"/>
                    <a:pt x="116935" y="725170"/>
                  </a:cubicBezTo>
                  <a:cubicBezTo>
                    <a:pt x="72485" y="731520"/>
                    <a:pt x="36925" y="755650"/>
                    <a:pt x="16605" y="791210"/>
                  </a:cubicBezTo>
                  <a:cubicBezTo>
                    <a:pt x="-32925" y="880110"/>
                    <a:pt x="43275" y="988060"/>
                    <a:pt x="52165" y="1000760"/>
                  </a:cubicBezTo>
                  <a:cubicBezTo>
                    <a:pt x="55975" y="1005840"/>
                    <a:pt x="436975" y="1517650"/>
                    <a:pt x="483965" y="1805940"/>
                  </a:cubicBezTo>
                  <a:lnTo>
                    <a:pt x="483965" y="1807210"/>
                  </a:lnTo>
                  <a:cubicBezTo>
                    <a:pt x="483965" y="1808480"/>
                    <a:pt x="483965" y="1809750"/>
                    <a:pt x="485235" y="1811020"/>
                  </a:cubicBezTo>
                  <a:cubicBezTo>
                    <a:pt x="485235" y="1812290"/>
                    <a:pt x="486505" y="1813560"/>
                    <a:pt x="486505" y="1816100"/>
                  </a:cubicBezTo>
                  <a:cubicBezTo>
                    <a:pt x="486505" y="1817370"/>
                    <a:pt x="487775" y="1818640"/>
                    <a:pt x="487775" y="1818640"/>
                  </a:cubicBezTo>
                  <a:cubicBezTo>
                    <a:pt x="489045" y="1819910"/>
                    <a:pt x="489045" y="1821180"/>
                    <a:pt x="490315" y="1822450"/>
                  </a:cubicBezTo>
                  <a:cubicBezTo>
                    <a:pt x="490315" y="1823720"/>
                    <a:pt x="491585" y="1823720"/>
                    <a:pt x="492855" y="1824990"/>
                  </a:cubicBezTo>
                  <a:cubicBezTo>
                    <a:pt x="494125" y="1826260"/>
                    <a:pt x="495395" y="1827530"/>
                    <a:pt x="495395" y="1828800"/>
                  </a:cubicBezTo>
                  <a:lnTo>
                    <a:pt x="497935" y="1831340"/>
                  </a:lnTo>
                  <a:cubicBezTo>
                    <a:pt x="499205" y="1832610"/>
                    <a:pt x="500475" y="1833880"/>
                    <a:pt x="501745" y="1833880"/>
                  </a:cubicBezTo>
                  <a:lnTo>
                    <a:pt x="504285" y="1836420"/>
                  </a:lnTo>
                  <a:cubicBezTo>
                    <a:pt x="505555" y="1837690"/>
                    <a:pt x="506825" y="1837690"/>
                    <a:pt x="508095" y="1838960"/>
                  </a:cubicBezTo>
                  <a:cubicBezTo>
                    <a:pt x="509365" y="1838960"/>
                    <a:pt x="510635" y="1840230"/>
                    <a:pt x="510635" y="1840230"/>
                  </a:cubicBezTo>
                  <a:cubicBezTo>
                    <a:pt x="511905" y="1841500"/>
                    <a:pt x="514445" y="1841500"/>
                    <a:pt x="515715" y="1841500"/>
                  </a:cubicBezTo>
                  <a:cubicBezTo>
                    <a:pt x="516985" y="1841500"/>
                    <a:pt x="516985" y="1841500"/>
                    <a:pt x="518255" y="1842770"/>
                  </a:cubicBezTo>
                  <a:cubicBezTo>
                    <a:pt x="520795" y="1842770"/>
                    <a:pt x="523335" y="1844040"/>
                    <a:pt x="527145" y="1844040"/>
                  </a:cubicBezTo>
                  <a:lnTo>
                    <a:pt x="1210405" y="1844040"/>
                  </a:lnTo>
                  <a:cubicBezTo>
                    <a:pt x="1231995" y="1844040"/>
                    <a:pt x="1251045" y="1827530"/>
                    <a:pt x="1254855" y="1807210"/>
                  </a:cubicBezTo>
                  <a:cubicBezTo>
                    <a:pt x="1258665" y="1790700"/>
                    <a:pt x="1290415" y="1694180"/>
                    <a:pt x="1319625" y="1600200"/>
                  </a:cubicBezTo>
                  <a:cubicBezTo>
                    <a:pt x="1388205" y="1385570"/>
                    <a:pt x="1441545" y="1217930"/>
                    <a:pt x="1449165" y="1178560"/>
                  </a:cubicBezTo>
                  <a:cubicBezTo>
                    <a:pt x="1461865" y="1111250"/>
                    <a:pt x="1458055" y="1007110"/>
                    <a:pt x="1451705" y="863600"/>
                  </a:cubicBezTo>
                  <a:close/>
                  <a:moveTo>
                    <a:pt x="1362805" y="1160780"/>
                  </a:moveTo>
                  <a:cubicBezTo>
                    <a:pt x="1356455" y="1197610"/>
                    <a:pt x="1284065" y="1422400"/>
                    <a:pt x="1235805" y="1572260"/>
                  </a:cubicBezTo>
                  <a:cubicBezTo>
                    <a:pt x="1204055" y="1671320"/>
                    <a:pt x="1187545" y="1724660"/>
                    <a:pt x="1177385" y="1755140"/>
                  </a:cubicBezTo>
                  <a:lnTo>
                    <a:pt x="563975" y="1755140"/>
                  </a:lnTo>
                  <a:cubicBezTo>
                    <a:pt x="490315" y="1443990"/>
                    <a:pt x="138525" y="969010"/>
                    <a:pt x="123285" y="948690"/>
                  </a:cubicBezTo>
                  <a:cubicBezTo>
                    <a:pt x="111855" y="933450"/>
                    <a:pt x="75025" y="869950"/>
                    <a:pt x="95345" y="833120"/>
                  </a:cubicBezTo>
                  <a:cubicBezTo>
                    <a:pt x="97885" y="829310"/>
                    <a:pt x="105505" y="815340"/>
                    <a:pt x="130905" y="811530"/>
                  </a:cubicBezTo>
                  <a:cubicBezTo>
                    <a:pt x="162655" y="806450"/>
                    <a:pt x="204565" y="820420"/>
                    <a:pt x="227425" y="843280"/>
                  </a:cubicBezTo>
                  <a:lnTo>
                    <a:pt x="337915" y="953770"/>
                  </a:lnTo>
                  <a:cubicBezTo>
                    <a:pt x="353155" y="969010"/>
                    <a:pt x="367125" y="982980"/>
                    <a:pt x="377285" y="994410"/>
                  </a:cubicBezTo>
                  <a:lnTo>
                    <a:pt x="377285" y="1050290"/>
                  </a:lnTo>
                  <a:cubicBezTo>
                    <a:pt x="377285" y="1074420"/>
                    <a:pt x="397605" y="1094740"/>
                    <a:pt x="421735" y="1094740"/>
                  </a:cubicBezTo>
                  <a:cubicBezTo>
                    <a:pt x="445865" y="1094740"/>
                    <a:pt x="466185" y="1074420"/>
                    <a:pt x="466185" y="1050290"/>
                  </a:cubicBezTo>
                  <a:lnTo>
                    <a:pt x="466185" y="181610"/>
                  </a:lnTo>
                  <a:cubicBezTo>
                    <a:pt x="466185" y="115570"/>
                    <a:pt x="509365" y="86360"/>
                    <a:pt x="552545" y="86360"/>
                  </a:cubicBezTo>
                  <a:cubicBezTo>
                    <a:pt x="593185" y="86360"/>
                    <a:pt x="641445" y="113030"/>
                    <a:pt x="641445" y="190500"/>
                  </a:cubicBezTo>
                  <a:lnTo>
                    <a:pt x="641445" y="791210"/>
                  </a:lnTo>
                  <a:cubicBezTo>
                    <a:pt x="641445" y="815340"/>
                    <a:pt x="661765" y="835660"/>
                    <a:pt x="685895" y="835660"/>
                  </a:cubicBezTo>
                  <a:cubicBezTo>
                    <a:pt x="710025" y="835660"/>
                    <a:pt x="730345" y="815340"/>
                    <a:pt x="730345" y="791210"/>
                  </a:cubicBezTo>
                  <a:lnTo>
                    <a:pt x="730345" y="508000"/>
                  </a:lnTo>
                  <a:cubicBezTo>
                    <a:pt x="790035" y="505460"/>
                    <a:pt x="862425" y="511810"/>
                    <a:pt x="890365" y="535940"/>
                  </a:cubicBezTo>
                  <a:cubicBezTo>
                    <a:pt x="896715" y="542290"/>
                    <a:pt x="899255" y="548640"/>
                    <a:pt x="899255" y="557530"/>
                  </a:cubicBezTo>
                  <a:lnTo>
                    <a:pt x="899255" y="802640"/>
                  </a:lnTo>
                  <a:cubicBezTo>
                    <a:pt x="899255" y="826770"/>
                    <a:pt x="919575" y="847090"/>
                    <a:pt x="943705" y="847090"/>
                  </a:cubicBezTo>
                  <a:cubicBezTo>
                    <a:pt x="967835" y="847090"/>
                    <a:pt x="988155" y="826770"/>
                    <a:pt x="988155" y="802640"/>
                  </a:cubicBezTo>
                  <a:lnTo>
                    <a:pt x="988155" y="601980"/>
                  </a:lnTo>
                  <a:cubicBezTo>
                    <a:pt x="1036415" y="601980"/>
                    <a:pt x="1110075" y="607060"/>
                    <a:pt x="1138015" y="633730"/>
                  </a:cubicBezTo>
                  <a:cubicBezTo>
                    <a:pt x="1144365" y="640080"/>
                    <a:pt x="1146905" y="646430"/>
                    <a:pt x="1146905" y="655320"/>
                  </a:cubicBezTo>
                  <a:lnTo>
                    <a:pt x="1146905" y="894080"/>
                  </a:lnTo>
                  <a:cubicBezTo>
                    <a:pt x="1146905" y="918210"/>
                    <a:pt x="1167225" y="938530"/>
                    <a:pt x="1191355" y="938530"/>
                  </a:cubicBezTo>
                  <a:cubicBezTo>
                    <a:pt x="1215485" y="938530"/>
                    <a:pt x="1235805" y="918210"/>
                    <a:pt x="1235805" y="894080"/>
                  </a:cubicBezTo>
                  <a:lnTo>
                    <a:pt x="1235805" y="684530"/>
                  </a:lnTo>
                  <a:cubicBezTo>
                    <a:pt x="1285335" y="697230"/>
                    <a:pt x="1358995" y="731520"/>
                    <a:pt x="1362805" y="830580"/>
                  </a:cubicBezTo>
                  <a:lnTo>
                    <a:pt x="1364075" y="866140"/>
                  </a:lnTo>
                  <a:cubicBezTo>
                    <a:pt x="1369155" y="999490"/>
                    <a:pt x="1372965" y="1104900"/>
                    <a:pt x="1362805" y="1160780"/>
                  </a:cubicBezTo>
                  <a:close/>
                </a:path>
              </a:pathLst>
            </a:custGeom>
            <a:solidFill>
              <a:srgbClr val="005B52"/>
            </a:solidFill>
          </p:spPr>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2"/>
                                        </p:tgtEl>
                                      </p:cBhvr>
                                    </p:animEffect>
                                    <p:animScale>
                                      <p:cBhvr>
                                        <p:cTn id="7" dur="250" autoRev="1" fill="hold"/>
                                        <p:tgtEl>
                                          <p:spTgt spid="22"/>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gtEl>
                                      </p:cBhvr>
                                    </p:animEffect>
                                    <p:animScale>
                                      <p:cBhvr>
                                        <p:cTn id="10"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1503880" y="5945354"/>
            <a:ext cx="2553980" cy="3312946"/>
          </a:xfrm>
          <a:custGeom>
            <a:avLst/>
            <a:gdLst/>
            <a:ahLst/>
            <a:cxnLst/>
            <a:rect l="l" t="t" r="r" b="b"/>
            <a:pathLst>
              <a:path w="2553980" h="3312946">
                <a:moveTo>
                  <a:pt x="0" y="0"/>
                </a:moveTo>
                <a:lnTo>
                  <a:pt x="2553980" y="0"/>
                </a:lnTo>
                <a:lnTo>
                  <a:pt x="2553980" y="3312946"/>
                </a:lnTo>
                <a:lnTo>
                  <a:pt x="0" y="33129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394287" y="8832338"/>
            <a:ext cx="8821166" cy="2277465"/>
          </a:xfrm>
          <a:custGeom>
            <a:avLst/>
            <a:gdLst/>
            <a:ahLst/>
            <a:cxnLst/>
            <a:rect l="l" t="t" r="r" b="b"/>
            <a:pathLst>
              <a:path w="8821166" h="2277465">
                <a:moveTo>
                  <a:pt x="0" y="0"/>
                </a:moveTo>
                <a:lnTo>
                  <a:pt x="8821166" y="0"/>
                </a:lnTo>
                <a:lnTo>
                  <a:pt x="8821166" y="2277465"/>
                </a:lnTo>
                <a:lnTo>
                  <a:pt x="0" y="22774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464011" y="0"/>
            <a:ext cx="1257453" cy="3373653"/>
          </a:xfrm>
          <a:custGeom>
            <a:avLst/>
            <a:gdLst/>
            <a:ahLst/>
            <a:cxnLst/>
            <a:rect l="l" t="t" r="r" b="b"/>
            <a:pathLst>
              <a:path w="1257453" h="3373653">
                <a:moveTo>
                  <a:pt x="0" y="0"/>
                </a:moveTo>
                <a:lnTo>
                  <a:pt x="1257453" y="0"/>
                </a:lnTo>
                <a:lnTo>
                  <a:pt x="1257453" y="3373653"/>
                </a:lnTo>
                <a:lnTo>
                  <a:pt x="0" y="33736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794864" y="-108447"/>
            <a:ext cx="669147" cy="1795274"/>
          </a:xfrm>
          <a:custGeom>
            <a:avLst/>
            <a:gdLst/>
            <a:ahLst/>
            <a:cxnLst/>
            <a:rect l="l" t="t" r="r" b="b"/>
            <a:pathLst>
              <a:path w="669147" h="1795274">
                <a:moveTo>
                  <a:pt x="0" y="0"/>
                </a:moveTo>
                <a:lnTo>
                  <a:pt x="669147" y="0"/>
                </a:lnTo>
                <a:lnTo>
                  <a:pt x="669147" y="1795274"/>
                </a:lnTo>
                <a:lnTo>
                  <a:pt x="0" y="179527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2944976" y="5945354"/>
            <a:ext cx="2553980" cy="3312946"/>
          </a:xfrm>
          <a:custGeom>
            <a:avLst/>
            <a:gdLst/>
            <a:ahLst/>
            <a:cxnLst/>
            <a:rect l="l" t="t" r="r" b="b"/>
            <a:pathLst>
              <a:path w="2553980" h="3312946">
                <a:moveTo>
                  <a:pt x="0" y="0"/>
                </a:moveTo>
                <a:lnTo>
                  <a:pt x="2553980" y="0"/>
                </a:lnTo>
                <a:lnTo>
                  <a:pt x="2553980" y="3312946"/>
                </a:lnTo>
                <a:lnTo>
                  <a:pt x="0" y="33129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8534393" y="8832338"/>
            <a:ext cx="8821166" cy="2277465"/>
          </a:xfrm>
          <a:custGeom>
            <a:avLst/>
            <a:gdLst/>
            <a:ahLst/>
            <a:cxnLst/>
            <a:rect l="l" t="t" r="r" b="b"/>
            <a:pathLst>
              <a:path w="8821166" h="2277465">
                <a:moveTo>
                  <a:pt x="0" y="0"/>
                </a:moveTo>
                <a:lnTo>
                  <a:pt x="8821166" y="0"/>
                </a:lnTo>
                <a:lnTo>
                  <a:pt x="8821166" y="2277465"/>
                </a:lnTo>
                <a:lnTo>
                  <a:pt x="0" y="227746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4269328" y="3806547"/>
            <a:ext cx="8530130" cy="4830652"/>
            <a:chOff x="0" y="0"/>
            <a:chExt cx="1917132" cy="1029836"/>
          </a:xfrm>
        </p:grpSpPr>
        <p:sp>
          <p:nvSpPr>
            <p:cNvPr id="9" name="Freeform 9"/>
            <p:cNvSpPr/>
            <p:nvPr/>
          </p:nvSpPr>
          <p:spPr>
            <a:xfrm>
              <a:off x="0" y="0"/>
              <a:ext cx="1917132" cy="1029836"/>
            </a:xfrm>
            <a:custGeom>
              <a:avLst/>
              <a:gdLst/>
              <a:ahLst/>
              <a:cxnLst/>
              <a:rect l="l" t="t" r="r" b="b"/>
              <a:pathLst>
                <a:path w="1917132" h="1029836">
                  <a:moveTo>
                    <a:pt x="1917132" y="0"/>
                  </a:moveTo>
                  <a:lnTo>
                    <a:pt x="0" y="0"/>
                  </a:lnTo>
                  <a:lnTo>
                    <a:pt x="0" y="841876"/>
                  </a:lnTo>
                  <a:lnTo>
                    <a:pt x="157480" y="841876"/>
                  </a:lnTo>
                  <a:lnTo>
                    <a:pt x="157480" y="1029836"/>
                  </a:lnTo>
                  <a:lnTo>
                    <a:pt x="463550" y="841876"/>
                  </a:lnTo>
                  <a:lnTo>
                    <a:pt x="1917132" y="841876"/>
                  </a:lnTo>
                  <a:lnTo>
                    <a:pt x="1917132" y="0"/>
                  </a:lnTo>
                  <a:close/>
                </a:path>
              </a:pathLst>
            </a:custGeom>
            <a:solidFill>
              <a:srgbClr val="006D40"/>
            </a:solidFill>
          </p:spPr>
        </p:sp>
        <p:sp>
          <p:nvSpPr>
            <p:cNvPr id="10" name="TextBox 10"/>
            <p:cNvSpPr txBox="1"/>
            <p:nvPr/>
          </p:nvSpPr>
          <p:spPr>
            <a:xfrm>
              <a:off x="0" y="-47625"/>
              <a:ext cx="1917132" cy="886961"/>
            </a:xfrm>
            <a:prstGeom prst="rect">
              <a:avLst/>
            </a:prstGeom>
          </p:spPr>
          <p:txBody>
            <a:bodyPr lIns="50800" tIns="50800" rIns="50800" bIns="50800" rtlCol="0" anchor="ctr"/>
            <a:lstStyle/>
            <a:p>
              <a:pPr marL="0" marR="0" lvl="0" indent="0" algn="ctr" defTabSz="914400" rtl="0" eaLnBrk="1" fontAlgn="auto" latinLnBrk="0" hangingPunct="1">
                <a:lnSpc>
                  <a:spcPts val="3214"/>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1" name="TextBox 11"/>
          <p:cNvSpPr txBox="1"/>
          <p:nvPr/>
        </p:nvSpPr>
        <p:spPr>
          <a:xfrm>
            <a:off x="2572289" y="2068918"/>
            <a:ext cx="13143421" cy="1542490"/>
          </a:xfrm>
          <a:prstGeom prst="rect">
            <a:avLst/>
          </a:prstGeom>
        </p:spPr>
        <p:txBody>
          <a:bodyPr lIns="0" tIns="0" rIns="0" bIns="0" rtlCol="0" anchor="t">
            <a:spAutoFit/>
          </a:bodyPr>
          <a:lstStyle/>
          <a:p>
            <a:pPr marL="0" marR="0" lvl="0" indent="0" algn="ctr" defTabSz="914400" rtl="0" eaLnBrk="1" fontAlgn="auto" latinLnBrk="0" hangingPunct="1">
              <a:lnSpc>
                <a:spcPts val="12630"/>
              </a:lnSpc>
              <a:spcBef>
                <a:spcPts val="0"/>
              </a:spcBef>
              <a:spcAft>
                <a:spcPts val="0"/>
              </a:spcAft>
              <a:buClrTx/>
              <a:buSzTx/>
              <a:buFontTx/>
              <a:buNone/>
              <a:tabLst/>
              <a:defRPr/>
            </a:pPr>
            <a:r>
              <a:rPr kumimoji="0" lang="en-US" sz="9022" b="1" i="0" u="none" strike="noStrike" kern="1200" cap="none" spc="0" normalizeH="0" baseline="0" noProof="0">
                <a:ln>
                  <a:noFill/>
                </a:ln>
                <a:solidFill>
                  <a:srgbClr val="205732"/>
                </a:solidFill>
                <a:effectLst/>
                <a:uLnTx/>
                <a:uFillTx/>
                <a:latin typeface="HK Modular"/>
                <a:ea typeface="HK Modular"/>
                <a:cs typeface="HK Modular"/>
                <a:sym typeface="HK Modular"/>
              </a:rPr>
              <a:t>INTRODUCTION</a:t>
            </a:r>
          </a:p>
        </p:txBody>
      </p:sp>
      <p:sp>
        <p:nvSpPr>
          <p:cNvPr id="12" name="TextBox 12"/>
          <p:cNvSpPr txBox="1"/>
          <p:nvPr/>
        </p:nvSpPr>
        <p:spPr>
          <a:xfrm>
            <a:off x="4481833" y="3863617"/>
            <a:ext cx="8307115" cy="3803926"/>
          </a:xfrm>
          <a:prstGeom prst="rect">
            <a:avLst/>
          </a:prstGeom>
        </p:spPr>
        <p:txBody>
          <a:bodyPr wrap="square" lIns="0" tIns="0" rIns="0" bIns="0" rtlCol="0" anchor="t">
            <a:spAutoFit/>
          </a:bodyPr>
          <a:lstStyle/>
          <a:p>
            <a:pPr lvl="0" algn="ctr">
              <a:lnSpc>
                <a:spcPts val="4349"/>
              </a:lnSpc>
            </a:pPr>
            <a:r>
              <a:rPr lang="en-US" sz="2800" dirty="0">
                <a:solidFill>
                  <a:srgbClr val="FFFFFF"/>
                </a:solidFill>
                <a:latin typeface="Anonymous Pro"/>
                <a:ea typeface="Anonymous Pro"/>
                <a:cs typeface="Anonymous Pro"/>
                <a:sym typeface="Anonymous Pro"/>
              </a:rPr>
              <a:t>Sokoban is a puzzle game based on logical planning.</a:t>
            </a:r>
          </a:p>
          <a:p>
            <a:pPr lvl="0" algn="ctr">
              <a:lnSpc>
                <a:spcPts val="4349"/>
              </a:lnSpc>
            </a:pPr>
            <a:r>
              <a:rPr lang="en-US" sz="2800" dirty="0">
                <a:solidFill>
                  <a:srgbClr val="FFFFFF"/>
                </a:solidFill>
                <a:latin typeface="Anonymous Pro"/>
                <a:ea typeface="Anonymous Pro"/>
                <a:cs typeface="Anonymous Pro"/>
                <a:sym typeface="Anonymous Pro"/>
              </a:rPr>
              <a:t>The objective is to move all boxes onto their target positions.</a:t>
            </a:r>
          </a:p>
          <a:p>
            <a:pPr lvl="0" algn="ctr">
              <a:lnSpc>
                <a:spcPts val="4349"/>
              </a:lnSpc>
            </a:pPr>
            <a:r>
              <a:rPr lang="en-US" sz="2800" dirty="0">
                <a:solidFill>
                  <a:srgbClr val="FFFFFF"/>
                </a:solidFill>
                <a:latin typeface="Anonymous Pro"/>
                <a:ea typeface="Anonymous Pro"/>
                <a:cs typeface="Anonymous Pro"/>
                <a:sym typeface="Anonymous Pro"/>
              </a:rPr>
              <a:t>Incorrect moves may lead to deadlock states.</a:t>
            </a:r>
          </a:p>
          <a:p>
            <a:pPr lvl="0" algn="ctr">
              <a:lnSpc>
                <a:spcPts val="4349"/>
              </a:lnSpc>
            </a:pPr>
            <a:r>
              <a:rPr lang="en-US" sz="2800" dirty="0">
                <a:solidFill>
                  <a:srgbClr val="FFFFFF"/>
                </a:solidFill>
                <a:latin typeface="Anonymous Pro"/>
                <a:ea typeface="Anonymous Pro"/>
                <a:cs typeface="Anonymous Pro"/>
                <a:sym typeface="Anonymous Pro"/>
              </a:rPr>
              <a:t>This project uses the A* algorithm to solve levels automatically.</a:t>
            </a:r>
            <a:endParaRPr kumimoji="0" lang="en-US" sz="2800" b="0" i="0" u="none" strike="noStrike" kern="1200" cap="none" spc="0" normalizeH="0" baseline="0" noProof="0" dirty="0">
              <a:ln>
                <a:noFill/>
              </a:ln>
              <a:solidFill>
                <a:srgbClr val="FFFFFF"/>
              </a:solidFill>
              <a:effectLst/>
              <a:uLnTx/>
              <a:uFillTx/>
              <a:latin typeface="Anonymous Pro"/>
              <a:ea typeface="Anonymous Pro"/>
              <a:cs typeface="Anonymous Pro"/>
              <a:sym typeface="Anonymous Pro"/>
            </a:endParaRPr>
          </a:p>
        </p:txBody>
      </p:sp>
      <p:sp>
        <p:nvSpPr>
          <p:cNvPr id="13" name="Freeform 13"/>
          <p:cNvSpPr/>
          <p:nvPr/>
        </p:nvSpPr>
        <p:spPr>
          <a:xfrm>
            <a:off x="1209727" y="-843413"/>
            <a:ext cx="1257453" cy="3373653"/>
          </a:xfrm>
          <a:custGeom>
            <a:avLst/>
            <a:gdLst/>
            <a:ahLst/>
            <a:cxnLst/>
            <a:rect l="l" t="t" r="r" b="b"/>
            <a:pathLst>
              <a:path w="1257453" h="3373653">
                <a:moveTo>
                  <a:pt x="0" y="0"/>
                </a:moveTo>
                <a:lnTo>
                  <a:pt x="1257453" y="0"/>
                </a:lnTo>
                <a:lnTo>
                  <a:pt x="1257453" y="3373653"/>
                </a:lnTo>
                <a:lnTo>
                  <a:pt x="0" y="33736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a:off x="540580" y="-951860"/>
            <a:ext cx="669147" cy="1795274"/>
          </a:xfrm>
          <a:custGeom>
            <a:avLst/>
            <a:gdLst/>
            <a:ahLst/>
            <a:cxnLst/>
            <a:rect l="l" t="t" r="r" b="b"/>
            <a:pathLst>
              <a:path w="669147" h="1795274">
                <a:moveTo>
                  <a:pt x="0" y="0"/>
                </a:moveTo>
                <a:lnTo>
                  <a:pt x="669147" y="0"/>
                </a:lnTo>
                <a:lnTo>
                  <a:pt x="669147" y="1795273"/>
                </a:lnTo>
                <a:lnTo>
                  <a:pt x="0" y="1795273"/>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593085" y="3261419"/>
            <a:ext cx="5707760" cy="6153919"/>
          </a:xfrm>
          <a:custGeom>
            <a:avLst/>
            <a:gdLst/>
            <a:ahLst/>
            <a:cxnLst/>
            <a:rect l="l" t="t" r="r" b="b"/>
            <a:pathLst>
              <a:path w="5707760" h="6153919">
                <a:moveTo>
                  <a:pt x="0" y="0"/>
                </a:moveTo>
                <a:lnTo>
                  <a:pt x="5707760" y="0"/>
                </a:lnTo>
                <a:lnTo>
                  <a:pt x="5707760" y="6153920"/>
                </a:lnTo>
                <a:lnTo>
                  <a:pt x="0" y="6153920"/>
                </a:lnTo>
                <a:lnTo>
                  <a:pt x="0" y="0"/>
                </a:lnTo>
                <a:close/>
              </a:path>
            </a:pathLst>
          </a:custGeom>
          <a:blipFill>
            <a:blip r:embed="rId2"/>
            <a:stretch>
              <a:fillRect/>
            </a:stretch>
          </a:blipFill>
        </p:spPr>
      </p:sp>
      <p:sp>
        <p:nvSpPr>
          <p:cNvPr id="3" name="Freeform 3"/>
          <p:cNvSpPr/>
          <p:nvPr/>
        </p:nvSpPr>
        <p:spPr>
          <a:xfrm>
            <a:off x="6202805"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112395"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3518005" y="918307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4351881" y="1104019"/>
            <a:ext cx="4936169" cy="1202630"/>
          </a:xfrm>
          <a:custGeom>
            <a:avLst/>
            <a:gdLst/>
            <a:ahLst/>
            <a:cxnLst/>
            <a:rect l="l" t="t" r="r" b="b"/>
            <a:pathLst>
              <a:path w="4936169" h="1202630">
                <a:moveTo>
                  <a:pt x="0" y="0"/>
                </a:moveTo>
                <a:lnTo>
                  <a:pt x="4936169" y="0"/>
                </a:lnTo>
                <a:lnTo>
                  <a:pt x="4936169" y="1202630"/>
                </a:lnTo>
                <a:lnTo>
                  <a:pt x="0" y="12026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065571" y="1028700"/>
            <a:ext cx="5245314" cy="1277949"/>
          </a:xfrm>
          <a:custGeom>
            <a:avLst/>
            <a:gdLst/>
            <a:ahLst/>
            <a:cxnLst/>
            <a:rect l="l" t="t" r="r" b="b"/>
            <a:pathLst>
              <a:path w="5245314" h="1277949">
                <a:moveTo>
                  <a:pt x="0" y="0"/>
                </a:moveTo>
                <a:lnTo>
                  <a:pt x="5245314" y="0"/>
                </a:lnTo>
                <a:lnTo>
                  <a:pt x="5245314" y="1277949"/>
                </a:lnTo>
                <a:lnTo>
                  <a:pt x="0" y="12779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3807534" y="231278"/>
            <a:ext cx="2978226" cy="725604"/>
          </a:xfrm>
          <a:custGeom>
            <a:avLst/>
            <a:gdLst/>
            <a:ahLst/>
            <a:cxnLst/>
            <a:rect l="l" t="t" r="r" b="b"/>
            <a:pathLst>
              <a:path w="2978226" h="725604">
                <a:moveTo>
                  <a:pt x="0" y="0"/>
                </a:moveTo>
                <a:lnTo>
                  <a:pt x="2978226" y="0"/>
                </a:lnTo>
                <a:lnTo>
                  <a:pt x="2978226" y="725604"/>
                </a:lnTo>
                <a:lnTo>
                  <a:pt x="0" y="72560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3646860" y="4311167"/>
            <a:ext cx="5497140" cy="920586"/>
            <a:chOff x="0" y="0"/>
            <a:chExt cx="1447806" cy="242459"/>
          </a:xfrm>
        </p:grpSpPr>
        <p:sp>
          <p:nvSpPr>
            <p:cNvPr id="10" name="Freeform 10"/>
            <p:cNvSpPr/>
            <p:nvPr/>
          </p:nvSpPr>
          <p:spPr>
            <a:xfrm>
              <a:off x="0" y="0"/>
              <a:ext cx="1447806" cy="242459"/>
            </a:xfrm>
            <a:custGeom>
              <a:avLst/>
              <a:gdLst/>
              <a:ahLst/>
              <a:cxnLst/>
              <a:rect l="l" t="t" r="r" b="b"/>
              <a:pathLst>
                <a:path w="1447806" h="242459">
                  <a:moveTo>
                    <a:pt x="0" y="0"/>
                  </a:moveTo>
                  <a:lnTo>
                    <a:pt x="1447806" y="0"/>
                  </a:lnTo>
                  <a:lnTo>
                    <a:pt x="1447806" y="242459"/>
                  </a:lnTo>
                  <a:lnTo>
                    <a:pt x="0" y="242459"/>
                  </a:lnTo>
                  <a:close/>
                </a:path>
              </a:pathLst>
            </a:custGeom>
            <a:solidFill>
              <a:srgbClr val="F0F9FF"/>
            </a:solidFill>
          </p:spPr>
        </p:sp>
        <p:sp>
          <p:nvSpPr>
            <p:cNvPr id="11" name="TextBox 11"/>
            <p:cNvSpPr txBox="1"/>
            <p:nvPr/>
          </p:nvSpPr>
          <p:spPr>
            <a:xfrm>
              <a:off x="0" y="-47625"/>
              <a:ext cx="1447806" cy="290084"/>
            </a:xfrm>
            <a:prstGeom prst="rect">
              <a:avLst/>
            </a:prstGeom>
          </p:spPr>
          <p:txBody>
            <a:bodyPr lIns="50800" tIns="50800" rIns="50800" bIns="50800" rtlCol="0" anchor="ctr"/>
            <a:lstStyle/>
            <a:p>
              <a:pPr algn="ctr">
                <a:lnSpc>
                  <a:spcPts val="3214"/>
                </a:lnSpc>
              </a:pPr>
              <a:endParaRPr/>
            </a:p>
          </p:txBody>
        </p:sp>
      </p:grpSp>
      <p:sp>
        <p:nvSpPr>
          <p:cNvPr id="12" name="Freeform 12"/>
          <p:cNvSpPr/>
          <p:nvPr/>
        </p:nvSpPr>
        <p:spPr>
          <a:xfrm>
            <a:off x="9409022" y="4487499"/>
            <a:ext cx="902767" cy="567922"/>
          </a:xfrm>
          <a:custGeom>
            <a:avLst/>
            <a:gdLst/>
            <a:ahLst/>
            <a:cxnLst/>
            <a:rect l="l" t="t" r="r" b="b"/>
            <a:pathLst>
              <a:path w="902767" h="567922">
                <a:moveTo>
                  <a:pt x="0" y="0"/>
                </a:moveTo>
                <a:lnTo>
                  <a:pt x="902766" y="0"/>
                </a:lnTo>
                <a:lnTo>
                  <a:pt x="902766" y="567922"/>
                </a:lnTo>
                <a:lnTo>
                  <a:pt x="0" y="56792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3891092" y="4399990"/>
            <a:ext cx="5106091" cy="538032"/>
          </a:xfrm>
          <a:prstGeom prst="rect">
            <a:avLst/>
          </a:prstGeom>
        </p:spPr>
        <p:txBody>
          <a:bodyPr lIns="0" tIns="0" rIns="0" bIns="0" rtlCol="0" anchor="t">
            <a:spAutoFit/>
          </a:bodyPr>
          <a:lstStyle/>
          <a:p>
            <a:pPr algn="ctr">
              <a:lnSpc>
                <a:spcPts val="4435"/>
              </a:lnSpc>
            </a:pPr>
            <a:r>
              <a:rPr lang="en-US" sz="3600" dirty="0">
                <a:latin typeface="HelveticaNeueLT Arabic 55 Roman" panose="020B0604020202020204" pitchFamily="34" charset="-78"/>
                <a:cs typeface="HelveticaNeueLT Arabic 55 Roman" panose="020B0604020202020204" pitchFamily="34" charset="-78"/>
              </a:rPr>
              <a:t>Programming Language</a:t>
            </a:r>
            <a:endParaRPr lang="en-US" sz="3200" b="1" dirty="0">
              <a:solidFill>
                <a:srgbClr val="000000"/>
              </a:solidFill>
              <a:latin typeface="HelveticaNeueLT Arabic 55 Roman" panose="020B0604020202020204" pitchFamily="34" charset="-78"/>
              <a:ea typeface="Anonymous Pro Bold"/>
              <a:cs typeface="HelveticaNeueLT Arabic 55 Roman" panose="020B0604020202020204" pitchFamily="34" charset="-78"/>
              <a:sym typeface="Anonymous Pro Bold"/>
            </a:endParaRPr>
          </a:p>
        </p:txBody>
      </p:sp>
      <p:sp>
        <p:nvSpPr>
          <p:cNvPr id="14" name="TextBox 14"/>
          <p:cNvSpPr txBox="1"/>
          <p:nvPr/>
        </p:nvSpPr>
        <p:spPr>
          <a:xfrm>
            <a:off x="3439736" y="1248652"/>
            <a:ext cx="11336302" cy="1333698"/>
          </a:xfrm>
          <a:prstGeom prst="rect">
            <a:avLst/>
          </a:prstGeom>
        </p:spPr>
        <p:txBody>
          <a:bodyPr lIns="0" tIns="0" rIns="0" bIns="0" rtlCol="0" anchor="t">
            <a:spAutoFit/>
          </a:bodyPr>
          <a:lstStyle/>
          <a:p>
            <a:pPr marL="0" lvl="0" indent="0" algn="ctr">
              <a:lnSpc>
                <a:spcPts val="10381"/>
              </a:lnSpc>
              <a:spcBef>
                <a:spcPct val="0"/>
              </a:spcBef>
            </a:pPr>
            <a:r>
              <a:rPr lang="en-US" sz="9600" dirty="0">
                <a:solidFill>
                  <a:srgbClr val="2E1B5B"/>
                </a:solidFill>
                <a:effectLst>
                  <a:outerShdw blurRad="38100" dist="38100" dir="2700000" algn="tl">
                    <a:srgbClr val="000000">
                      <a:alpha val="43137"/>
                    </a:srgbClr>
                  </a:outerShdw>
                </a:effectLst>
                <a:latin typeface="HelveticaNeueLT Arabic 55 Roman" panose="020B0604020202020204" pitchFamily="34" charset="-78"/>
                <a:ea typeface="HK Modular"/>
                <a:cs typeface="HelveticaNeueLT Arabic 55 Roman" panose="020B0604020202020204" pitchFamily="34" charset="-78"/>
                <a:sym typeface="HK Modular"/>
              </a:rPr>
              <a:t>Technologies Used</a:t>
            </a:r>
          </a:p>
        </p:txBody>
      </p:sp>
      <p:grpSp>
        <p:nvGrpSpPr>
          <p:cNvPr id="15" name="Group 15"/>
          <p:cNvGrpSpPr/>
          <p:nvPr/>
        </p:nvGrpSpPr>
        <p:grpSpPr>
          <a:xfrm>
            <a:off x="10578488" y="4286947"/>
            <a:ext cx="3149438" cy="920586"/>
            <a:chOff x="0" y="0"/>
            <a:chExt cx="829482" cy="242459"/>
          </a:xfrm>
        </p:grpSpPr>
        <p:sp>
          <p:nvSpPr>
            <p:cNvPr id="16" name="Freeform 16"/>
            <p:cNvSpPr/>
            <p:nvPr/>
          </p:nvSpPr>
          <p:spPr>
            <a:xfrm>
              <a:off x="0" y="0"/>
              <a:ext cx="829482" cy="242459"/>
            </a:xfrm>
            <a:custGeom>
              <a:avLst/>
              <a:gdLst/>
              <a:ahLst/>
              <a:cxnLst/>
              <a:rect l="l" t="t" r="r" b="b"/>
              <a:pathLst>
                <a:path w="829482" h="242459">
                  <a:moveTo>
                    <a:pt x="0" y="0"/>
                  </a:moveTo>
                  <a:lnTo>
                    <a:pt x="829482" y="0"/>
                  </a:lnTo>
                  <a:lnTo>
                    <a:pt x="829482" y="242459"/>
                  </a:lnTo>
                  <a:lnTo>
                    <a:pt x="0" y="242459"/>
                  </a:lnTo>
                  <a:close/>
                </a:path>
              </a:pathLst>
            </a:custGeom>
            <a:solidFill>
              <a:srgbClr val="F0F9FF"/>
            </a:solidFill>
          </p:spPr>
        </p:sp>
        <p:sp>
          <p:nvSpPr>
            <p:cNvPr id="17" name="TextBox 17"/>
            <p:cNvSpPr txBox="1"/>
            <p:nvPr/>
          </p:nvSpPr>
          <p:spPr>
            <a:xfrm>
              <a:off x="0" y="-47625"/>
              <a:ext cx="829482" cy="290084"/>
            </a:xfrm>
            <a:prstGeom prst="rect">
              <a:avLst/>
            </a:prstGeom>
          </p:spPr>
          <p:txBody>
            <a:bodyPr lIns="50800" tIns="50800" rIns="50800" bIns="50800" rtlCol="0" anchor="ctr"/>
            <a:lstStyle/>
            <a:p>
              <a:pPr algn="ctr">
                <a:lnSpc>
                  <a:spcPts val="3214"/>
                </a:lnSpc>
              </a:pPr>
              <a:endParaRPr/>
            </a:p>
          </p:txBody>
        </p:sp>
      </p:grpSp>
      <p:sp>
        <p:nvSpPr>
          <p:cNvPr id="18" name="TextBox 18"/>
          <p:cNvSpPr txBox="1"/>
          <p:nvPr/>
        </p:nvSpPr>
        <p:spPr>
          <a:xfrm>
            <a:off x="10867140" y="4375770"/>
            <a:ext cx="2650865" cy="538032"/>
          </a:xfrm>
          <a:prstGeom prst="rect">
            <a:avLst/>
          </a:prstGeom>
        </p:spPr>
        <p:txBody>
          <a:bodyPr lIns="0" tIns="0" rIns="0" bIns="0" rtlCol="0" anchor="t">
            <a:spAutoFit/>
          </a:bodyPr>
          <a:lstStyle/>
          <a:p>
            <a:pPr algn="ctr">
              <a:lnSpc>
                <a:spcPts val="4435"/>
              </a:lnSpc>
            </a:pPr>
            <a:r>
              <a:rPr lang="en-US" sz="3600" dirty="0">
                <a:latin typeface="HelveticaNeueLT Arabic 55 Roman" panose="020B0604020202020204" pitchFamily="34" charset="-78"/>
                <a:cs typeface="HelveticaNeueLT Arabic 55 Roman" panose="020B0604020202020204" pitchFamily="34" charset="-78"/>
              </a:rPr>
              <a:t>Python </a:t>
            </a:r>
            <a:endParaRPr lang="en-US" sz="3200" b="1" dirty="0">
              <a:solidFill>
                <a:srgbClr val="000000"/>
              </a:solidFill>
              <a:latin typeface="HelveticaNeueLT Arabic 55 Roman" panose="020B0604020202020204" pitchFamily="34" charset="-78"/>
              <a:ea typeface="Anonymous Pro Bold"/>
              <a:cs typeface="HelveticaNeueLT Arabic 55 Roman" panose="020B0604020202020204" pitchFamily="34" charset="-78"/>
              <a:sym typeface="Anonymous Pro Bold"/>
            </a:endParaRPr>
          </a:p>
        </p:txBody>
      </p:sp>
      <p:sp>
        <p:nvSpPr>
          <p:cNvPr id="19" name="Freeform 19"/>
          <p:cNvSpPr/>
          <p:nvPr/>
        </p:nvSpPr>
        <p:spPr>
          <a:xfrm>
            <a:off x="13994626" y="4408536"/>
            <a:ext cx="781412" cy="781412"/>
          </a:xfrm>
          <a:custGeom>
            <a:avLst/>
            <a:gdLst/>
            <a:ahLst/>
            <a:cxnLst/>
            <a:rect l="l" t="t" r="r" b="b"/>
            <a:pathLst>
              <a:path w="781412" h="781412">
                <a:moveTo>
                  <a:pt x="0" y="0"/>
                </a:moveTo>
                <a:lnTo>
                  <a:pt x="781412" y="0"/>
                </a:lnTo>
                <a:lnTo>
                  <a:pt x="781412" y="781412"/>
                </a:lnTo>
                <a:lnTo>
                  <a:pt x="0" y="781412"/>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21" name="Group 21"/>
          <p:cNvGrpSpPr/>
          <p:nvPr/>
        </p:nvGrpSpPr>
        <p:grpSpPr>
          <a:xfrm>
            <a:off x="3646860" y="5417793"/>
            <a:ext cx="5497140" cy="920586"/>
            <a:chOff x="0" y="0"/>
            <a:chExt cx="1447806" cy="242459"/>
          </a:xfrm>
        </p:grpSpPr>
        <p:sp>
          <p:nvSpPr>
            <p:cNvPr id="22" name="Freeform 22"/>
            <p:cNvSpPr/>
            <p:nvPr/>
          </p:nvSpPr>
          <p:spPr>
            <a:xfrm>
              <a:off x="0" y="0"/>
              <a:ext cx="1447806" cy="242459"/>
            </a:xfrm>
            <a:custGeom>
              <a:avLst/>
              <a:gdLst/>
              <a:ahLst/>
              <a:cxnLst/>
              <a:rect l="l" t="t" r="r" b="b"/>
              <a:pathLst>
                <a:path w="1447806" h="242459">
                  <a:moveTo>
                    <a:pt x="0" y="0"/>
                  </a:moveTo>
                  <a:lnTo>
                    <a:pt x="1447806" y="0"/>
                  </a:lnTo>
                  <a:lnTo>
                    <a:pt x="1447806" y="242459"/>
                  </a:lnTo>
                  <a:lnTo>
                    <a:pt x="0" y="242459"/>
                  </a:lnTo>
                  <a:close/>
                </a:path>
              </a:pathLst>
            </a:custGeom>
            <a:solidFill>
              <a:srgbClr val="F0F9FF"/>
            </a:solidFill>
          </p:spPr>
        </p:sp>
        <p:sp>
          <p:nvSpPr>
            <p:cNvPr id="23" name="TextBox 23"/>
            <p:cNvSpPr txBox="1"/>
            <p:nvPr/>
          </p:nvSpPr>
          <p:spPr>
            <a:xfrm>
              <a:off x="0" y="-47625"/>
              <a:ext cx="1447806" cy="290084"/>
            </a:xfrm>
            <a:prstGeom prst="rect">
              <a:avLst/>
            </a:prstGeom>
          </p:spPr>
          <p:txBody>
            <a:bodyPr lIns="50800" tIns="50800" rIns="50800" bIns="50800" rtlCol="0" anchor="ctr"/>
            <a:lstStyle/>
            <a:p>
              <a:pPr algn="ctr">
                <a:lnSpc>
                  <a:spcPts val="3214"/>
                </a:lnSpc>
              </a:pPr>
              <a:endParaRPr/>
            </a:p>
          </p:txBody>
        </p:sp>
      </p:grpSp>
      <p:sp>
        <p:nvSpPr>
          <p:cNvPr id="24" name="Freeform 24"/>
          <p:cNvSpPr/>
          <p:nvPr/>
        </p:nvSpPr>
        <p:spPr>
          <a:xfrm>
            <a:off x="9409022" y="5594125"/>
            <a:ext cx="902767" cy="567922"/>
          </a:xfrm>
          <a:custGeom>
            <a:avLst/>
            <a:gdLst/>
            <a:ahLst/>
            <a:cxnLst/>
            <a:rect l="l" t="t" r="r" b="b"/>
            <a:pathLst>
              <a:path w="902767" h="567922">
                <a:moveTo>
                  <a:pt x="0" y="0"/>
                </a:moveTo>
                <a:lnTo>
                  <a:pt x="902766" y="0"/>
                </a:lnTo>
                <a:lnTo>
                  <a:pt x="902766" y="567922"/>
                </a:lnTo>
                <a:lnTo>
                  <a:pt x="0" y="56792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5" name="TextBox 25"/>
          <p:cNvSpPr txBox="1"/>
          <p:nvPr/>
        </p:nvSpPr>
        <p:spPr>
          <a:xfrm>
            <a:off x="3891092" y="5506616"/>
            <a:ext cx="5106091" cy="538032"/>
          </a:xfrm>
          <a:prstGeom prst="rect">
            <a:avLst/>
          </a:prstGeom>
        </p:spPr>
        <p:txBody>
          <a:bodyPr lIns="0" tIns="0" rIns="0" bIns="0" rtlCol="0" anchor="t">
            <a:spAutoFit/>
          </a:bodyPr>
          <a:lstStyle/>
          <a:p>
            <a:pPr algn="ctr">
              <a:lnSpc>
                <a:spcPts val="4435"/>
              </a:lnSpc>
            </a:pPr>
            <a:r>
              <a:rPr lang="en-US" sz="3600" dirty="0">
                <a:latin typeface="HelveticaNeueLT Arabic 55 Roman" panose="020B0604020202020204" pitchFamily="34" charset="-78"/>
                <a:cs typeface="HelveticaNeueLT Arabic 55 Roman" panose="020B0604020202020204" pitchFamily="34" charset="-78"/>
              </a:rPr>
              <a:t>Graphical User Interface</a:t>
            </a:r>
            <a:endParaRPr lang="en-US" sz="3200" b="1" dirty="0">
              <a:solidFill>
                <a:srgbClr val="000000"/>
              </a:solidFill>
              <a:latin typeface="HelveticaNeueLT Arabic 55 Roman" panose="020B0604020202020204" pitchFamily="34" charset="-78"/>
              <a:ea typeface="Anonymous Pro Bold"/>
              <a:cs typeface="HelveticaNeueLT Arabic 55 Roman" panose="020B0604020202020204" pitchFamily="34" charset="-78"/>
              <a:sym typeface="Anonymous Pro Bold"/>
            </a:endParaRPr>
          </a:p>
        </p:txBody>
      </p:sp>
      <p:grpSp>
        <p:nvGrpSpPr>
          <p:cNvPr id="26" name="Group 26"/>
          <p:cNvGrpSpPr/>
          <p:nvPr/>
        </p:nvGrpSpPr>
        <p:grpSpPr>
          <a:xfrm>
            <a:off x="10578488" y="5393573"/>
            <a:ext cx="3149438" cy="920586"/>
            <a:chOff x="0" y="0"/>
            <a:chExt cx="829482" cy="242459"/>
          </a:xfrm>
        </p:grpSpPr>
        <p:sp>
          <p:nvSpPr>
            <p:cNvPr id="27" name="Freeform 27"/>
            <p:cNvSpPr/>
            <p:nvPr/>
          </p:nvSpPr>
          <p:spPr>
            <a:xfrm>
              <a:off x="0" y="0"/>
              <a:ext cx="829482" cy="242459"/>
            </a:xfrm>
            <a:custGeom>
              <a:avLst/>
              <a:gdLst/>
              <a:ahLst/>
              <a:cxnLst/>
              <a:rect l="l" t="t" r="r" b="b"/>
              <a:pathLst>
                <a:path w="829482" h="242459">
                  <a:moveTo>
                    <a:pt x="0" y="0"/>
                  </a:moveTo>
                  <a:lnTo>
                    <a:pt x="829482" y="0"/>
                  </a:lnTo>
                  <a:lnTo>
                    <a:pt x="829482" y="242459"/>
                  </a:lnTo>
                  <a:lnTo>
                    <a:pt x="0" y="242459"/>
                  </a:lnTo>
                  <a:close/>
                </a:path>
              </a:pathLst>
            </a:custGeom>
            <a:solidFill>
              <a:srgbClr val="F0F9FF"/>
            </a:solidFill>
          </p:spPr>
        </p:sp>
        <p:sp>
          <p:nvSpPr>
            <p:cNvPr id="28" name="TextBox 28"/>
            <p:cNvSpPr txBox="1"/>
            <p:nvPr/>
          </p:nvSpPr>
          <p:spPr>
            <a:xfrm>
              <a:off x="0" y="-47625"/>
              <a:ext cx="829482" cy="290084"/>
            </a:xfrm>
            <a:prstGeom prst="rect">
              <a:avLst/>
            </a:prstGeom>
          </p:spPr>
          <p:txBody>
            <a:bodyPr lIns="50800" tIns="50800" rIns="50800" bIns="50800" rtlCol="0" anchor="ctr"/>
            <a:lstStyle/>
            <a:p>
              <a:pPr algn="ctr">
                <a:lnSpc>
                  <a:spcPts val="3214"/>
                </a:lnSpc>
              </a:pPr>
              <a:endParaRPr/>
            </a:p>
          </p:txBody>
        </p:sp>
      </p:grpSp>
      <p:sp>
        <p:nvSpPr>
          <p:cNvPr id="29" name="TextBox 29"/>
          <p:cNvSpPr txBox="1"/>
          <p:nvPr/>
        </p:nvSpPr>
        <p:spPr>
          <a:xfrm>
            <a:off x="10867140" y="5482396"/>
            <a:ext cx="2650865" cy="538032"/>
          </a:xfrm>
          <a:prstGeom prst="rect">
            <a:avLst/>
          </a:prstGeom>
        </p:spPr>
        <p:txBody>
          <a:bodyPr lIns="0" tIns="0" rIns="0" bIns="0" rtlCol="0" anchor="t">
            <a:spAutoFit/>
          </a:bodyPr>
          <a:lstStyle/>
          <a:p>
            <a:pPr algn="ctr">
              <a:lnSpc>
                <a:spcPts val="4435"/>
              </a:lnSpc>
            </a:pPr>
            <a:r>
              <a:rPr lang="en-US" sz="3600" dirty="0">
                <a:latin typeface="HelveticaNeueLT Arabic 55 Roman" panose="020B0604020202020204" pitchFamily="34" charset="-78"/>
                <a:cs typeface="HelveticaNeueLT Arabic 55 Roman" panose="020B0604020202020204" pitchFamily="34" charset="-78"/>
              </a:rPr>
              <a:t>Tkinter </a:t>
            </a:r>
            <a:endParaRPr lang="en-US" sz="3200" b="1" dirty="0">
              <a:solidFill>
                <a:srgbClr val="000000"/>
              </a:solidFill>
              <a:latin typeface="HelveticaNeueLT Arabic 55 Roman" panose="020B0604020202020204" pitchFamily="34" charset="-78"/>
              <a:ea typeface="Anonymous Pro Bold"/>
              <a:cs typeface="HelveticaNeueLT Arabic 55 Roman" panose="020B0604020202020204" pitchFamily="34" charset="-78"/>
              <a:sym typeface="Anonymous Pro Bold"/>
            </a:endParaRPr>
          </a:p>
        </p:txBody>
      </p:sp>
      <p:sp>
        <p:nvSpPr>
          <p:cNvPr id="30" name="Freeform 30"/>
          <p:cNvSpPr/>
          <p:nvPr/>
        </p:nvSpPr>
        <p:spPr>
          <a:xfrm>
            <a:off x="13987973" y="5522637"/>
            <a:ext cx="727817" cy="727817"/>
          </a:xfrm>
          <a:custGeom>
            <a:avLst/>
            <a:gdLst/>
            <a:ahLst/>
            <a:cxnLst/>
            <a:rect l="l" t="t" r="r" b="b"/>
            <a:pathLst>
              <a:path w="727817" h="727817">
                <a:moveTo>
                  <a:pt x="0" y="0"/>
                </a:moveTo>
                <a:lnTo>
                  <a:pt x="727817" y="0"/>
                </a:lnTo>
                <a:lnTo>
                  <a:pt x="727817" y="727817"/>
                </a:lnTo>
                <a:lnTo>
                  <a:pt x="0" y="72781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1" name="Freeform 31"/>
          <p:cNvSpPr/>
          <p:nvPr/>
        </p:nvSpPr>
        <p:spPr>
          <a:xfrm>
            <a:off x="14848014" y="5505718"/>
            <a:ext cx="727817" cy="727817"/>
          </a:xfrm>
          <a:custGeom>
            <a:avLst/>
            <a:gdLst/>
            <a:ahLst/>
            <a:cxnLst/>
            <a:rect l="l" t="t" r="r" b="b"/>
            <a:pathLst>
              <a:path w="727817" h="727817">
                <a:moveTo>
                  <a:pt x="0" y="0"/>
                </a:moveTo>
                <a:lnTo>
                  <a:pt x="727817" y="0"/>
                </a:lnTo>
                <a:lnTo>
                  <a:pt x="727817" y="727817"/>
                </a:lnTo>
                <a:lnTo>
                  <a:pt x="0" y="727817"/>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33" name="Group 33"/>
          <p:cNvGrpSpPr/>
          <p:nvPr/>
        </p:nvGrpSpPr>
        <p:grpSpPr>
          <a:xfrm>
            <a:off x="3646860" y="6524524"/>
            <a:ext cx="5497140" cy="920586"/>
            <a:chOff x="0" y="0"/>
            <a:chExt cx="1447806" cy="242459"/>
          </a:xfrm>
        </p:grpSpPr>
        <p:sp>
          <p:nvSpPr>
            <p:cNvPr id="34" name="Freeform 34"/>
            <p:cNvSpPr/>
            <p:nvPr/>
          </p:nvSpPr>
          <p:spPr>
            <a:xfrm>
              <a:off x="0" y="0"/>
              <a:ext cx="1447806" cy="242459"/>
            </a:xfrm>
            <a:custGeom>
              <a:avLst/>
              <a:gdLst/>
              <a:ahLst/>
              <a:cxnLst/>
              <a:rect l="l" t="t" r="r" b="b"/>
              <a:pathLst>
                <a:path w="1447806" h="242459">
                  <a:moveTo>
                    <a:pt x="0" y="0"/>
                  </a:moveTo>
                  <a:lnTo>
                    <a:pt x="1447806" y="0"/>
                  </a:lnTo>
                  <a:lnTo>
                    <a:pt x="1447806" y="242459"/>
                  </a:lnTo>
                  <a:lnTo>
                    <a:pt x="0" y="242459"/>
                  </a:lnTo>
                  <a:close/>
                </a:path>
              </a:pathLst>
            </a:custGeom>
            <a:solidFill>
              <a:srgbClr val="F0F9FF"/>
            </a:solidFill>
          </p:spPr>
        </p:sp>
        <p:sp>
          <p:nvSpPr>
            <p:cNvPr id="35" name="TextBox 35"/>
            <p:cNvSpPr txBox="1"/>
            <p:nvPr/>
          </p:nvSpPr>
          <p:spPr>
            <a:xfrm>
              <a:off x="0" y="-47625"/>
              <a:ext cx="1447806" cy="290084"/>
            </a:xfrm>
            <a:prstGeom prst="rect">
              <a:avLst/>
            </a:prstGeom>
          </p:spPr>
          <p:txBody>
            <a:bodyPr lIns="50800" tIns="50800" rIns="50800" bIns="50800" rtlCol="0" anchor="ctr"/>
            <a:lstStyle/>
            <a:p>
              <a:pPr algn="ctr">
                <a:lnSpc>
                  <a:spcPts val="3214"/>
                </a:lnSpc>
              </a:pPr>
              <a:endParaRPr/>
            </a:p>
          </p:txBody>
        </p:sp>
      </p:grpSp>
      <p:sp>
        <p:nvSpPr>
          <p:cNvPr id="36" name="Freeform 36"/>
          <p:cNvSpPr/>
          <p:nvPr/>
        </p:nvSpPr>
        <p:spPr>
          <a:xfrm>
            <a:off x="9409022" y="6700856"/>
            <a:ext cx="902767" cy="567922"/>
          </a:xfrm>
          <a:custGeom>
            <a:avLst/>
            <a:gdLst/>
            <a:ahLst/>
            <a:cxnLst/>
            <a:rect l="l" t="t" r="r" b="b"/>
            <a:pathLst>
              <a:path w="902767" h="567922">
                <a:moveTo>
                  <a:pt x="0" y="0"/>
                </a:moveTo>
                <a:lnTo>
                  <a:pt x="902766" y="0"/>
                </a:lnTo>
                <a:lnTo>
                  <a:pt x="902766" y="567922"/>
                </a:lnTo>
                <a:lnTo>
                  <a:pt x="0" y="56792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7" name="TextBox 37"/>
          <p:cNvSpPr txBox="1"/>
          <p:nvPr/>
        </p:nvSpPr>
        <p:spPr>
          <a:xfrm>
            <a:off x="3891092" y="6613347"/>
            <a:ext cx="5106091" cy="538032"/>
          </a:xfrm>
          <a:prstGeom prst="rect">
            <a:avLst/>
          </a:prstGeom>
        </p:spPr>
        <p:txBody>
          <a:bodyPr lIns="0" tIns="0" rIns="0" bIns="0" rtlCol="0" anchor="t">
            <a:spAutoFit/>
          </a:bodyPr>
          <a:lstStyle/>
          <a:p>
            <a:pPr algn="ctr">
              <a:lnSpc>
                <a:spcPts val="4435"/>
              </a:lnSpc>
            </a:pPr>
            <a:r>
              <a:rPr lang="en-US" sz="3600" dirty="0">
                <a:latin typeface="HelveticaNeueLT Arabic 55 Roman" panose="020B0604020202020204" pitchFamily="34" charset="-78"/>
                <a:cs typeface="HelveticaNeueLT Arabic 55 Roman" panose="020B0604020202020204" pitchFamily="34" charset="-78"/>
              </a:rPr>
              <a:t>Image Processing</a:t>
            </a:r>
            <a:endParaRPr lang="en-US" sz="3200" b="1" dirty="0">
              <a:solidFill>
                <a:srgbClr val="000000"/>
              </a:solidFill>
              <a:latin typeface="HelveticaNeueLT Arabic 55 Roman" panose="020B0604020202020204" pitchFamily="34" charset="-78"/>
              <a:ea typeface="Anonymous Pro Bold"/>
              <a:cs typeface="HelveticaNeueLT Arabic 55 Roman" panose="020B0604020202020204" pitchFamily="34" charset="-78"/>
              <a:sym typeface="Anonymous Pro Bold"/>
            </a:endParaRPr>
          </a:p>
        </p:txBody>
      </p:sp>
      <p:grpSp>
        <p:nvGrpSpPr>
          <p:cNvPr id="38" name="Group 38"/>
          <p:cNvGrpSpPr/>
          <p:nvPr/>
        </p:nvGrpSpPr>
        <p:grpSpPr>
          <a:xfrm>
            <a:off x="10578488" y="6500304"/>
            <a:ext cx="3149438" cy="920586"/>
            <a:chOff x="0" y="0"/>
            <a:chExt cx="829482" cy="242459"/>
          </a:xfrm>
        </p:grpSpPr>
        <p:sp>
          <p:nvSpPr>
            <p:cNvPr id="39" name="Freeform 39"/>
            <p:cNvSpPr/>
            <p:nvPr/>
          </p:nvSpPr>
          <p:spPr>
            <a:xfrm>
              <a:off x="0" y="0"/>
              <a:ext cx="829482" cy="242459"/>
            </a:xfrm>
            <a:custGeom>
              <a:avLst/>
              <a:gdLst/>
              <a:ahLst/>
              <a:cxnLst/>
              <a:rect l="l" t="t" r="r" b="b"/>
              <a:pathLst>
                <a:path w="829482" h="242459">
                  <a:moveTo>
                    <a:pt x="0" y="0"/>
                  </a:moveTo>
                  <a:lnTo>
                    <a:pt x="829482" y="0"/>
                  </a:lnTo>
                  <a:lnTo>
                    <a:pt x="829482" y="242459"/>
                  </a:lnTo>
                  <a:lnTo>
                    <a:pt x="0" y="242459"/>
                  </a:lnTo>
                  <a:close/>
                </a:path>
              </a:pathLst>
            </a:custGeom>
            <a:solidFill>
              <a:srgbClr val="F0F9FF"/>
            </a:solidFill>
          </p:spPr>
        </p:sp>
        <p:sp>
          <p:nvSpPr>
            <p:cNvPr id="40" name="TextBox 40"/>
            <p:cNvSpPr txBox="1"/>
            <p:nvPr/>
          </p:nvSpPr>
          <p:spPr>
            <a:xfrm>
              <a:off x="0" y="-47625"/>
              <a:ext cx="829482" cy="290084"/>
            </a:xfrm>
            <a:prstGeom prst="rect">
              <a:avLst/>
            </a:prstGeom>
          </p:spPr>
          <p:txBody>
            <a:bodyPr lIns="50800" tIns="50800" rIns="50800" bIns="50800" rtlCol="0" anchor="ctr"/>
            <a:lstStyle/>
            <a:p>
              <a:pPr algn="ctr">
                <a:lnSpc>
                  <a:spcPts val="3214"/>
                </a:lnSpc>
              </a:pPr>
              <a:endParaRPr/>
            </a:p>
          </p:txBody>
        </p:sp>
      </p:grpSp>
      <p:sp>
        <p:nvSpPr>
          <p:cNvPr id="41" name="TextBox 41"/>
          <p:cNvSpPr txBox="1"/>
          <p:nvPr/>
        </p:nvSpPr>
        <p:spPr>
          <a:xfrm>
            <a:off x="10867140" y="6589127"/>
            <a:ext cx="2650865" cy="538032"/>
          </a:xfrm>
          <a:prstGeom prst="rect">
            <a:avLst/>
          </a:prstGeom>
        </p:spPr>
        <p:txBody>
          <a:bodyPr lIns="0" tIns="0" rIns="0" bIns="0" rtlCol="0" anchor="t">
            <a:spAutoFit/>
          </a:bodyPr>
          <a:lstStyle/>
          <a:p>
            <a:pPr algn="ctr">
              <a:lnSpc>
                <a:spcPts val="4435"/>
              </a:lnSpc>
            </a:pPr>
            <a:r>
              <a:rPr lang="en-US" sz="3600" dirty="0">
                <a:latin typeface="HelveticaNeueLT Arabic 55 Roman" panose="020B0604020202020204" pitchFamily="34" charset="-78"/>
                <a:cs typeface="HelveticaNeueLT Arabic 55 Roman" panose="020B0604020202020204" pitchFamily="34" charset="-78"/>
              </a:rPr>
              <a:t>PIL</a:t>
            </a:r>
            <a:endParaRPr lang="en-US" sz="3200" b="1" dirty="0">
              <a:solidFill>
                <a:srgbClr val="000000"/>
              </a:solidFill>
              <a:latin typeface="HelveticaNeueLT Arabic 55 Roman" panose="020B0604020202020204" pitchFamily="34" charset="-78"/>
              <a:ea typeface="Anonymous Pro Bold"/>
              <a:cs typeface="HelveticaNeueLT Arabic 55 Roman" panose="020B0604020202020204" pitchFamily="34" charset="-78"/>
              <a:sym typeface="Anonymous Pro Bold"/>
            </a:endParaRPr>
          </a:p>
        </p:txBody>
      </p:sp>
      <p:sp>
        <p:nvSpPr>
          <p:cNvPr id="42" name="Freeform 30">
            <a:extLst>
              <a:ext uri="{FF2B5EF4-FFF2-40B4-BE49-F238E27FC236}">
                <a16:creationId xmlns:a16="http://schemas.microsoft.com/office/drawing/2014/main" id="{DABB3B87-4F0F-427E-2E4A-57476FC43B3E}"/>
              </a:ext>
            </a:extLst>
          </p:cNvPr>
          <p:cNvSpPr/>
          <p:nvPr/>
        </p:nvSpPr>
        <p:spPr>
          <a:xfrm>
            <a:off x="14013097" y="6570017"/>
            <a:ext cx="727817" cy="727817"/>
          </a:xfrm>
          <a:custGeom>
            <a:avLst/>
            <a:gdLst/>
            <a:ahLst/>
            <a:cxnLst/>
            <a:rect l="l" t="t" r="r" b="b"/>
            <a:pathLst>
              <a:path w="727817" h="727817">
                <a:moveTo>
                  <a:pt x="0" y="0"/>
                </a:moveTo>
                <a:lnTo>
                  <a:pt x="727817" y="0"/>
                </a:lnTo>
                <a:lnTo>
                  <a:pt x="727817" y="727817"/>
                </a:lnTo>
                <a:lnTo>
                  <a:pt x="0" y="72781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3" name="Freeform 31">
            <a:extLst>
              <a:ext uri="{FF2B5EF4-FFF2-40B4-BE49-F238E27FC236}">
                <a16:creationId xmlns:a16="http://schemas.microsoft.com/office/drawing/2014/main" id="{D262E12D-CED5-F040-7AEE-9E30AC0D016D}"/>
              </a:ext>
            </a:extLst>
          </p:cNvPr>
          <p:cNvSpPr/>
          <p:nvPr/>
        </p:nvSpPr>
        <p:spPr>
          <a:xfrm>
            <a:off x="14873138" y="6553098"/>
            <a:ext cx="727817" cy="727817"/>
          </a:xfrm>
          <a:custGeom>
            <a:avLst/>
            <a:gdLst/>
            <a:ahLst/>
            <a:cxnLst/>
            <a:rect l="l" t="t" r="r" b="b"/>
            <a:pathLst>
              <a:path w="727817" h="727817">
                <a:moveTo>
                  <a:pt x="0" y="0"/>
                </a:moveTo>
                <a:lnTo>
                  <a:pt x="727817" y="0"/>
                </a:lnTo>
                <a:lnTo>
                  <a:pt x="727817" y="727817"/>
                </a:lnTo>
                <a:lnTo>
                  <a:pt x="0" y="72781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4" name="Freeform 32">
            <a:extLst>
              <a:ext uri="{FF2B5EF4-FFF2-40B4-BE49-F238E27FC236}">
                <a16:creationId xmlns:a16="http://schemas.microsoft.com/office/drawing/2014/main" id="{B900F573-F2EF-031F-5EE3-296B19A99817}"/>
              </a:ext>
            </a:extLst>
          </p:cNvPr>
          <p:cNvSpPr/>
          <p:nvPr/>
        </p:nvSpPr>
        <p:spPr>
          <a:xfrm>
            <a:off x="15733179" y="6553098"/>
            <a:ext cx="727817" cy="727817"/>
          </a:xfrm>
          <a:custGeom>
            <a:avLst/>
            <a:gdLst/>
            <a:ahLst/>
            <a:cxnLst/>
            <a:rect l="l" t="t" r="r" b="b"/>
            <a:pathLst>
              <a:path w="727817" h="727817">
                <a:moveTo>
                  <a:pt x="0" y="0"/>
                </a:moveTo>
                <a:lnTo>
                  <a:pt x="727818" y="0"/>
                </a:lnTo>
                <a:lnTo>
                  <a:pt x="727818" y="727817"/>
                </a:lnTo>
                <a:lnTo>
                  <a:pt x="0" y="727817"/>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6321961" y="-9450543"/>
            <a:ext cx="15976849" cy="1597684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9FF"/>
            </a:solidFill>
            <a:ln cap="sq">
              <a:no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3214"/>
                </a:lnSpc>
                <a:spcBef>
                  <a:spcPct val="0"/>
                </a:spcBef>
                <a:spcAft>
                  <a:spcPts val="0"/>
                </a:spcAft>
                <a:buClrTx/>
                <a:buSzTx/>
                <a:buFontTx/>
                <a:buNone/>
                <a:tabLst/>
                <a:defRPr/>
              </a:pPr>
              <a:endParaRPr kumimoji="0" sz="1800" b="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p:cNvSpPr/>
          <p:nvPr/>
        </p:nvSpPr>
        <p:spPr>
          <a:xfrm>
            <a:off x="1717381" y="4560928"/>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662713" y="7411839"/>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3783886" y="7099843"/>
            <a:ext cx="2205437" cy="1575885"/>
          </a:xfrm>
          <a:custGeom>
            <a:avLst/>
            <a:gdLst/>
            <a:ahLst/>
            <a:cxnLst/>
            <a:rect l="l" t="t" r="r" b="b"/>
            <a:pathLst>
              <a:path w="2205437" h="1575885">
                <a:moveTo>
                  <a:pt x="0" y="0"/>
                </a:moveTo>
                <a:lnTo>
                  <a:pt x="2205438" y="0"/>
                </a:lnTo>
                <a:lnTo>
                  <a:pt x="2205438" y="1575885"/>
                </a:lnTo>
                <a:lnTo>
                  <a:pt x="0" y="157588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a:off x="15428199" y="131163"/>
            <a:ext cx="3796770" cy="1718901"/>
          </a:xfrm>
          <a:custGeom>
            <a:avLst/>
            <a:gdLst/>
            <a:ahLst/>
            <a:cxnLst/>
            <a:rect l="l" t="t" r="r" b="b"/>
            <a:pathLst>
              <a:path w="3796770" h="1718901">
                <a:moveTo>
                  <a:pt x="0" y="0"/>
                </a:moveTo>
                <a:lnTo>
                  <a:pt x="3796770" y="0"/>
                </a:lnTo>
                <a:lnTo>
                  <a:pt x="3796770" y="1718901"/>
                </a:lnTo>
                <a:lnTo>
                  <a:pt x="0" y="171890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4" name="Freeform 14"/>
          <p:cNvSpPr/>
          <p:nvPr/>
        </p:nvSpPr>
        <p:spPr>
          <a:xfrm>
            <a:off x="405363" y="-22323"/>
            <a:ext cx="3796770" cy="1718901"/>
          </a:xfrm>
          <a:custGeom>
            <a:avLst/>
            <a:gdLst/>
            <a:ahLst/>
            <a:cxnLst/>
            <a:rect l="l" t="t" r="r" b="b"/>
            <a:pathLst>
              <a:path w="3796770" h="1718901">
                <a:moveTo>
                  <a:pt x="0" y="0"/>
                </a:moveTo>
                <a:lnTo>
                  <a:pt x="3796770" y="0"/>
                </a:lnTo>
                <a:lnTo>
                  <a:pt x="3796770" y="1718902"/>
                </a:lnTo>
                <a:lnTo>
                  <a:pt x="0" y="171890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5" name="Freeform 15"/>
          <p:cNvSpPr/>
          <p:nvPr/>
        </p:nvSpPr>
        <p:spPr>
          <a:xfrm>
            <a:off x="11693071" y="247650"/>
            <a:ext cx="3433272" cy="836470"/>
          </a:xfrm>
          <a:custGeom>
            <a:avLst/>
            <a:gdLst/>
            <a:ahLst/>
            <a:cxnLst/>
            <a:rect l="l" t="t" r="r" b="b"/>
            <a:pathLst>
              <a:path w="3433272" h="836470">
                <a:moveTo>
                  <a:pt x="0" y="0"/>
                </a:moveTo>
                <a:lnTo>
                  <a:pt x="3433272" y="0"/>
                </a:lnTo>
                <a:lnTo>
                  <a:pt x="3433272" y="836470"/>
                </a:lnTo>
                <a:lnTo>
                  <a:pt x="0" y="836470"/>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45" name="مجموعة 44">
            <a:extLst>
              <a:ext uri="{FF2B5EF4-FFF2-40B4-BE49-F238E27FC236}">
                <a16:creationId xmlns:a16="http://schemas.microsoft.com/office/drawing/2014/main" id="{09CC74F3-F6DB-A7D3-A890-3F1A5AF34942}"/>
              </a:ext>
            </a:extLst>
          </p:cNvPr>
          <p:cNvGrpSpPr/>
          <p:nvPr/>
        </p:nvGrpSpPr>
        <p:grpSpPr>
          <a:xfrm>
            <a:off x="8848860" y="1983705"/>
            <a:ext cx="9299550" cy="1535036"/>
            <a:chOff x="8977940" y="1963227"/>
            <a:chExt cx="9299550" cy="1535036"/>
          </a:xfrm>
        </p:grpSpPr>
        <p:sp>
          <p:nvSpPr>
            <p:cNvPr id="16" name="Freeform 16"/>
            <p:cNvSpPr/>
            <p:nvPr/>
          </p:nvSpPr>
          <p:spPr>
            <a:xfrm>
              <a:off x="8977940" y="2661620"/>
              <a:ext cx="613076" cy="571833"/>
            </a:xfrm>
            <a:custGeom>
              <a:avLst/>
              <a:gdLst/>
              <a:ahLst/>
              <a:cxnLst/>
              <a:rect l="l" t="t" r="r" b="b"/>
              <a:pathLst>
                <a:path w="613076" h="571833">
                  <a:moveTo>
                    <a:pt x="0" y="0"/>
                  </a:moveTo>
                  <a:lnTo>
                    <a:pt x="613076" y="0"/>
                  </a:lnTo>
                  <a:lnTo>
                    <a:pt x="613076" y="571833"/>
                  </a:lnTo>
                  <a:lnTo>
                    <a:pt x="0" y="57183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7" name="TextBox 17"/>
            <p:cNvSpPr txBox="1"/>
            <p:nvPr/>
          </p:nvSpPr>
          <p:spPr>
            <a:xfrm>
              <a:off x="11079470" y="2088566"/>
              <a:ext cx="4187794" cy="543290"/>
            </a:xfrm>
            <a:prstGeom prst="rect">
              <a:avLst/>
            </a:prstGeom>
          </p:spPr>
          <p:txBody>
            <a:bodyPr lIns="0" tIns="0" rIns="0" bIns="0" rtlCol="0" anchor="t">
              <a:spAutoFit/>
            </a:bodyPr>
            <a:lstStyle/>
            <a:p>
              <a:pPr marL="0" marR="0" lvl="0" indent="0" algn="l" defTabSz="914400" rtl="0" eaLnBrk="1" fontAlgn="auto" latinLnBrk="0" hangingPunct="1">
                <a:lnSpc>
                  <a:spcPts val="4563"/>
                </a:lnSpc>
                <a:spcBef>
                  <a:spcPts val="0"/>
                </a:spcBef>
                <a:spcAft>
                  <a:spcPts val="0"/>
                </a:spcAft>
                <a:buClrTx/>
                <a:buSzTx/>
                <a:buFontTx/>
                <a:buNone/>
                <a:tabLst/>
                <a:defRPr/>
              </a:pPr>
              <a:r>
                <a:rPr kumimoji="0" lang="en-US" sz="3600" b="1"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Start Screen</a:t>
              </a:r>
            </a:p>
          </p:txBody>
        </p:sp>
        <p:sp>
          <p:nvSpPr>
            <p:cNvPr id="18" name="TextBox 18"/>
            <p:cNvSpPr txBox="1"/>
            <p:nvPr/>
          </p:nvSpPr>
          <p:spPr>
            <a:xfrm>
              <a:off x="11103118" y="2628434"/>
              <a:ext cx="7174372" cy="786113"/>
            </a:xfrm>
            <a:prstGeom prst="rect">
              <a:avLst/>
            </a:prstGeom>
          </p:spPr>
          <p:txBody>
            <a:bodyPr wrap="square" lIns="0" tIns="0" rIns="0" bIns="0" rtlCol="0" anchor="t">
              <a:spAutoFit/>
            </a:bodyPr>
            <a:lstStyle/>
            <a:p>
              <a:pPr marL="0" marR="0" lvl="0" indent="0" algn="l" defTabSz="914400" rtl="0" eaLnBrk="1" fontAlgn="auto" latinLnBrk="0" hangingPunct="1">
                <a:lnSpc>
                  <a:spcPts val="3214"/>
                </a:lnSpc>
                <a:spcBef>
                  <a:spcPts val="0"/>
                </a:spcBef>
                <a:spcAft>
                  <a:spcPts val="0"/>
                </a:spcAft>
                <a:buClrTx/>
                <a:buSzTx/>
                <a:buFontTx/>
                <a:buNone/>
                <a:tabLst/>
                <a:defRPr/>
              </a:pPr>
              <a:r>
                <a:rPr kumimoji="0" lang="en-US" sz="2329" b="0" u="none" strike="noStrike" kern="1200" cap="none" spc="228" normalizeH="0" baseline="0" noProof="0" dirty="0">
                  <a:ln>
                    <a:noFill/>
                  </a:ln>
                  <a:solidFill>
                    <a:srgbClr val="000000"/>
                  </a:solidFill>
                  <a:effectLst/>
                  <a:uLnTx/>
                  <a:uFillTx/>
                  <a:latin typeface="Anonymous Pro Italics"/>
                  <a:ea typeface="Anonymous Pro Italics"/>
                  <a:cs typeface="Anonymous Pro Italics"/>
                  <a:sym typeface="Anonymous Pro Italics"/>
                </a:rPr>
                <a:t>Provides a welcome interface and launches the game.</a:t>
              </a:r>
            </a:p>
          </p:txBody>
        </p:sp>
        <p:sp>
          <p:nvSpPr>
            <p:cNvPr id="19" name="TextBox 19"/>
            <p:cNvSpPr txBox="1"/>
            <p:nvPr/>
          </p:nvSpPr>
          <p:spPr>
            <a:xfrm>
              <a:off x="9852714" y="1963227"/>
              <a:ext cx="1173181" cy="1535036"/>
            </a:xfrm>
            <a:prstGeom prst="rect">
              <a:avLst/>
            </a:prstGeom>
          </p:spPr>
          <p:txBody>
            <a:bodyPr lIns="0" tIns="0" rIns="0" bIns="0" rtlCol="0" anchor="t">
              <a:spAutoFit/>
            </a:bodyPr>
            <a:lstStyle/>
            <a:p>
              <a:pPr marL="0" marR="0" lvl="0" indent="0" algn="ctr" defTabSz="914400" rtl="0" eaLnBrk="1" fontAlgn="auto" latinLnBrk="0" hangingPunct="1">
                <a:lnSpc>
                  <a:spcPts val="13439"/>
                </a:lnSpc>
                <a:spcBef>
                  <a:spcPts val="0"/>
                </a:spcBef>
                <a:spcAft>
                  <a:spcPts val="0"/>
                </a:spcAft>
                <a:buClrTx/>
                <a:buSzTx/>
                <a:buFontTx/>
                <a:buNone/>
                <a:tabLst/>
                <a:defRPr/>
              </a:pPr>
              <a:r>
                <a:rPr kumimoji="0" lang="en-US" sz="9599" b="1" u="none" strike="noStrike" kern="1200" cap="none" spc="0" normalizeH="0" baseline="0" noProof="0">
                  <a:ln>
                    <a:noFill/>
                  </a:ln>
                  <a:solidFill>
                    <a:srgbClr val="160059"/>
                  </a:solidFill>
                  <a:effectLst/>
                  <a:uLnTx/>
                  <a:uFillTx/>
                  <a:latin typeface="HK Modular"/>
                  <a:ea typeface="HK Modular"/>
                  <a:cs typeface="HK Modular"/>
                  <a:sym typeface="HK Modular"/>
                </a:rPr>
                <a:t>1</a:t>
              </a:r>
            </a:p>
          </p:txBody>
        </p:sp>
      </p:grpSp>
      <p:sp>
        <p:nvSpPr>
          <p:cNvPr id="22" name="TextBox 22"/>
          <p:cNvSpPr txBox="1"/>
          <p:nvPr/>
        </p:nvSpPr>
        <p:spPr>
          <a:xfrm>
            <a:off x="314627" y="1722661"/>
            <a:ext cx="8303785" cy="2451056"/>
          </a:xfrm>
          <a:prstGeom prst="rect">
            <a:avLst/>
          </a:prstGeom>
        </p:spPr>
        <p:txBody>
          <a:bodyPr wrap="square" lIns="0" tIns="0" rIns="0" bIns="0" rtlCol="0" anchor="t">
            <a:spAutoFit/>
          </a:bodyPr>
          <a:lstStyle/>
          <a:p>
            <a:pPr marL="0" marR="0" lvl="0" indent="0" defTabSz="914400" rtl="0" eaLnBrk="1" fontAlgn="auto" latinLnBrk="0" hangingPunct="1">
              <a:lnSpc>
                <a:spcPts val="10065"/>
              </a:lnSpc>
              <a:spcBef>
                <a:spcPts val="0"/>
              </a:spcBef>
              <a:spcAft>
                <a:spcPts val="0"/>
              </a:spcAft>
              <a:buClrTx/>
              <a:buSzTx/>
              <a:buFontTx/>
              <a:buNone/>
              <a:tabLst/>
              <a:defRPr/>
            </a:pPr>
            <a:r>
              <a:rPr kumimoji="0" lang="en-US" sz="6000" b="1" u="none" strike="noStrike" kern="1200" cap="none" spc="0" normalizeH="0" baseline="0" noProof="0" dirty="0">
                <a:ln>
                  <a:noFill/>
                </a:ln>
                <a:solidFill>
                  <a:srgbClr val="2E1B5B"/>
                </a:solidFill>
                <a:effectLst/>
                <a:uLnTx/>
                <a:uFillTx/>
                <a:latin typeface="HK Modular"/>
                <a:ea typeface="HK Modular"/>
                <a:cs typeface="HK Modular"/>
                <a:sym typeface="HK Modular"/>
              </a:rPr>
              <a:t>System </a:t>
            </a:r>
          </a:p>
          <a:p>
            <a:pPr marL="0" marR="0" lvl="0" indent="0" defTabSz="914400" rtl="0" eaLnBrk="1" fontAlgn="auto" latinLnBrk="0" hangingPunct="1">
              <a:lnSpc>
                <a:spcPts val="10065"/>
              </a:lnSpc>
              <a:spcBef>
                <a:spcPts val="0"/>
              </a:spcBef>
              <a:spcAft>
                <a:spcPts val="0"/>
              </a:spcAft>
              <a:buClrTx/>
              <a:buSzTx/>
              <a:buFontTx/>
              <a:buNone/>
              <a:tabLst/>
              <a:defRPr/>
            </a:pPr>
            <a:r>
              <a:rPr kumimoji="0" lang="en-US" sz="6000" b="1" u="none" strike="noStrike" kern="1200" cap="none" spc="0" normalizeH="0" baseline="0" noProof="0" dirty="0">
                <a:ln>
                  <a:noFill/>
                </a:ln>
                <a:solidFill>
                  <a:srgbClr val="2E1B5B"/>
                </a:solidFill>
                <a:effectLst/>
                <a:uLnTx/>
                <a:uFillTx/>
                <a:latin typeface="HK Modular"/>
                <a:ea typeface="HK Modular"/>
                <a:cs typeface="HK Modular"/>
                <a:sym typeface="HK Modular"/>
              </a:rPr>
              <a:t>Architecture</a:t>
            </a:r>
          </a:p>
        </p:txBody>
      </p:sp>
      <p:grpSp>
        <p:nvGrpSpPr>
          <p:cNvPr id="44" name="مجموعة 43">
            <a:extLst>
              <a:ext uri="{FF2B5EF4-FFF2-40B4-BE49-F238E27FC236}">
                <a16:creationId xmlns:a16="http://schemas.microsoft.com/office/drawing/2014/main" id="{43492F5F-67A8-E7BB-8C89-D7936FEA7169}"/>
              </a:ext>
            </a:extLst>
          </p:cNvPr>
          <p:cNvGrpSpPr/>
          <p:nvPr/>
        </p:nvGrpSpPr>
        <p:grpSpPr>
          <a:xfrm>
            <a:off x="8848860" y="3568667"/>
            <a:ext cx="9354663" cy="1535036"/>
            <a:chOff x="8977940" y="3443422"/>
            <a:chExt cx="9354663" cy="1535036"/>
          </a:xfrm>
        </p:grpSpPr>
        <p:sp>
          <p:nvSpPr>
            <p:cNvPr id="20" name="TextBox 20"/>
            <p:cNvSpPr txBox="1"/>
            <p:nvPr/>
          </p:nvSpPr>
          <p:spPr>
            <a:xfrm>
              <a:off x="9852714" y="3443422"/>
              <a:ext cx="1173181" cy="1535036"/>
            </a:xfrm>
            <a:prstGeom prst="rect">
              <a:avLst/>
            </a:prstGeom>
          </p:spPr>
          <p:txBody>
            <a:bodyPr lIns="0" tIns="0" rIns="0" bIns="0" rtlCol="0" anchor="t">
              <a:spAutoFit/>
            </a:bodyPr>
            <a:lstStyle/>
            <a:p>
              <a:pPr marL="0" marR="0" lvl="0" indent="0" algn="ctr" defTabSz="914400" rtl="0" eaLnBrk="1" fontAlgn="auto" latinLnBrk="0" hangingPunct="1">
                <a:lnSpc>
                  <a:spcPts val="13439"/>
                </a:lnSpc>
                <a:spcBef>
                  <a:spcPts val="0"/>
                </a:spcBef>
                <a:spcAft>
                  <a:spcPts val="0"/>
                </a:spcAft>
                <a:buClrTx/>
                <a:buSzTx/>
                <a:buFontTx/>
                <a:buNone/>
                <a:tabLst/>
                <a:defRPr/>
              </a:pPr>
              <a:r>
                <a:rPr kumimoji="0" lang="en-US" sz="9599" b="1" u="none" strike="noStrike" kern="1200" cap="none" spc="0" normalizeH="0" baseline="0" noProof="0">
                  <a:ln>
                    <a:noFill/>
                  </a:ln>
                  <a:solidFill>
                    <a:srgbClr val="160059"/>
                  </a:solidFill>
                  <a:effectLst/>
                  <a:uLnTx/>
                  <a:uFillTx/>
                  <a:latin typeface="HK Modular"/>
                  <a:ea typeface="HK Modular"/>
                  <a:cs typeface="HK Modular"/>
                  <a:sym typeface="HK Modular"/>
                </a:rPr>
                <a:t>2</a:t>
              </a:r>
            </a:p>
          </p:txBody>
        </p:sp>
        <p:sp>
          <p:nvSpPr>
            <p:cNvPr id="23" name="Freeform 23"/>
            <p:cNvSpPr/>
            <p:nvPr/>
          </p:nvSpPr>
          <p:spPr>
            <a:xfrm>
              <a:off x="8977940" y="4044728"/>
              <a:ext cx="613076" cy="571833"/>
            </a:xfrm>
            <a:custGeom>
              <a:avLst/>
              <a:gdLst/>
              <a:ahLst/>
              <a:cxnLst/>
              <a:rect l="l" t="t" r="r" b="b"/>
              <a:pathLst>
                <a:path w="613076" h="571833">
                  <a:moveTo>
                    <a:pt x="0" y="0"/>
                  </a:moveTo>
                  <a:lnTo>
                    <a:pt x="613076" y="0"/>
                  </a:lnTo>
                  <a:lnTo>
                    <a:pt x="613076" y="571833"/>
                  </a:lnTo>
                  <a:lnTo>
                    <a:pt x="0" y="57183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5" name="TextBox 25"/>
            <p:cNvSpPr txBox="1"/>
            <p:nvPr/>
          </p:nvSpPr>
          <p:spPr>
            <a:xfrm>
              <a:off x="11121464" y="3612095"/>
              <a:ext cx="4187794" cy="543290"/>
            </a:xfrm>
            <a:prstGeom prst="rect">
              <a:avLst/>
            </a:prstGeom>
          </p:spPr>
          <p:txBody>
            <a:bodyPr lIns="0" tIns="0" rIns="0" bIns="0" rtlCol="0" anchor="t">
              <a:spAutoFit/>
            </a:bodyPr>
            <a:lstStyle/>
            <a:p>
              <a:pPr marL="0" marR="0" lvl="0" indent="0" algn="l" defTabSz="914400" rtl="0" eaLnBrk="1" fontAlgn="auto" latinLnBrk="0" hangingPunct="1">
                <a:lnSpc>
                  <a:spcPts val="4563"/>
                </a:lnSpc>
                <a:spcBef>
                  <a:spcPts val="0"/>
                </a:spcBef>
                <a:spcAft>
                  <a:spcPts val="0"/>
                </a:spcAft>
                <a:buClrTx/>
                <a:buSzTx/>
                <a:buFontTx/>
                <a:buNone/>
                <a:tabLst/>
                <a:defRPr/>
              </a:pPr>
              <a:r>
                <a:rPr kumimoji="0" lang="en-US" sz="3600" b="1"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Game Engine</a:t>
              </a:r>
            </a:p>
          </p:txBody>
        </p:sp>
        <p:sp>
          <p:nvSpPr>
            <p:cNvPr id="26" name="TextBox 26"/>
            <p:cNvSpPr txBox="1"/>
            <p:nvPr/>
          </p:nvSpPr>
          <p:spPr>
            <a:xfrm>
              <a:off x="11134583" y="4151963"/>
              <a:ext cx="7198020" cy="786113"/>
            </a:xfrm>
            <a:prstGeom prst="rect">
              <a:avLst/>
            </a:prstGeom>
          </p:spPr>
          <p:txBody>
            <a:bodyPr wrap="square" lIns="0" tIns="0" rIns="0" bIns="0" rtlCol="0" anchor="t">
              <a:spAutoFit/>
            </a:bodyPr>
            <a:lstStyle/>
            <a:p>
              <a:pPr marL="0" marR="0" lvl="0" indent="0" algn="l" defTabSz="914400" rtl="0" eaLnBrk="1" fontAlgn="auto" latinLnBrk="0" hangingPunct="1">
                <a:lnSpc>
                  <a:spcPts val="3214"/>
                </a:lnSpc>
                <a:spcBef>
                  <a:spcPts val="0"/>
                </a:spcBef>
                <a:spcAft>
                  <a:spcPts val="0"/>
                </a:spcAft>
                <a:buClrTx/>
                <a:buSzTx/>
                <a:buFontTx/>
                <a:buNone/>
                <a:tabLst/>
                <a:defRPr/>
              </a:pPr>
              <a:r>
                <a:rPr kumimoji="0" lang="en-US" sz="2329" b="0" u="none" strike="noStrike" kern="1200" cap="none" spc="228" normalizeH="0" baseline="0" noProof="0" dirty="0">
                  <a:ln>
                    <a:noFill/>
                  </a:ln>
                  <a:solidFill>
                    <a:srgbClr val="000000"/>
                  </a:solidFill>
                  <a:effectLst/>
                  <a:uLnTx/>
                  <a:uFillTx/>
                  <a:latin typeface="Anonymous Pro Italics"/>
                  <a:ea typeface="Anonymous Pro Italics"/>
                  <a:cs typeface="Anonymous Pro Italics"/>
                  <a:sym typeface="Anonymous Pro Italics"/>
                </a:rPr>
                <a:t>Handles player movement, box interactions, level loading, and win conditions.</a:t>
              </a:r>
            </a:p>
          </p:txBody>
        </p:sp>
      </p:grpSp>
      <p:grpSp>
        <p:nvGrpSpPr>
          <p:cNvPr id="43" name="مجموعة 42">
            <a:extLst>
              <a:ext uri="{FF2B5EF4-FFF2-40B4-BE49-F238E27FC236}">
                <a16:creationId xmlns:a16="http://schemas.microsoft.com/office/drawing/2014/main" id="{B74E0A51-DAC4-FBAC-A723-865FC33D5BEC}"/>
              </a:ext>
            </a:extLst>
          </p:cNvPr>
          <p:cNvGrpSpPr/>
          <p:nvPr/>
        </p:nvGrpSpPr>
        <p:grpSpPr>
          <a:xfrm>
            <a:off x="8848860" y="5143500"/>
            <a:ext cx="9272463" cy="1548117"/>
            <a:chOff x="8977940" y="4923616"/>
            <a:chExt cx="9272463" cy="1548117"/>
          </a:xfrm>
        </p:grpSpPr>
        <p:sp>
          <p:nvSpPr>
            <p:cNvPr id="21" name="TextBox 21"/>
            <p:cNvSpPr txBox="1"/>
            <p:nvPr/>
          </p:nvSpPr>
          <p:spPr>
            <a:xfrm>
              <a:off x="9852714" y="4923616"/>
              <a:ext cx="1173181" cy="1535036"/>
            </a:xfrm>
            <a:prstGeom prst="rect">
              <a:avLst/>
            </a:prstGeom>
          </p:spPr>
          <p:txBody>
            <a:bodyPr lIns="0" tIns="0" rIns="0" bIns="0" rtlCol="0" anchor="t">
              <a:spAutoFit/>
            </a:bodyPr>
            <a:lstStyle/>
            <a:p>
              <a:pPr marL="0" marR="0" lvl="0" indent="0" algn="ctr" defTabSz="914400" rtl="0" eaLnBrk="1" fontAlgn="auto" latinLnBrk="0" hangingPunct="1">
                <a:lnSpc>
                  <a:spcPts val="13439"/>
                </a:lnSpc>
                <a:spcBef>
                  <a:spcPts val="0"/>
                </a:spcBef>
                <a:spcAft>
                  <a:spcPts val="0"/>
                </a:spcAft>
                <a:buClrTx/>
                <a:buSzTx/>
                <a:buFontTx/>
                <a:buNone/>
                <a:tabLst/>
                <a:defRPr/>
              </a:pPr>
              <a:r>
                <a:rPr kumimoji="0" lang="en-US" sz="9599" b="1" u="none" strike="noStrike" kern="1200" cap="none" spc="0" normalizeH="0" baseline="0" noProof="0">
                  <a:ln>
                    <a:noFill/>
                  </a:ln>
                  <a:solidFill>
                    <a:srgbClr val="160059"/>
                  </a:solidFill>
                  <a:effectLst/>
                  <a:uLnTx/>
                  <a:uFillTx/>
                  <a:latin typeface="HK Modular"/>
                  <a:ea typeface="HK Modular"/>
                  <a:cs typeface="HK Modular"/>
                  <a:sym typeface="HK Modular"/>
                </a:rPr>
                <a:t>3</a:t>
              </a:r>
            </a:p>
          </p:txBody>
        </p:sp>
        <p:sp>
          <p:nvSpPr>
            <p:cNvPr id="24" name="Freeform 24"/>
            <p:cNvSpPr/>
            <p:nvPr/>
          </p:nvSpPr>
          <p:spPr>
            <a:xfrm>
              <a:off x="8977940" y="5447790"/>
              <a:ext cx="613076" cy="571833"/>
            </a:xfrm>
            <a:custGeom>
              <a:avLst/>
              <a:gdLst/>
              <a:ahLst/>
              <a:cxnLst/>
              <a:rect l="l" t="t" r="r" b="b"/>
              <a:pathLst>
                <a:path w="613076" h="571833">
                  <a:moveTo>
                    <a:pt x="0" y="0"/>
                  </a:moveTo>
                  <a:lnTo>
                    <a:pt x="613076" y="0"/>
                  </a:lnTo>
                  <a:lnTo>
                    <a:pt x="613076" y="571833"/>
                  </a:lnTo>
                  <a:lnTo>
                    <a:pt x="0" y="57183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7" name="TextBox 27"/>
            <p:cNvSpPr txBox="1"/>
            <p:nvPr/>
          </p:nvSpPr>
          <p:spPr>
            <a:xfrm>
              <a:off x="11106932" y="5145752"/>
              <a:ext cx="4187794" cy="543290"/>
            </a:xfrm>
            <a:prstGeom prst="rect">
              <a:avLst/>
            </a:prstGeom>
          </p:spPr>
          <p:txBody>
            <a:bodyPr lIns="0" tIns="0" rIns="0" bIns="0" rtlCol="0" anchor="t">
              <a:spAutoFit/>
            </a:bodyPr>
            <a:lstStyle/>
            <a:p>
              <a:pPr marL="0" marR="0" lvl="0" indent="0" algn="l" defTabSz="914400" rtl="0" eaLnBrk="1" fontAlgn="auto" latinLnBrk="0" hangingPunct="1">
                <a:lnSpc>
                  <a:spcPts val="4563"/>
                </a:lnSpc>
                <a:spcBef>
                  <a:spcPts val="0"/>
                </a:spcBef>
                <a:spcAft>
                  <a:spcPts val="0"/>
                </a:spcAft>
                <a:buClrTx/>
                <a:buSzTx/>
                <a:buFontTx/>
                <a:buNone/>
                <a:tabLst/>
                <a:defRPr/>
              </a:pPr>
              <a:r>
                <a:rPr kumimoji="0" lang="en-US" sz="3600" b="1"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Solver Module</a:t>
              </a:r>
            </a:p>
          </p:txBody>
        </p:sp>
        <p:sp>
          <p:nvSpPr>
            <p:cNvPr id="28" name="TextBox 28"/>
            <p:cNvSpPr txBox="1"/>
            <p:nvPr/>
          </p:nvSpPr>
          <p:spPr>
            <a:xfrm>
              <a:off x="11158231" y="5685620"/>
              <a:ext cx="7092172" cy="786113"/>
            </a:xfrm>
            <a:prstGeom prst="rect">
              <a:avLst/>
            </a:prstGeom>
          </p:spPr>
          <p:txBody>
            <a:bodyPr wrap="square" lIns="0" tIns="0" rIns="0" bIns="0" rtlCol="0" anchor="t">
              <a:spAutoFit/>
            </a:bodyPr>
            <a:lstStyle/>
            <a:p>
              <a:pPr marL="0" marR="0" lvl="0" indent="0" algn="l" defTabSz="914400" rtl="0" eaLnBrk="1" fontAlgn="auto" latinLnBrk="0" hangingPunct="1">
                <a:lnSpc>
                  <a:spcPts val="3214"/>
                </a:lnSpc>
                <a:spcBef>
                  <a:spcPts val="0"/>
                </a:spcBef>
                <a:spcAft>
                  <a:spcPts val="0"/>
                </a:spcAft>
                <a:buClrTx/>
                <a:buSzTx/>
                <a:buFontTx/>
                <a:buNone/>
                <a:tabLst/>
                <a:defRPr/>
              </a:pPr>
              <a:r>
                <a:rPr kumimoji="0" lang="en-US" sz="2329" b="0" u="none" strike="noStrike" kern="1200" cap="none" spc="228" normalizeH="0" baseline="0" noProof="0" dirty="0">
                  <a:ln>
                    <a:noFill/>
                  </a:ln>
                  <a:solidFill>
                    <a:srgbClr val="000000"/>
                  </a:solidFill>
                  <a:effectLst/>
                  <a:uLnTx/>
                  <a:uFillTx/>
                  <a:latin typeface="Anonymous Pro Italics"/>
                  <a:ea typeface="Anonymous Pro Italics"/>
                  <a:cs typeface="Anonymous Pro Italics"/>
                  <a:sym typeface="Anonymous Pro Italics"/>
                </a:rPr>
                <a:t>Implements the A* algorithm with deadlock detection.</a:t>
              </a:r>
            </a:p>
          </p:txBody>
        </p:sp>
      </p:grpSp>
      <p:grpSp>
        <p:nvGrpSpPr>
          <p:cNvPr id="42" name="مجموعة 41">
            <a:extLst>
              <a:ext uri="{FF2B5EF4-FFF2-40B4-BE49-F238E27FC236}">
                <a16:creationId xmlns:a16="http://schemas.microsoft.com/office/drawing/2014/main" id="{F6462963-E6A6-71E6-FF5D-074D8D544572}"/>
              </a:ext>
            </a:extLst>
          </p:cNvPr>
          <p:cNvGrpSpPr/>
          <p:nvPr/>
        </p:nvGrpSpPr>
        <p:grpSpPr>
          <a:xfrm>
            <a:off x="8848860" y="6708203"/>
            <a:ext cx="8981940" cy="1535036"/>
            <a:chOff x="8964802" y="6232102"/>
            <a:chExt cx="8981940" cy="1535036"/>
          </a:xfrm>
        </p:grpSpPr>
        <p:sp>
          <p:nvSpPr>
            <p:cNvPr id="29" name="Freeform 29"/>
            <p:cNvSpPr/>
            <p:nvPr/>
          </p:nvSpPr>
          <p:spPr>
            <a:xfrm>
              <a:off x="8964802" y="6930495"/>
              <a:ext cx="613076" cy="571833"/>
            </a:xfrm>
            <a:custGeom>
              <a:avLst/>
              <a:gdLst/>
              <a:ahLst/>
              <a:cxnLst/>
              <a:rect l="l" t="t" r="r" b="b"/>
              <a:pathLst>
                <a:path w="613076" h="571833">
                  <a:moveTo>
                    <a:pt x="0" y="0"/>
                  </a:moveTo>
                  <a:lnTo>
                    <a:pt x="613076" y="0"/>
                  </a:lnTo>
                  <a:lnTo>
                    <a:pt x="613076" y="571833"/>
                  </a:lnTo>
                  <a:lnTo>
                    <a:pt x="0" y="57183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0" name="TextBox 30"/>
            <p:cNvSpPr txBox="1"/>
            <p:nvPr/>
          </p:nvSpPr>
          <p:spPr>
            <a:xfrm>
              <a:off x="11108307" y="6375874"/>
              <a:ext cx="4187794" cy="543290"/>
            </a:xfrm>
            <a:prstGeom prst="rect">
              <a:avLst/>
            </a:prstGeom>
          </p:spPr>
          <p:txBody>
            <a:bodyPr lIns="0" tIns="0" rIns="0" bIns="0" rtlCol="0" anchor="t">
              <a:spAutoFit/>
            </a:bodyPr>
            <a:lstStyle/>
            <a:p>
              <a:pPr marL="0" marR="0" lvl="0" indent="0" algn="l" defTabSz="914400" rtl="0" eaLnBrk="1" fontAlgn="auto" latinLnBrk="0" hangingPunct="1">
                <a:lnSpc>
                  <a:spcPts val="4563"/>
                </a:lnSpc>
                <a:spcBef>
                  <a:spcPts val="0"/>
                </a:spcBef>
                <a:spcAft>
                  <a:spcPts val="0"/>
                </a:spcAft>
                <a:buClrTx/>
                <a:buSzTx/>
                <a:buFontTx/>
                <a:buNone/>
                <a:tabLst/>
                <a:defRPr/>
              </a:pPr>
              <a:r>
                <a:rPr kumimoji="0" lang="en-US" sz="3600" b="1"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GUI Layer</a:t>
              </a:r>
            </a:p>
          </p:txBody>
        </p:sp>
        <p:sp>
          <p:nvSpPr>
            <p:cNvPr id="31" name="TextBox 31"/>
            <p:cNvSpPr txBox="1"/>
            <p:nvPr/>
          </p:nvSpPr>
          <p:spPr>
            <a:xfrm>
              <a:off x="11145093" y="6915742"/>
              <a:ext cx="6801649" cy="786113"/>
            </a:xfrm>
            <a:prstGeom prst="rect">
              <a:avLst/>
            </a:prstGeom>
          </p:spPr>
          <p:txBody>
            <a:bodyPr wrap="square" lIns="0" tIns="0" rIns="0" bIns="0" rtlCol="0" anchor="t">
              <a:spAutoFit/>
            </a:bodyPr>
            <a:lstStyle/>
            <a:p>
              <a:pPr marL="0" marR="0" lvl="0" indent="0" algn="l" defTabSz="914400" rtl="0" eaLnBrk="1" fontAlgn="auto" latinLnBrk="0" hangingPunct="1">
                <a:lnSpc>
                  <a:spcPts val="3214"/>
                </a:lnSpc>
                <a:spcBef>
                  <a:spcPts val="0"/>
                </a:spcBef>
                <a:spcAft>
                  <a:spcPts val="0"/>
                </a:spcAft>
                <a:buClrTx/>
                <a:buSzTx/>
                <a:buFontTx/>
                <a:buNone/>
                <a:tabLst/>
                <a:defRPr/>
              </a:pPr>
              <a:r>
                <a:rPr kumimoji="0" lang="en-US" sz="2329" b="0" u="none" strike="noStrike" kern="1200" cap="none" spc="228" normalizeH="0" baseline="0" noProof="0" dirty="0">
                  <a:ln>
                    <a:noFill/>
                  </a:ln>
                  <a:solidFill>
                    <a:srgbClr val="000000"/>
                  </a:solidFill>
                  <a:effectLst/>
                  <a:uLnTx/>
                  <a:uFillTx/>
                  <a:latin typeface="Anonymous Pro Italics"/>
                  <a:ea typeface="Anonymous Pro Italics"/>
                  <a:cs typeface="Anonymous Pro Italics"/>
                  <a:sym typeface="Anonymous Pro Italics"/>
                </a:rPr>
                <a:t>Displays game elements and handles user interaction.</a:t>
              </a:r>
            </a:p>
          </p:txBody>
        </p:sp>
        <p:sp>
          <p:nvSpPr>
            <p:cNvPr id="32" name="TextBox 32"/>
            <p:cNvSpPr txBox="1"/>
            <p:nvPr/>
          </p:nvSpPr>
          <p:spPr>
            <a:xfrm>
              <a:off x="9839576" y="6232102"/>
              <a:ext cx="1173181" cy="1535036"/>
            </a:xfrm>
            <a:prstGeom prst="rect">
              <a:avLst/>
            </a:prstGeom>
          </p:spPr>
          <p:txBody>
            <a:bodyPr lIns="0" tIns="0" rIns="0" bIns="0" rtlCol="0" anchor="t">
              <a:spAutoFit/>
            </a:bodyPr>
            <a:lstStyle/>
            <a:p>
              <a:pPr marL="0" marR="0" lvl="0" indent="0" algn="ctr" defTabSz="914400" rtl="0" eaLnBrk="1" fontAlgn="auto" latinLnBrk="0" hangingPunct="1">
                <a:lnSpc>
                  <a:spcPts val="13439"/>
                </a:lnSpc>
                <a:spcBef>
                  <a:spcPts val="0"/>
                </a:spcBef>
                <a:spcAft>
                  <a:spcPts val="0"/>
                </a:spcAft>
                <a:buClrTx/>
                <a:buSzTx/>
                <a:buFontTx/>
                <a:buNone/>
                <a:tabLst/>
                <a:defRPr/>
              </a:pPr>
              <a:r>
                <a:rPr kumimoji="0" lang="en-US" sz="9599" b="1" u="none" strike="noStrike" kern="1200" cap="none" spc="0" normalizeH="0" baseline="0" noProof="0">
                  <a:ln>
                    <a:noFill/>
                  </a:ln>
                  <a:solidFill>
                    <a:srgbClr val="160059"/>
                  </a:solidFill>
                  <a:effectLst/>
                  <a:uLnTx/>
                  <a:uFillTx/>
                  <a:latin typeface="HK Modular"/>
                  <a:ea typeface="HK Modular"/>
                  <a:cs typeface="HK Modular"/>
                  <a:sym typeface="HK Modular"/>
                </a:rPr>
                <a:t>4</a:t>
              </a:r>
            </a:p>
          </p:txBody>
        </p:sp>
      </p:grpSp>
      <p:sp>
        <p:nvSpPr>
          <p:cNvPr id="41" name="Freeform 8">
            <a:extLst>
              <a:ext uri="{FF2B5EF4-FFF2-40B4-BE49-F238E27FC236}">
                <a16:creationId xmlns:a16="http://schemas.microsoft.com/office/drawing/2014/main" id="{6B719D13-2FCB-5080-C0C0-9F3429934CE5}"/>
              </a:ext>
            </a:extLst>
          </p:cNvPr>
          <p:cNvSpPr/>
          <p:nvPr/>
        </p:nvSpPr>
        <p:spPr>
          <a:xfrm>
            <a:off x="6251021" y="7404660"/>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3" name="Freeform 3"/>
          <p:cNvSpPr/>
          <p:nvPr/>
        </p:nvSpPr>
        <p:spPr>
          <a:xfrm>
            <a:off x="729996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24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4018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2462638" y="7678054"/>
            <a:ext cx="1624142" cy="1772377"/>
          </a:xfrm>
          <a:custGeom>
            <a:avLst/>
            <a:gdLst/>
            <a:ahLst/>
            <a:cxnLst/>
            <a:rect l="l" t="t" r="r" b="b"/>
            <a:pathLst>
              <a:path w="1624142" h="1772377">
                <a:moveTo>
                  <a:pt x="0" y="0"/>
                </a:moveTo>
                <a:lnTo>
                  <a:pt x="1624142" y="0"/>
                </a:lnTo>
                <a:lnTo>
                  <a:pt x="1624142" y="1772377"/>
                </a:lnTo>
                <a:lnTo>
                  <a:pt x="0" y="177237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rot="5400000">
            <a:off x="5734197" y="-1772490"/>
            <a:ext cx="5525191" cy="13640789"/>
            <a:chOff x="0" y="0"/>
            <a:chExt cx="5584973" cy="13463649"/>
          </a:xfrm>
        </p:grpSpPr>
        <p:sp>
          <p:nvSpPr>
            <p:cNvPr id="9" name="Freeform 9"/>
            <p:cNvSpPr/>
            <p:nvPr/>
          </p:nvSpPr>
          <p:spPr>
            <a:xfrm>
              <a:off x="0" y="0"/>
              <a:ext cx="5584972" cy="13463650"/>
            </a:xfrm>
            <a:custGeom>
              <a:avLst/>
              <a:gdLst/>
              <a:ahLst/>
              <a:cxnLst/>
              <a:rect l="l" t="t" r="r" b="b"/>
              <a:pathLst>
                <a:path w="5584972" h="13463650">
                  <a:moveTo>
                    <a:pt x="4878853" y="10975627"/>
                  </a:moveTo>
                  <a:lnTo>
                    <a:pt x="4878853" y="0"/>
                  </a:lnTo>
                  <a:lnTo>
                    <a:pt x="0" y="0"/>
                  </a:lnTo>
                  <a:lnTo>
                    <a:pt x="0" y="13463650"/>
                  </a:lnTo>
                  <a:lnTo>
                    <a:pt x="4878853" y="13463650"/>
                  </a:lnTo>
                  <a:lnTo>
                    <a:pt x="4878853" y="11568809"/>
                  </a:lnTo>
                  <a:lnTo>
                    <a:pt x="5584972" y="11277979"/>
                  </a:lnTo>
                  <a:lnTo>
                    <a:pt x="4878853" y="10975627"/>
                  </a:lnTo>
                  <a:close/>
                </a:path>
              </a:pathLst>
            </a:custGeom>
            <a:solidFill>
              <a:srgbClr val="F0F9FF"/>
            </a:solidFill>
          </p:spPr>
        </p:sp>
      </p:grpSp>
      <p:sp>
        <p:nvSpPr>
          <p:cNvPr id="10" name="Freeform 10"/>
          <p:cNvSpPr/>
          <p:nvPr/>
        </p:nvSpPr>
        <p:spPr>
          <a:xfrm>
            <a:off x="13069934" y="1667675"/>
            <a:ext cx="1122590" cy="1016455"/>
          </a:xfrm>
          <a:custGeom>
            <a:avLst/>
            <a:gdLst/>
            <a:ahLst/>
            <a:cxnLst/>
            <a:rect l="l" t="t" r="r" b="b"/>
            <a:pathLst>
              <a:path w="1122590" h="1016455">
                <a:moveTo>
                  <a:pt x="0" y="0"/>
                </a:moveTo>
                <a:lnTo>
                  <a:pt x="1122590" y="0"/>
                </a:lnTo>
                <a:lnTo>
                  <a:pt x="1122590" y="1016454"/>
                </a:lnTo>
                <a:lnTo>
                  <a:pt x="0" y="101645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a:off x="12428071" y="355567"/>
            <a:ext cx="4936169" cy="1202630"/>
          </a:xfrm>
          <a:custGeom>
            <a:avLst/>
            <a:gdLst/>
            <a:ahLst/>
            <a:cxnLst/>
            <a:rect l="l" t="t" r="r" b="b"/>
            <a:pathLst>
              <a:path w="4936169" h="1202630">
                <a:moveTo>
                  <a:pt x="0" y="0"/>
                </a:moveTo>
                <a:lnTo>
                  <a:pt x="4936168" y="0"/>
                </a:lnTo>
                <a:lnTo>
                  <a:pt x="4936168" y="1202630"/>
                </a:lnTo>
                <a:lnTo>
                  <a:pt x="0" y="120263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a:off x="-1295400" y="1427151"/>
            <a:ext cx="5245314" cy="1277949"/>
          </a:xfrm>
          <a:custGeom>
            <a:avLst/>
            <a:gdLst/>
            <a:ahLst/>
            <a:cxnLst/>
            <a:rect l="l" t="t" r="r" b="b"/>
            <a:pathLst>
              <a:path w="5245314" h="1277949">
                <a:moveTo>
                  <a:pt x="0" y="0"/>
                </a:moveTo>
                <a:lnTo>
                  <a:pt x="5245314" y="0"/>
                </a:lnTo>
                <a:lnTo>
                  <a:pt x="5245314" y="1277949"/>
                </a:lnTo>
                <a:lnTo>
                  <a:pt x="0" y="127794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3" name="Freeform 13"/>
          <p:cNvSpPr/>
          <p:nvPr/>
        </p:nvSpPr>
        <p:spPr>
          <a:xfrm>
            <a:off x="3807534" y="231278"/>
            <a:ext cx="2978226" cy="725604"/>
          </a:xfrm>
          <a:custGeom>
            <a:avLst/>
            <a:gdLst/>
            <a:ahLst/>
            <a:cxnLst/>
            <a:rect l="l" t="t" r="r" b="b"/>
            <a:pathLst>
              <a:path w="2978226" h="725604">
                <a:moveTo>
                  <a:pt x="0" y="0"/>
                </a:moveTo>
                <a:lnTo>
                  <a:pt x="2978226" y="0"/>
                </a:lnTo>
                <a:lnTo>
                  <a:pt x="2978226" y="725604"/>
                </a:lnTo>
                <a:lnTo>
                  <a:pt x="0" y="72560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4" name="Freeform 14"/>
          <p:cNvSpPr/>
          <p:nvPr/>
        </p:nvSpPr>
        <p:spPr>
          <a:xfrm>
            <a:off x="10336215" y="8244140"/>
            <a:ext cx="716405" cy="716405"/>
          </a:xfrm>
          <a:custGeom>
            <a:avLst/>
            <a:gdLst/>
            <a:ahLst/>
            <a:cxnLst/>
            <a:rect l="l" t="t" r="r" b="b"/>
            <a:pathLst>
              <a:path w="716405" h="716405">
                <a:moveTo>
                  <a:pt x="0" y="0"/>
                </a:moveTo>
                <a:lnTo>
                  <a:pt x="716405" y="0"/>
                </a:lnTo>
                <a:lnTo>
                  <a:pt x="716405" y="716405"/>
                </a:lnTo>
                <a:lnTo>
                  <a:pt x="0" y="71640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5" name="Freeform 15"/>
          <p:cNvSpPr/>
          <p:nvPr/>
        </p:nvSpPr>
        <p:spPr>
          <a:xfrm>
            <a:off x="12665921" y="8244140"/>
            <a:ext cx="716405" cy="716405"/>
          </a:xfrm>
          <a:custGeom>
            <a:avLst/>
            <a:gdLst/>
            <a:ahLst/>
            <a:cxnLst/>
            <a:rect l="l" t="t" r="r" b="b"/>
            <a:pathLst>
              <a:path w="716405" h="716405">
                <a:moveTo>
                  <a:pt x="0" y="0"/>
                </a:moveTo>
                <a:lnTo>
                  <a:pt x="716405" y="0"/>
                </a:lnTo>
                <a:lnTo>
                  <a:pt x="716405" y="716405"/>
                </a:lnTo>
                <a:lnTo>
                  <a:pt x="0" y="71640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6" name="Freeform 16"/>
          <p:cNvSpPr/>
          <p:nvPr/>
        </p:nvSpPr>
        <p:spPr>
          <a:xfrm>
            <a:off x="16824897" y="2047039"/>
            <a:ext cx="868805" cy="868805"/>
          </a:xfrm>
          <a:custGeom>
            <a:avLst/>
            <a:gdLst/>
            <a:ahLst/>
            <a:cxnLst/>
            <a:rect l="l" t="t" r="r" b="b"/>
            <a:pathLst>
              <a:path w="868805" h="868805">
                <a:moveTo>
                  <a:pt x="0" y="0"/>
                </a:moveTo>
                <a:lnTo>
                  <a:pt x="868806" y="0"/>
                </a:lnTo>
                <a:lnTo>
                  <a:pt x="868806" y="868805"/>
                </a:lnTo>
                <a:lnTo>
                  <a:pt x="0" y="86880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8" name="TextBox 18"/>
          <p:cNvSpPr txBox="1"/>
          <p:nvPr/>
        </p:nvSpPr>
        <p:spPr>
          <a:xfrm>
            <a:off x="3376362" y="822527"/>
            <a:ext cx="10267125" cy="1784335"/>
          </a:xfrm>
          <a:prstGeom prst="rect">
            <a:avLst/>
          </a:prstGeom>
        </p:spPr>
        <p:txBody>
          <a:bodyPr lIns="0" tIns="0" rIns="0" bIns="0" rtlCol="0" anchor="t">
            <a:spAutoFit/>
          </a:bodyPr>
          <a:lstStyle/>
          <a:p>
            <a:pPr algn="ctr">
              <a:lnSpc>
                <a:spcPts val="6735"/>
              </a:lnSpc>
            </a:pPr>
            <a:r>
              <a:rPr lang="en-US" sz="8800" b="1" dirty="0">
                <a:solidFill>
                  <a:srgbClr val="2E1B5B"/>
                </a:solidFill>
                <a:latin typeface="HelveticaNeueLT Arabic 55 Roman" panose="020B0604020202020204" pitchFamily="34" charset="-78"/>
                <a:ea typeface="HK Modular"/>
                <a:cs typeface="HelveticaNeueLT Arabic 55 Roman" panose="020B0604020202020204" pitchFamily="34" charset="-78"/>
                <a:sym typeface="HK Modular"/>
              </a:rPr>
              <a:t>State Representation</a:t>
            </a:r>
          </a:p>
        </p:txBody>
      </p:sp>
      <p:sp>
        <p:nvSpPr>
          <p:cNvPr id="20" name="Rectangle 2">
            <a:extLst>
              <a:ext uri="{FF2B5EF4-FFF2-40B4-BE49-F238E27FC236}">
                <a16:creationId xmlns:a16="http://schemas.microsoft.com/office/drawing/2014/main" id="{B789DC8C-C9E1-0A2C-37C1-D36011773FE5}"/>
              </a:ext>
            </a:extLst>
          </p:cNvPr>
          <p:cNvSpPr>
            <a:spLocks noChangeArrowheads="1"/>
          </p:cNvSpPr>
          <p:nvPr/>
        </p:nvSpPr>
        <p:spPr bwMode="auto">
          <a:xfrm>
            <a:off x="2145290" y="2811542"/>
            <a:ext cx="1126751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800" b="1" dirty="0">
                <a:solidFill>
                  <a:srgbClr val="2E1B5B"/>
                </a:solidFill>
                <a:latin typeface="HelveticaNeueLT Arabic 55 Roman" panose="020B0604020202020204" pitchFamily="34" charset="-78"/>
                <a:cs typeface="HelveticaNeueLT Arabic 55 Roman" panose="020B0604020202020204" pitchFamily="34" charset="-78"/>
              </a:rPr>
              <a:t>The game state consists of:</a:t>
            </a:r>
          </a:p>
          <a:p>
            <a:pPr lvl="0" eaLnBrk="0" fontAlgn="base" hangingPunct="0">
              <a:spcBef>
                <a:spcPct val="0"/>
              </a:spcBef>
              <a:spcAft>
                <a:spcPct val="0"/>
              </a:spcAft>
            </a:pPr>
            <a:r>
              <a:rPr lang="en-US" altLang="en-US" sz="2800" dirty="0">
                <a:solidFill>
                  <a:srgbClr val="2E1B5B"/>
                </a:solidFill>
                <a:latin typeface="HelveticaNeueLT Arabic 55 Roman" panose="020B0604020202020204" pitchFamily="34" charset="-78"/>
                <a:cs typeface="HelveticaNeueLT Arabic 55 Roman" panose="020B0604020202020204" pitchFamily="34" charset="-78"/>
              </a:rPr>
              <a:t>• Player Position</a:t>
            </a:r>
          </a:p>
          <a:p>
            <a:pPr lvl="0" eaLnBrk="0" fontAlgn="base" hangingPunct="0">
              <a:spcBef>
                <a:spcPct val="0"/>
              </a:spcBef>
              <a:spcAft>
                <a:spcPct val="0"/>
              </a:spcAft>
            </a:pPr>
            <a:r>
              <a:rPr lang="en-US" altLang="en-US" sz="2800" dirty="0">
                <a:solidFill>
                  <a:srgbClr val="2E1B5B"/>
                </a:solidFill>
                <a:latin typeface="HelveticaNeueLT Arabic 55 Roman" panose="020B0604020202020204" pitchFamily="34" charset="-78"/>
                <a:cs typeface="HelveticaNeueLT Arabic 55 Roman" panose="020B0604020202020204" pitchFamily="34" charset="-78"/>
              </a:rPr>
              <a:t>• Box Positions</a:t>
            </a:r>
          </a:p>
          <a:p>
            <a:pPr lvl="0" eaLnBrk="0" fontAlgn="base" hangingPunct="0">
              <a:spcBef>
                <a:spcPct val="0"/>
              </a:spcBef>
              <a:spcAft>
                <a:spcPct val="0"/>
              </a:spcAft>
            </a:pPr>
            <a:r>
              <a:rPr lang="en-US" altLang="en-US" sz="2800" dirty="0">
                <a:solidFill>
                  <a:srgbClr val="2E1B5B"/>
                </a:solidFill>
                <a:latin typeface="HelveticaNeueLT Arabic 55 Roman" panose="020B0604020202020204" pitchFamily="34" charset="-78"/>
                <a:cs typeface="HelveticaNeueLT Arabic 55 Roman" panose="020B0604020202020204" pitchFamily="34" charset="-78"/>
              </a:rPr>
              <a:t>• Goal Positions</a:t>
            </a:r>
          </a:p>
          <a:p>
            <a:pPr lvl="0" eaLnBrk="0" fontAlgn="base" hangingPunct="0">
              <a:spcBef>
                <a:spcPct val="0"/>
              </a:spcBef>
              <a:spcAft>
                <a:spcPct val="0"/>
              </a:spcAft>
            </a:pPr>
            <a:r>
              <a:rPr lang="en-US" altLang="en-US" sz="2800" dirty="0">
                <a:solidFill>
                  <a:srgbClr val="2E1B5B"/>
                </a:solidFill>
                <a:latin typeface="HelveticaNeueLT Arabic 55 Roman" panose="020B0604020202020204" pitchFamily="34" charset="-78"/>
                <a:cs typeface="HelveticaNeueLT Arabic 55 Roman" panose="020B0604020202020204" pitchFamily="34" charset="-78"/>
              </a:rPr>
              <a:t>• Wall Positions</a:t>
            </a:r>
          </a:p>
          <a:p>
            <a:pPr lvl="0" eaLnBrk="0" fontAlgn="base" hangingPunct="0">
              <a:spcBef>
                <a:spcPct val="0"/>
              </a:spcBef>
              <a:spcAft>
                <a:spcPct val="0"/>
              </a:spcAft>
            </a:pPr>
            <a:r>
              <a:rPr lang="en-US" altLang="en-US" sz="2800" dirty="0">
                <a:solidFill>
                  <a:srgbClr val="2E1B5B"/>
                </a:solidFill>
                <a:latin typeface="HelveticaNeueLT Arabic 55 Roman" panose="020B0604020202020204" pitchFamily="34" charset="-78"/>
                <a:cs typeface="HelveticaNeueLT Arabic 55 Roman" panose="020B0604020202020204" pitchFamily="34" charset="-78"/>
              </a:rPr>
              <a:t>A state is considered successful when all boxes are placed on target locations.</a:t>
            </a:r>
          </a:p>
          <a:p>
            <a:pPr lvl="0" eaLnBrk="0" fontAlgn="base" hangingPunct="0">
              <a:spcBef>
                <a:spcPct val="0"/>
              </a:spcBef>
              <a:spcAft>
                <a:spcPct val="0"/>
              </a:spcAft>
            </a:pPr>
            <a:r>
              <a:rPr lang="en-US" altLang="en-US" sz="2800" dirty="0">
                <a:solidFill>
                  <a:srgbClr val="2E1B5B"/>
                </a:solidFill>
                <a:latin typeface="HelveticaNeueLT Arabic 55 Roman" panose="020B0604020202020204" pitchFamily="34" charset="-78"/>
                <a:cs typeface="HelveticaNeueLT Arabic 55 Roman" panose="020B0604020202020204" pitchFamily="34" charset="-78"/>
              </a:rPr>
              <a:t>Invalid actions such as moving into walls or pushing boxes into blocked cells are rejected.</a:t>
            </a:r>
            <a:endParaRPr kumimoji="0" lang="en-US" altLang="en-US" sz="2800" i="0" u="none" strike="noStrike" cap="none" normalizeH="0" baseline="0" dirty="0">
              <a:ln>
                <a:noFill/>
              </a:ln>
              <a:solidFill>
                <a:srgbClr val="2E1B5B"/>
              </a:solidFill>
              <a:effectLst/>
              <a:latin typeface="HelveticaNeueLT Arabic 55 Roman" panose="020B0604020202020204" pitchFamily="34" charset="-78"/>
              <a:cs typeface="HelveticaNeueLT Arabic 55 Roman" panose="020B0604020202020204" pitchFamily="34" charset="-78"/>
            </a:endParaRPr>
          </a:p>
        </p:txBody>
      </p:sp>
      <p:sp>
        <p:nvSpPr>
          <p:cNvPr id="2" name="Freeform 2"/>
          <p:cNvSpPr/>
          <p:nvPr/>
        </p:nvSpPr>
        <p:spPr>
          <a:xfrm>
            <a:off x="13412806" y="3256780"/>
            <a:ext cx="5707760" cy="6153919"/>
          </a:xfrm>
          <a:custGeom>
            <a:avLst/>
            <a:gdLst/>
            <a:ahLst/>
            <a:cxnLst/>
            <a:rect l="l" t="t" r="r" b="b"/>
            <a:pathLst>
              <a:path w="5707760" h="6153919">
                <a:moveTo>
                  <a:pt x="0" y="0"/>
                </a:moveTo>
                <a:lnTo>
                  <a:pt x="5707760" y="0"/>
                </a:lnTo>
                <a:lnTo>
                  <a:pt x="5707760" y="6153919"/>
                </a:lnTo>
                <a:lnTo>
                  <a:pt x="0" y="6153919"/>
                </a:lnTo>
                <a:lnTo>
                  <a:pt x="0" y="0"/>
                </a:lnTo>
                <a:close/>
              </a:path>
            </a:pathLst>
          </a:custGeom>
          <a:blipFill>
            <a:blip r:embed="rId8"/>
            <a:stretch>
              <a:fillRect/>
            </a:stretch>
          </a:blipFill>
        </p:spPr>
      </p:sp>
      <p:sp>
        <p:nvSpPr>
          <p:cNvPr id="6" name="Freeform 6"/>
          <p:cNvSpPr/>
          <p:nvPr/>
        </p:nvSpPr>
        <p:spPr>
          <a:xfrm>
            <a:off x="551154" y="6333740"/>
            <a:ext cx="1724806" cy="3162144"/>
          </a:xfrm>
          <a:custGeom>
            <a:avLst/>
            <a:gdLst/>
            <a:ahLst/>
            <a:cxnLst/>
            <a:rect l="l" t="t" r="r" b="b"/>
            <a:pathLst>
              <a:path w="1724806" h="3162144">
                <a:moveTo>
                  <a:pt x="0" y="0"/>
                </a:moveTo>
                <a:lnTo>
                  <a:pt x="1724807" y="0"/>
                </a:lnTo>
                <a:lnTo>
                  <a:pt x="1724807" y="3162145"/>
                </a:lnTo>
                <a:lnTo>
                  <a:pt x="0" y="3162145"/>
                </a:lnTo>
                <a:lnTo>
                  <a:pt x="0" y="0"/>
                </a:lnTo>
                <a:close/>
              </a:path>
            </a:pathLst>
          </a:custGeom>
          <a:blipFill>
            <a:blip>
              <a:extLst>
                <a:ext uri="{96DAC541-7B7A-43D3-8B79-37D633B846F1}">
                  <asvg:svgBlip xmlns:asvg="http://schemas.microsoft.com/office/drawing/2016/SVG/main" r:embed="rId9"/>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8"/>
                                        </p:tgtEl>
                                      </p:cBhvr>
                                    </p:animEffect>
                                    <p:animScale>
                                      <p:cBhvr>
                                        <p:cTn id="7" dur="25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81000" y="7411839"/>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973835" y="2005824"/>
            <a:ext cx="14340329" cy="5814647"/>
            <a:chOff x="0" y="0"/>
            <a:chExt cx="3776877" cy="1313286"/>
          </a:xfrm>
        </p:grpSpPr>
        <p:sp>
          <p:nvSpPr>
            <p:cNvPr id="6" name="Freeform 6"/>
            <p:cNvSpPr/>
            <p:nvPr/>
          </p:nvSpPr>
          <p:spPr>
            <a:xfrm>
              <a:off x="0" y="0"/>
              <a:ext cx="3776877" cy="1313286"/>
            </a:xfrm>
            <a:custGeom>
              <a:avLst/>
              <a:gdLst/>
              <a:ahLst/>
              <a:cxnLst/>
              <a:rect l="l" t="t" r="r" b="b"/>
              <a:pathLst>
                <a:path w="3776877" h="1313286">
                  <a:moveTo>
                    <a:pt x="0" y="0"/>
                  </a:moveTo>
                  <a:lnTo>
                    <a:pt x="3776877" y="0"/>
                  </a:lnTo>
                  <a:lnTo>
                    <a:pt x="3776877" y="1313286"/>
                  </a:lnTo>
                  <a:lnTo>
                    <a:pt x="0" y="1313286"/>
                  </a:lnTo>
                  <a:close/>
                </a:path>
              </a:pathLst>
            </a:custGeom>
            <a:solidFill>
              <a:srgbClr val="F0F9FF"/>
            </a:solidFill>
            <a:ln cap="sq">
              <a:noFill/>
              <a:prstDash val="solid"/>
              <a:miter/>
            </a:ln>
          </p:spPr>
        </p:sp>
        <p:sp>
          <p:nvSpPr>
            <p:cNvPr id="7" name="TextBox 7"/>
            <p:cNvSpPr txBox="1"/>
            <p:nvPr/>
          </p:nvSpPr>
          <p:spPr>
            <a:xfrm>
              <a:off x="0" y="-47625"/>
              <a:ext cx="3776877" cy="1360911"/>
            </a:xfrm>
            <a:prstGeom prst="rect">
              <a:avLst/>
            </a:prstGeom>
          </p:spPr>
          <p:txBody>
            <a:bodyPr lIns="50800" tIns="50800" rIns="50800" bIns="50800" rtlCol="0" anchor="ctr"/>
            <a:lstStyle/>
            <a:p>
              <a:pPr marL="0" lvl="0" indent="0" algn="ctr">
                <a:lnSpc>
                  <a:spcPts val="3214"/>
                </a:lnSpc>
                <a:spcBef>
                  <a:spcPct val="0"/>
                </a:spcBef>
              </a:pPr>
              <a:endParaRPr sz="2000">
                <a:latin typeface="HelveticaNeueLT Arabic 55 Roman" panose="020B0604020202020204" pitchFamily="34" charset="-78"/>
                <a:cs typeface="HelveticaNeueLT Arabic 55 Roman" panose="020B0604020202020204" pitchFamily="34" charset="-78"/>
              </a:endParaRPr>
            </a:p>
          </p:txBody>
        </p:sp>
      </p:grpSp>
      <p:sp>
        <p:nvSpPr>
          <p:cNvPr id="8" name="Freeform 8"/>
          <p:cNvSpPr/>
          <p:nvPr/>
        </p:nvSpPr>
        <p:spPr>
          <a:xfrm>
            <a:off x="14648123" y="7389792"/>
            <a:ext cx="2804555" cy="1300294"/>
          </a:xfrm>
          <a:custGeom>
            <a:avLst/>
            <a:gdLst/>
            <a:ahLst/>
            <a:cxnLst/>
            <a:rect l="l" t="t" r="r" b="b"/>
            <a:pathLst>
              <a:path w="2804555" h="1300294">
                <a:moveTo>
                  <a:pt x="0" y="0"/>
                </a:moveTo>
                <a:lnTo>
                  <a:pt x="2804556" y="0"/>
                </a:lnTo>
                <a:lnTo>
                  <a:pt x="2804556" y="1300294"/>
                </a:lnTo>
                <a:lnTo>
                  <a:pt x="0" y="130029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914400" y="5494654"/>
            <a:ext cx="1649689" cy="3217479"/>
          </a:xfrm>
          <a:custGeom>
            <a:avLst/>
            <a:gdLst/>
            <a:ahLst/>
            <a:cxnLst/>
            <a:rect l="l" t="t" r="r" b="b"/>
            <a:pathLst>
              <a:path w="1649689" h="3217479">
                <a:moveTo>
                  <a:pt x="0" y="0"/>
                </a:moveTo>
                <a:lnTo>
                  <a:pt x="1649689" y="0"/>
                </a:lnTo>
                <a:lnTo>
                  <a:pt x="1649689" y="3217479"/>
                </a:lnTo>
                <a:lnTo>
                  <a:pt x="0" y="321747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AutoShape 10"/>
          <p:cNvSpPr/>
          <p:nvPr/>
        </p:nvSpPr>
        <p:spPr>
          <a:xfrm>
            <a:off x="2664274" y="3543300"/>
            <a:ext cx="12792207"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2237599" y="450872"/>
            <a:ext cx="13812802" cy="1333698"/>
          </a:xfrm>
          <a:prstGeom prst="rect">
            <a:avLst/>
          </a:prstGeom>
        </p:spPr>
        <p:txBody>
          <a:bodyPr lIns="0" tIns="0" rIns="0" bIns="0" rtlCol="0" anchor="t">
            <a:spAutoFit/>
          </a:bodyPr>
          <a:lstStyle/>
          <a:p>
            <a:pPr marL="0" lvl="0" indent="0" algn="ctr" rtl="1">
              <a:lnSpc>
                <a:spcPts val="10381"/>
              </a:lnSpc>
              <a:spcBef>
                <a:spcPct val="0"/>
              </a:spcBef>
            </a:pPr>
            <a:r>
              <a:rPr lang="en-US" sz="8800" b="1" dirty="0">
                <a:solidFill>
                  <a:srgbClr val="2E1B5B"/>
                </a:solidFill>
                <a:effectLst>
                  <a:outerShdw blurRad="38100" dist="38100" dir="2700000" algn="tl">
                    <a:srgbClr val="000000">
                      <a:alpha val="43137"/>
                    </a:srgbClr>
                  </a:outerShdw>
                </a:effectLst>
                <a:latin typeface="HelveticaNeueLT Arabic 55 Roman" panose="020B0604020202020204" pitchFamily="34" charset="-78"/>
                <a:ea typeface="HK Modular"/>
                <a:cs typeface="HelveticaNeueLT Arabic 55 Roman" panose="020B0604020202020204" pitchFamily="34" charset="-78"/>
                <a:sym typeface="HK Modular"/>
              </a:rPr>
              <a:t>A* Algorithm</a:t>
            </a:r>
          </a:p>
        </p:txBody>
      </p:sp>
      <p:sp>
        <p:nvSpPr>
          <p:cNvPr id="12" name="TextBox 12"/>
          <p:cNvSpPr txBox="1"/>
          <p:nvPr/>
        </p:nvSpPr>
        <p:spPr>
          <a:xfrm>
            <a:off x="2690715" y="3599350"/>
            <a:ext cx="13006486" cy="3447098"/>
          </a:xfrm>
          <a:prstGeom prst="rect">
            <a:avLst/>
          </a:prstGeom>
        </p:spPr>
        <p:txBody>
          <a:bodyPr wrap="square" lIns="0" tIns="0" rIns="0" bIns="0" rtlCol="0" anchor="t">
            <a:spAutoFit/>
          </a:bodyPr>
          <a:lstStyle/>
          <a:p>
            <a:pPr algn="l"/>
            <a:r>
              <a:rPr lang="en-US" sz="3200" b="1" dirty="0">
                <a:solidFill>
                  <a:srgbClr val="2E1B5B"/>
                </a:solidFill>
                <a:latin typeface="HelveticaNeueLT Arabic 55 Roman" panose="020B0604020202020204" pitchFamily="34" charset="-78"/>
                <a:cs typeface="HelveticaNeueLT Arabic 55 Roman" panose="020B0604020202020204" pitchFamily="34" charset="-78"/>
              </a:rPr>
              <a:t>The A* search algorithm combines:</a:t>
            </a:r>
          </a:p>
          <a:p>
            <a:pPr marL="457200" indent="-457200" algn="l">
              <a:buFont typeface="Wingdings" panose="05000000000000000000" pitchFamily="2" charset="2"/>
              <a:buChar char="Ø"/>
            </a:pPr>
            <a:r>
              <a:rPr lang="en-US" sz="3200" b="1" dirty="0">
                <a:solidFill>
                  <a:srgbClr val="2E1B5B"/>
                </a:solidFill>
                <a:latin typeface="HelveticaNeueLT Arabic 55 Roman" panose="020B0604020202020204" pitchFamily="34" charset="-78"/>
                <a:cs typeface="HelveticaNeueLT Arabic 55 Roman" panose="020B0604020202020204" pitchFamily="34" charset="-78"/>
              </a:rPr>
              <a:t>g(n): </a:t>
            </a:r>
            <a:r>
              <a:rPr lang="en-US" sz="3200" dirty="0">
                <a:solidFill>
                  <a:srgbClr val="74A050"/>
                </a:solidFill>
                <a:latin typeface="HelveticaNeueLT Arabic 55 Roman" panose="020B0604020202020204" pitchFamily="34" charset="-78"/>
                <a:cs typeface="HelveticaNeueLT Arabic 55 Roman" panose="020B0604020202020204" pitchFamily="34" charset="-78"/>
              </a:rPr>
              <a:t>Cost of reaching the current state.</a:t>
            </a:r>
          </a:p>
          <a:p>
            <a:pPr marL="457200" indent="-457200" algn="l">
              <a:buFont typeface="Wingdings" panose="05000000000000000000" pitchFamily="2" charset="2"/>
              <a:buChar char="Ø"/>
            </a:pPr>
            <a:r>
              <a:rPr lang="en-US" sz="3200" b="1" dirty="0">
                <a:solidFill>
                  <a:srgbClr val="2E1B5B"/>
                </a:solidFill>
                <a:latin typeface="HelveticaNeueLT Arabic 55 Roman" panose="020B0604020202020204" pitchFamily="34" charset="-78"/>
                <a:cs typeface="HelveticaNeueLT Arabic 55 Roman" panose="020B0604020202020204" pitchFamily="34" charset="-78"/>
              </a:rPr>
              <a:t>h(n): </a:t>
            </a:r>
            <a:r>
              <a:rPr lang="en-US" sz="3200" dirty="0">
                <a:solidFill>
                  <a:srgbClr val="74A050"/>
                </a:solidFill>
                <a:latin typeface="HelveticaNeueLT Arabic 55 Roman" panose="020B0604020202020204" pitchFamily="34" charset="-78"/>
                <a:cs typeface="HelveticaNeueLT Arabic 55 Roman" panose="020B0604020202020204" pitchFamily="34" charset="-78"/>
              </a:rPr>
              <a:t>Estimated distance to the goal.</a:t>
            </a:r>
          </a:p>
          <a:p>
            <a:pPr algn="l"/>
            <a:r>
              <a:rPr lang="en-US" sz="3200" dirty="0">
                <a:solidFill>
                  <a:srgbClr val="2E1B5B"/>
                </a:solidFill>
                <a:latin typeface="HelveticaNeueLT Arabic 55 Roman" panose="020B0604020202020204" pitchFamily="34" charset="-78"/>
                <a:cs typeface="HelveticaNeueLT Arabic 55 Roman" panose="020B0604020202020204" pitchFamily="34" charset="-78"/>
              </a:rPr>
              <a:t>The heuristic function is based on Manhattan Distance between boxes and targets, with an additional weight for the player’s distance to the nearest box.</a:t>
            </a:r>
          </a:p>
          <a:p>
            <a:r>
              <a:rPr lang="en-US" sz="3200" b="1" dirty="0">
                <a:solidFill>
                  <a:srgbClr val="2E1B5B"/>
                </a:solidFill>
                <a:latin typeface="HelveticaNeueLT Arabic 55 Roman" panose="020B0604020202020204" pitchFamily="34" charset="-78"/>
                <a:cs typeface="HelveticaNeueLT Arabic 55 Roman" panose="020B0604020202020204" pitchFamily="34" charset="-78"/>
              </a:rPr>
              <a:t>Evaluation Function </a:t>
            </a:r>
            <a:r>
              <a:rPr lang="en-US" sz="3200" dirty="0">
                <a:solidFill>
                  <a:srgbClr val="2E1B5B"/>
                </a:solidFill>
                <a:latin typeface="HelveticaNeueLT Arabic 55 Roman" panose="020B0604020202020204" pitchFamily="34" charset="-78"/>
                <a:cs typeface="HelveticaNeueLT Arabic 55 Roman" panose="020B0604020202020204" pitchFamily="34" charset="-78"/>
              </a:rPr>
              <a:t>:</a:t>
            </a:r>
            <a:r>
              <a:rPr lang="en-US" sz="3200" b="1" dirty="0">
                <a:solidFill>
                  <a:srgbClr val="2E1B5B"/>
                </a:solidFill>
                <a:latin typeface="HelveticaNeueLT Arabic 55 Roman" panose="020B0604020202020204" pitchFamily="34" charset="-78"/>
                <a:cs typeface="HelveticaNeueLT Arabic 55 Roman" panose="020B0604020202020204" pitchFamily="34" charset="-78"/>
              </a:rPr>
              <a:t> </a:t>
            </a:r>
            <a:r>
              <a:rPr lang="en-US" sz="3200" dirty="0">
                <a:solidFill>
                  <a:srgbClr val="74A050"/>
                </a:solidFill>
                <a:latin typeface="HelveticaNeueLT Arabic 55 Roman" panose="020B0604020202020204" pitchFamily="34" charset="-78"/>
                <a:cs typeface="HelveticaNeueLT Arabic 55 Roman" panose="020B0604020202020204" pitchFamily="34" charset="-78"/>
              </a:rPr>
              <a:t>f(n) = g(n) + h(n)</a:t>
            </a:r>
            <a:endParaRPr lang="en-US" sz="3600" dirty="0">
              <a:solidFill>
                <a:srgbClr val="74A050"/>
              </a:solidFill>
              <a:latin typeface="HelveticaNeueLT Arabic 55 Roman" panose="020B0604020202020204" pitchFamily="34" charset="-78"/>
              <a:cs typeface="HelveticaNeueLT Arabic 55 Roman" panose="020B0604020202020204" pitchFamily="34" charset="-78"/>
            </a:endParaRPr>
          </a:p>
        </p:txBody>
      </p:sp>
      <p:sp>
        <p:nvSpPr>
          <p:cNvPr id="13" name="Freeform 13"/>
          <p:cNvSpPr/>
          <p:nvPr/>
        </p:nvSpPr>
        <p:spPr>
          <a:xfrm>
            <a:off x="8382000" y="2219999"/>
            <a:ext cx="1241368" cy="1096584"/>
          </a:xfrm>
          <a:custGeom>
            <a:avLst/>
            <a:gdLst/>
            <a:ahLst/>
            <a:cxnLst/>
            <a:rect l="l" t="t" r="r" b="b"/>
            <a:pathLst>
              <a:path w="2177936" h="1698790">
                <a:moveTo>
                  <a:pt x="0" y="0"/>
                </a:moveTo>
                <a:lnTo>
                  <a:pt x="2177936" y="0"/>
                </a:lnTo>
                <a:lnTo>
                  <a:pt x="2177936" y="1698791"/>
                </a:lnTo>
                <a:lnTo>
                  <a:pt x="0" y="1698791"/>
                </a:lnTo>
                <a:lnTo>
                  <a:pt x="0" y="0"/>
                </a:lnTo>
                <a:close/>
              </a:path>
            </a:pathLst>
          </a:custGeom>
          <a:blipFill>
            <a:blip>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1"/>
                                        </p:tgtEl>
                                      </p:cBhvr>
                                    </p:animEffect>
                                    <p:animScale>
                                      <p:cBhvr>
                                        <p:cTn id="7" dur="25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517401" y="7411839"/>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648123" y="7389792"/>
            <a:ext cx="2804555" cy="1300294"/>
          </a:xfrm>
          <a:custGeom>
            <a:avLst/>
            <a:gdLst/>
            <a:ahLst/>
            <a:cxnLst/>
            <a:rect l="l" t="t" r="r" b="b"/>
            <a:pathLst>
              <a:path w="2804555" h="1300294">
                <a:moveTo>
                  <a:pt x="0" y="0"/>
                </a:moveTo>
                <a:lnTo>
                  <a:pt x="2804556" y="0"/>
                </a:lnTo>
                <a:lnTo>
                  <a:pt x="2804556" y="1300294"/>
                </a:lnTo>
                <a:lnTo>
                  <a:pt x="0" y="130029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8345335" y="-9450543"/>
            <a:ext cx="15976849" cy="1597684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9FF"/>
            </a:solidFill>
            <a:ln cap="sq">
              <a:no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marL="0" lvl="0" indent="0" algn="ctr">
                <a:lnSpc>
                  <a:spcPts val="3214"/>
                </a:lnSpc>
                <a:spcBef>
                  <a:spcPct val="0"/>
                </a:spcBef>
              </a:pPr>
              <a:endParaRPr>
                <a:solidFill>
                  <a:srgbClr val="2E1B5B"/>
                </a:solidFill>
                <a:latin typeface="HelveticaNeueLT Arabic 55 Roman" panose="020B0604020202020204" pitchFamily="34" charset="-78"/>
                <a:cs typeface="HelveticaNeueLT Arabic 55 Roman" panose="020B0604020202020204" pitchFamily="34" charset="-78"/>
              </a:endParaRPr>
            </a:p>
          </p:txBody>
        </p:sp>
      </p:grpSp>
      <p:sp>
        <p:nvSpPr>
          <p:cNvPr id="15" name="TextBox 15"/>
          <p:cNvSpPr txBox="1"/>
          <p:nvPr/>
        </p:nvSpPr>
        <p:spPr>
          <a:xfrm>
            <a:off x="2609696" y="1635685"/>
            <a:ext cx="12981190" cy="889987"/>
          </a:xfrm>
          <a:prstGeom prst="rect">
            <a:avLst/>
          </a:prstGeom>
        </p:spPr>
        <p:txBody>
          <a:bodyPr wrap="square" lIns="0" tIns="0" rIns="0" bIns="0" rtlCol="0" anchor="t">
            <a:spAutoFit/>
          </a:bodyPr>
          <a:lstStyle/>
          <a:p>
            <a:pPr marL="0" lvl="0" indent="0" algn="ctr">
              <a:lnSpc>
                <a:spcPts val="6589"/>
              </a:lnSpc>
              <a:spcBef>
                <a:spcPct val="0"/>
              </a:spcBef>
            </a:pPr>
            <a:r>
              <a:rPr lang="en-US" sz="8000" b="1" dirty="0">
                <a:solidFill>
                  <a:srgbClr val="2E1B5B"/>
                </a:solidFill>
                <a:effectLst>
                  <a:outerShdw blurRad="38100" dist="38100" dir="2700000" algn="tl">
                    <a:srgbClr val="000000">
                      <a:alpha val="43137"/>
                    </a:srgbClr>
                  </a:outerShdw>
                </a:effectLst>
                <a:latin typeface="HelveticaNeueLT Arabic 55 Roman" panose="020B0604020202020204" pitchFamily="34" charset="-78"/>
                <a:ea typeface="HK Modular"/>
                <a:cs typeface="HelveticaNeueLT Arabic 55 Roman" panose="020B0604020202020204" pitchFamily="34" charset="-78"/>
                <a:sym typeface="HK Modular"/>
              </a:rPr>
              <a:t>Deadlock Detection &amp; GUI</a:t>
            </a:r>
          </a:p>
        </p:txBody>
      </p:sp>
      <p:sp>
        <p:nvSpPr>
          <p:cNvPr id="22" name="Freeform 22"/>
          <p:cNvSpPr/>
          <p:nvPr/>
        </p:nvSpPr>
        <p:spPr>
          <a:xfrm>
            <a:off x="953418" y="149548"/>
            <a:ext cx="4773054" cy="1162890"/>
          </a:xfrm>
          <a:custGeom>
            <a:avLst/>
            <a:gdLst/>
            <a:ahLst/>
            <a:cxnLst/>
            <a:rect l="l" t="t" r="r" b="b"/>
            <a:pathLst>
              <a:path w="4773054" h="1162890">
                <a:moveTo>
                  <a:pt x="0" y="0"/>
                </a:moveTo>
                <a:lnTo>
                  <a:pt x="4773054" y="0"/>
                </a:lnTo>
                <a:lnTo>
                  <a:pt x="4773054" y="1162889"/>
                </a:lnTo>
                <a:lnTo>
                  <a:pt x="0" y="116288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3" name="Freeform 23"/>
          <p:cNvSpPr/>
          <p:nvPr/>
        </p:nvSpPr>
        <p:spPr>
          <a:xfrm>
            <a:off x="14690098" y="3608452"/>
            <a:ext cx="6445059" cy="2917854"/>
          </a:xfrm>
          <a:custGeom>
            <a:avLst/>
            <a:gdLst/>
            <a:ahLst/>
            <a:cxnLst/>
            <a:rect l="l" t="t" r="r" b="b"/>
            <a:pathLst>
              <a:path w="6445059" h="2917854">
                <a:moveTo>
                  <a:pt x="0" y="0"/>
                </a:moveTo>
                <a:lnTo>
                  <a:pt x="6445059" y="0"/>
                </a:lnTo>
                <a:lnTo>
                  <a:pt x="6445059" y="2917853"/>
                </a:lnTo>
                <a:lnTo>
                  <a:pt x="0" y="291785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5" name="مربع نص 24">
            <a:extLst>
              <a:ext uri="{FF2B5EF4-FFF2-40B4-BE49-F238E27FC236}">
                <a16:creationId xmlns:a16="http://schemas.microsoft.com/office/drawing/2014/main" id="{47F2211F-9B35-4125-23A8-E031EA6887BE}"/>
              </a:ext>
            </a:extLst>
          </p:cNvPr>
          <p:cNvSpPr txBox="1"/>
          <p:nvPr/>
        </p:nvSpPr>
        <p:spPr>
          <a:xfrm>
            <a:off x="2303016" y="2695574"/>
            <a:ext cx="13652655" cy="5201424"/>
          </a:xfrm>
          <a:prstGeom prst="rect">
            <a:avLst/>
          </a:prstGeom>
          <a:noFill/>
        </p:spPr>
        <p:txBody>
          <a:bodyPr wrap="square">
            <a:spAutoFit/>
          </a:bodyPr>
          <a:lstStyle/>
          <a:p>
            <a:pPr algn="ctr">
              <a:buNone/>
            </a:pPr>
            <a:r>
              <a:rPr lang="en-US" sz="3600" b="1" dirty="0">
                <a:solidFill>
                  <a:srgbClr val="74A050"/>
                </a:solidFill>
                <a:latin typeface="HelveticaNeueLT Arabic 55 Roman" panose="020B0604020202020204" pitchFamily="34" charset="-78"/>
                <a:cs typeface="HelveticaNeueLT Arabic 55 Roman" panose="020B0604020202020204" pitchFamily="34" charset="-78"/>
              </a:rPr>
              <a:t>To improve performance, the solver detects deadlock situations such as:</a:t>
            </a:r>
          </a:p>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Boxes trapped in corners.</a:t>
            </a:r>
          </a:p>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Adjacent-box deadlocks.</a:t>
            </a:r>
          </a:p>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 Corridor deadlocks in complex levels.</a:t>
            </a:r>
          </a:p>
          <a:p>
            <a:pPr algn="ctr">
              <a:buNone/>
            </a:pPr>
            <a:r>
              <a:rPr lang="en-US" sz="3600" b="1" dirty="0">
                <a:solidFill>
                  <a:srgbClr val="74A050"/>
                </a:solidFill>
                <a:latin typeface="HelveticaNeueLT Arabic 55 Roman" panose="020B0604020202020204" pitchFamily="34" charset="-78"/>
                <a:cs typeface="HelveticaNeueLT Arabic 55 Roman" panose="020B0604020202020204" pitchFamily="34" charset="-78"/>
              </a:rPr>
              <a:t>The graphical interface includes:</a:t>
            </a:r>
          </a:p>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 Manual keyboard controls.</a:t>
            </a:r>
          </a:p>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 Automatic solving mode.</a:t>
            </a:r>
          </a:p>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 Adjustable solving speed.</a:t>
            </a:r>
          </a:p>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 Move counter and timer.</a:t>
            </a:r>
            <a:endParaRPr lang="ar-SY" sz="2400" dirty="0">
              <a:solidFill>
                <a:srgbClr val="2E1B5B"/>
              </a:solidFill>
              <a:latin typeface="HelveticaNeueLT Arabic 55 Roman" panose="020B0604020202020204" pitchFamily="34" charset="-78"/>
              <a:cs typeface="HelveticaNeueLT Arabic 55 Roman" panose="020B0604020202020204" pitchFamily="34" charset="-78"/>
            </a:endParaRPr>
          </a:p>
        </p:txBody>
      </p:sp>
      <p:sp>
        <p:nvSpPr>
          <p:cNvPr id="26" name="Freeform 12">
            <a:extLst>
              <a:ext uri="{FF2B5EF4-FFF2-40B4-BE49-F238E27FC236}">
                <a16:creationId xmlns:a16="http://schemas.microsoft.com/office/drawing/2014/main" id="{D52F7F1D-D551-DD89-DC47-85711FAD2FBE}"/>
              </a:ext>
            </a:extLst>
          </p:cNvPr>
          <p:cNvSpPr/>
          <p:nvPr/>
        </p:nvSpPr>
        <p:spPr>
          <a:xfrm>
            <a:off x="1685260" y="4689452"/>
            <a:ext cx="1740724" cy="4022681"/>
          </a:xfrm>
          <a:custGeom>
            <a:avLst/>
            <a:gdLst/>
            <a:ahLst/>
            <a:cxnLst/>
            <a:rect l="l" t="t" r="r" b="b"/>
            <a:pathLst>
              <a:path w="1740724" h="4022681">
                <a:moveTo>
                  <a:pt x="0" y="0"/>
                </a:moveTo>
                <a:lnTo>
                  <a:pt x="1740724" y="0"/>
                </a:lnTo>
                <a:lnTo>
                  <a:pt x="1740724" y="4022681"/>
                </a:lnTo>
                <a:lnTo>
                  <a:pt x="0" y="4022681"/>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7" name="Freeform 4">
            <a:extLst>
              <a:ext uri="{FF2B5EF4-FFF2-40B4-BE49-F238E27FC236}">
                <a16:creationId xmlns:a16="http://schemas.microsoft.com/office/drawing/2014/main" id="{E1CDD819-C60C-E9C2-8331-4CEE26289C8C}"/>
              </a:ext>
            </a:extLst>
          </p:cNvPr>
          <p:cNvSpPr/>
          <p:nvPr/>
        </p:nvSpPr>
        <p:spPr>
          <a:xfrm>
            <a:off x="3813628" y="7444020"/>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5471885" y="6391386"/>
            <a:ext cx="13396040" cy="3263762"/>
          </a:xfrm>
          <a:custGeom>
            <a:avLst/>
            <a:gdLst/>
            <a:ahLst/>
            <a:cxnLst/>
            <a:rect l="l" t="t" r="r" b="b"/>
            <a:pathLst>
              <a:path w="13396040" h="3263762">
                <a:moveTo>
                  <a:pt x="0" y="0"/>
                </a:moveTo>
                <a:lnTo>
                  <a:pt x="13396040" y="0"/>
                </a:lnTo>
                <a:lnTo>
                  <a:pt x="13396040" y="3263762"/>
                </a:lnTo>
                <a:lnTo>
                  <a:pt x="0" y="32637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1747134" y="1652308"/>
            <a:ext cx="4773054" cy="1162890"/>
          </a:xfrm>
          <a:custGeom>
            <a:avLst/>
            <a:gdLst/>
            <a:ahLst/>
            <a:cxnLst/>
            <a:rect l="l" t="t" r="r" b="b"/>
            <a:pathLst>
              <a:path w="4773054" h="1162890">
                <a:moveTo>
                  <a:pt x="0" y="0"/>
                </a:moveTo>
                <a:lnTo>
                  <a:pt x="4773054" y="0"/>
                </a:lnTo>
                <a:lnTo>
                  <a:pt x="4773054" y="1162889"/>
                </a:lnTo>
                <a:lnTo>
                  <a:pt x="0" y="116288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567050" y="593363"/>
            <a:ext cx="4166503" cy="1015112"/>
          </a:xfrm>
          <a:custGeom>
            <a:avLst/>
            <a:gdLst/>
            <a:ahLst/>
            <a:cxnLst/>
            <a:rect l="l" t="t" r="r" b="b"/>
            <a:pathLst>
              <a:path w="4166503" h="1015112">
                <a:moveTo>
                  <a:pt x="0" y="0"/>
                </a:moveTo>
                <a:lnTo>
                  <a:pt x="4166503" y="0"/>
                </a:lnTo>
                <a:lnTo>
                  <a:pt x="4166503" y="1015111"/>
                </a:lnTo>
                <a:lnTo>
                  <a:pt x="0" y="101511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1142866" y="5601590"/>
            <a:ext cx="12232868" cy="5538153"/>
          </a:xfrm>
          <a:custGeom>
            <a:avLst/>
            <a:gdLst/>
            <a:ahLst/>
            <a:cxnLst/>
            <a:rect l="l" t="t" r="r" b="b"/>
            <a:pathLst>
              <a:path w="12232868" h="5538153">
                <a:moveTo>
                  <a:pt x="0" y="0"/>
                </a:moveTo>
                <a:lnTo>
                  <a:pt x="12232868" y="0"/>
                </a:lnTo>
                <a:lnTo>
                  <a:pt x="12232868" y="5538153"/>
                </a:lnTo>
                <a:lnTo>
                  <a:pt x="0" y="55381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6765848" y="5068969"/>
            <a:ext cx="4756305" cy="1065242"/>
          </a:xfrm>
          <a:custGeom>
            <a:avLst/>
            <a:gdLst/>
            <a:ahLst/>
            <a:cxnLst/>
            <a:rect l="l" t="t" r="r" b="b"/>
            <a:pathLst>
              <a:path w="4756305" h="1065242">
                <a:moveTo>
                  <a:pt x="0" y="0"/>
                </a:moveTo>
                <a:lnTo>
                  <a:pt x="4756304" y="0"/>
                </a:lnTo>
                <a:lnTo>
                  <a:pt x="4756304" y="1065242"/>
                </a:lnTo>
                <a:lnTo>
                  <a:pt x="0" y="106524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a:grpSpLocks noChangeAspect="1"/>
          </p:cNvGrpSpPr>
          <p:nvPr/>
        </p:nvGrpSpPr>
        <p:grpSpPr>
          <a:xfrm rot="-1629761">
            <a:off x="10307329" y="5883650"/>
            <a:ext cx="984652" cy="1246254"/>
            <a:chOff x="0" y="0"/>
            <a:chExt cx="1457960" cy="1845310"/>
          </a:xfrm>
        </p:grpSpPr>
        <p:sp>
          <p:nvSpPr>
            <p:cNvPr id="8" name="Freeform 8"/>
            <p:cNvSpPr/>
            <p:nvPr/>
          </p:nvSpPr>
          <p:spPr>
            <a:xfrm>
              <a:off x="44508" y="44761"/>
              <a:ext cx="1369984" cy="1756099"/>
            </a:xfrm>
            <a:custGeom>
              <a:avLst/>
              <a:gdLst/>
              <a:ahLst/>
              <a:cxnLst/>
              <a:rect l="l" t="t" r="r" b="b"/>
              <a:pathLst>
                <a:path w="1369984" h="1756099">
                  <a:moveTo>
                    <a:pt x="899102" y="515309"/>
                  </a:moveTo>
                  <a:cubicBezTo>
                    <a:pt x="899102" y="392119"/>
                    <a:pt x="641292" y="425139"/>
                    <a:pt x="641292" y="425139"/>
                  </a:cubicBezTo>
                  <a:lnTo>
                    <a:pt x="641292" y="148279"/>
                  </a:lnTo>
                  <a:cubicBezTo>
                    <a:pt x="641292" y="-49841"/>
                    <a:pt x="377132" y="-46031"/>
                    <a:pt x="377132" y="139389"/>
                  </a:cubicBezTo>
                  <a:lnTo>
                    <a:pt x="377132" y="931869"/>
                  </a:lnTo>
                  <a:lnTo>
                    <a:pt x="213302" y="768039"/>
                  </a:lnTo>
                  <a:cubicBezTo>
                    <a:pt x="162502" y="717239"/>
                    <a:pt x="49472" y="698189"/>
                    <a:pt x="11372" y="768039"/>
                  </a:cubicBezTo>
                  <a:cubicBezTo>
                    <a:pt x="-26728" y="837889"/>
                    <a:pt x="43122" y="931869"/>
                    <a:pt x="43122" y="931869"/>
                  </a:cubicBezTo>
                  <a:cubicBezTo>
                    <a:pt x="43122" y="931869"/>
                    <a:pt x="433012" y="1453839"/>
                    <a:pt x="483812" y="1756099"/>
                  </a:cubicBezTo>
                  <a:lnTo>
                    <a:pt x="1167072" y="1756099"/>
                  </a:lnTo>
                  <a:cubicBezTo>
                    <a:pt x="1167072" y="1743399"/>
                    <a:pt x="1349952" y="1192219"/>
                    <a:pt x="1362652" y="1126179"/>
                  </a:cubicBezTo>
                  <a:cubicBezTo>
                    <a:pt x="1375352" y="1060139"/>
                    <a:pt x="1369002" y="940759"/>
                    <a:pt x="1362652" y="785819"/>
                  </a:cubicBezTo>
                  <a:cubicBezTo>
                    <a:pt x="1356302" y="632149"/>
                    <a:pt x="1211522" y="590239"/>
                    <a:pt x="1146752" y="590239"/>
                  </a:cubicBezTo>
                  <a:lnTo>
                    <a:pt x="1144212" y="594049"/>
                  </a:lnTo>
                  <a:cubicBezTo>
                    <a:pt x="1122622" y="506419"/>
                    <a:pt x="952442" y="515309"/>
                    <a:pt x="899102" y="515309"/>
                  </a:cubicBezTo>
                  <a:close/>
                </a:path>
              </a:pathLst>
            </a:custGeom>
            <a:solidFill>
              <a:srgbClr val="E9EEF1"/>
            </a:solidFill>
          </p:spPr>
        </p:sp>
        <p:sp>
          <p:nvSpPr>
            <p:cNvPr id="9" name="Freeform 9"/>
            <p:cNvSpPr/>
            <p:nvPr/>
          </p:nvSpPr>
          <p:spPr>
            <a:xfrm>
              <a:off x="-95" y="2540"/>
              <a:ext cx="1457586" cy="1844040"/>
            </a:xfrm>
            <a:custGeom>
              <a:avLst/>
              <a:gdLst/>
              <a:ahLst/>
              <a:cxnLst/>
              <a:rect l="l" t="t" r="r" b="b"/>
              <a:pathLst>
                <a:path w="1457586" h="1844040">
                  <a:moveTo>
                    <a:pt x="1451705" y="863600"/>
                  </a:moveTo>
                  <a:lnTo>
                    <a:pt x="1450435" y="828040"/>
                  </a:lnTo>
                  <a:cubicBezTo>
                    <a:pt x="1444085" y="669290"/>
                    <a:pt x="1312005" y="601980"/>
                    <a:pt x="1215485" y="591820"/>
                  </a:cubicBezTo>
                  <a:cubicBezTo>
                    <a:pt x="1210405" y="585470"/>
                    <a:pt x="1205325" y="577850"/>
                    <a:pt x="1198975" y="572770"/>
                  </a:cubicBezTo>
                  <a:cubicBezTo>
                    <a:pt x="1145635" y="519430"/>
                    <a:pt x="1045305" y="514350"/>
                    <a:pt x="977995" y="514350"/>
                  </a:cubicBezTo>
                  <a:cubicBezTo>
                    <a:pt x="971645" y="497840"/>
                    <a:pt x="961485" y="483870"/>
                    <a:pt x="947515" y="471170"/>
                  </a:cubicBezTo>
                  <a:cubicBezTo>
                    <a:pt x="892905" y="422910"/>
                    <a:pt x="791305" y="419100"/>
                    <a:pt x="729075" y="421640"/>
                  </a:cubicBezTo>
                  <a:lnTo>
                    <a:pt x="729075" y="193040"/>
                  </a:lnTo>
                  <a:cubicBezTo>
                    <a:pt x="729075" y="119380"/>
                    <a:pt x="698595" y="73660"/>
                    <a:pt x="674465" y="49530"/>
                  </a:cubicBezTo>
                  <a:cubicBezTo>
                    <a:pt x="641445" y="17780"/>
                    <a:pt x="598265" y="0"/>
                    <a:pt x="551275" y="0"/>
                  </a:cubicBezTo>
                  <a:cubicBezTo>
                    <a:pt x="463645" y="0"/>
                    <a:pt x="376015" y="63500"/>
                    <a:pt x="376015" y="184150"/>
                  </a:cubicBezTo>
                  <a:lnTo>
                    <a:pt x="376015" y="868680"/>
                  </a:lnTo>
                  <a:lnTo>
                    <a:pt x="288385" y="781050"/>
                  </a:lnTo>
                  <a:cubicBezTo>
                    <a:pt x="246475" y="739140"/>
                    <a:pt x="176625" y="716280"/>
                    <a:pt x="116935" y="725170"/>
                  </a:cubicBezTo>
                  <a:cubicBezTo>
                    <a:pt x="72485" y="731520"/>
                    <a:pt x="36925" y="755650"/>
                    <a:pt x="16605" y="791210"/>
                  </a:cubicBezTo>
                  <a:cubicBezTo>
                    <a:pt x="-32925" y="880110"/>
                    <a:pt x="43275" y="988060"/>
                    <a:pt x="52165" y="1000760"/>
                  </a:cubicBezTo>
                  <a:cubicBezTo>
                    <a:pt x="55975" y="1005840"/>
                    <a:pt x="436975" y="1517650"/>
                    <a:pt x="483965" y="1805940"/>
                  </a:cubicBezTo>
                  <a:lnTo>
                    <a:pt x="483965" y="1807210"/>
                  </a:lnTo>
                  <a:cubicBezTo>
                    <a:pt x="483965" y="1808480"/>
                    <a:pt x="483965" y="1809750"/>
                    <a:pt x="485235" y="1811020"/>
                  </a:cubicBezTo>
                  <a:cubicBezTo>
                    <a:pt x="485235" y="1812290"/>
                    <a:pt x="486505" y="1813560"/>
                    <a:pt x="486505" y="1816100"/>
                  </a:cubicBezTo>
                  <a:cubicBezTo>
                    <a:pt x="486505" y="1817370"/>
                    <a:pt x="487775" y="1818640"/>
                    <a:pt x="487775" y="1818640"/>
                  </a:cubicBezTo>
                  <a:cubicBezTo>
                    <a:pt x="489045" y="1819910"/>
                    <a:pt x="489045" y="1821180"/>
                    <a:pt x="490315" y="1822450"/>
                  </a:cubicBezTo>
                  <a:cubicBezTo>
                    <a:pt x="490315" y="1823720"/>
                    <a:pt x="491585" y="1823720"/>
                    <a:pt x="492855" y="1824990"/>
                  </a:cubicBezTo>
                  <a:cubicBezTo>
                    <a:pt x="494125" y="1826260"/>
                    <a:pt x="495395" y="1827530"/>
                    <a:pt x="495395" y="1828800"/>
                  </a:cubicBezTo>
                  <a:lnTo>
                    <a:pt x="497935" y="1831340"/>
                  </a:lnTo>
                  <a:cubicBezTo>
                    <a:pt x="499205" y="1832610"/>
                    <a:pt x="500475" y="1833880"/>
                    <a:pt x="501745" y="1833880"/>
                  </a:cubicBezTo>
                  <a:lnTo>
                    <a:pt x="504285" y="1836420"/>
                  </a:lnTo>
                  <a:cubicBezTo>
                    <a:pt x="505555" y="1837690"/>
                    <a:pt x="506825" y="1837690"/>
                    <a:pt x="508095" y="1838960"/>
                  </a:cubicBezTo>
                  <a:cubicBezTo>
                    <a:pt x="509365" y="1838960"/>
                    <a:pt x="510635" y="1840230"/>
                    <a:pt x="510635" y="1840230"/>
                  </a:cubicBezTo>
                  <a:cubicBezTo>
                    <a:pt x="511905" y="1841500"/>
                    <a:pt x="514445" y="1841500"/>
                    <a:pt x="515715" y="1841500"/>
                  </a:cubicBezTo>
                  <a:cubicBezTo>
                    <a:pt x="516985" y="1841500"/>
                    <a:pt x="516985" y="1841500"/>
                    <a:pt x="518255" y="1842770"/>
                  </a:cubicBezTo>
                  <a:cubicBezTo>
                    <a:pt x="520795" y="1842770"/>
                    <a:pt x="523335" y="1844040"/>
                    <a:pt x="527145" y="1844040"/>
                  </a:cubicBezTo>
                  <a:lnTo>
                    <a:pt x="1210405" y="1844040"/>
                  </a:lnTo>
                  <a:cubicBezTo>
                    <a:pt x="1231995" y="1844040"/>
                    <a:pt x="1251045" y="1827530"/>
                    <a:pt x="1254855" y="1807210"/>
                  </a:cubicBezTo>
                  <a:cubicBezTo>
                    <a:pt x="1258665" y="1790700"/>
                    <a:pt x="1290415" y="1694180"/>
                    <a:pt x="1319625" y="1600200"/>
                  </a:cubicBezTo>
                  <a:cubicBezTo>
                    <a:pt x="1388205" y="1385570"/>
                    <a:pt x="1441545" y="1217930"/>
                    <a:pt x="1449165" y="1178560"/>
                  </a:cubicBezTo>
                  <a:cubicBezTo>
                    <a:pt x="1461865" y="1111250"/>
                    <a:pt x="1458055" y="1007110"/>
                    <a:pt x="1451705" y="863600"/>
                  </a:cubicBezTo>
                  <a:close/>
                  <a:moveTo>
                    <a:pt x="1362805" y="1160780"/>
                  </a:moveTo>
                  <a:cubicBezTo>
                    <a:pt x="1356455" y="1197610"/>
                    <a:pt x="1284065" y="1422400"/>
                    <a:pt x="1235805" y="1572260"/>
                  </a:cubicBezTo>
                  <a:cubicBezTo>
                    <a:pt x="1204055" y="1671320"/>
                    <a:pt x="1187545" y="1724660"/>
                    <a:pt x="1177385" y="1755140"/>
                  </a:cubicBezTo>
                  <a:lnTo>
                    <a:pt x="563975" y="1755140"/>
                  </a:lnTo>
                  <a:cubicBezTo>
                    <a:pt x="490315" y="1443990"/>
                    <a:pt x="138525" y="969010"/>
                    <a:pt x="123285" y="948690"/>
                  </a:cubicBezTo>
                  <a:cubicBezTo>
                    <a:pt x="111855" y="933450"/>
                    <a:pt x="75025" y="869950"/>
                    <a:pt x="95345" y="833120"/>
                  </a:cubicBezTo>
                  <a:cubicBezTo>
                    <a:pt x="97885" y="829310"/>
                    <a:pt x="105505" y="815340"/>
                    <a:pt x="130905" y="811530"/>
                  </a:cubicBezTo>
                  <a:cubicBezTo>
                    <a:pt x="162655" y="806450"/>
                    <a:pt x="204565" y="820420"/>
                    <a:pt x="227425" y="843280"/>
                  </a:cubicBezTo>
                  <a:lnTo>
                    <a:pt x="337915" y="953770"/>
                  </a:lnTo>
                  <a:cubicBezTo>
                    <a:pt x="353155" y="969010"/>
                    <a:pt x="367125" y="982980"/>
                    <a:pt x="377285" y="994410"/>
                  </a:cubicBezTo>
                  <a:lnTo>
                    <a:pt x="377285" y="1050290"/>
                  </a:lnTo>
                  <a:cubicBezTo>
                    <a:pt x="377285" y="1074420"/>
                    <a:pt x="397605" y="1094740"/>
                    <a:pt x="421735" y="1094740"/>
                  </a:cubicBezTo>
                  <a:cubicBezTo>
                    <a:pt x="445865" y="1094740"/>
                    <a:pt x="466185" y="1074420"/>
                    <a:pt x="466185" y="1050290"/>
                  </a:cubicBezTo>
                  <a:lnTo>
                    <a:pt x="466185" y="181610"/>
                  </a:lnTo>
                  <a:cubicBezTo>
                    <a:pt x="466185" y="115570"/>
                    <a:pt x="509365" y="86360"/>
                    <a:pt x="552545" y="86360"/>
                  </a:cubicBezTo>
                  <a:cubicBezTo>
                    <a:pt x="593185" y="86360"/>
                    <a:pt x="641445" y="113030"/>
                    <a:pt x="641445" y="190500"/>
                  </a:cubicBezTo>
                  <a:lnTo>
                    <a:pt x="641445" y="791210"/>
                  </a:lnTo>
                  <a:cubicBezTo>
                    <a:pt x="641445" y="815340"/>
                    <a:pt x="661765" y="835660"/>
                    <a:pt x="685895" y="835660"/>
                  </a:cubicBezTo>
                  <a:cubicBezTo>
                    <a:pt x="710025" y="835660"/>
                    <a:pt x="730345" y="815340"/>
                    <a:pt x="730345" y="791210"/>
                  </a:cubicBezTo>
                  <a:lnTo>
                    <a:pt x="730345" y="508000"/>
                  </a:lnTo>
                  <a:cubicBezTo>
                    <a:pt x="790035" y="505460"/>
                    <a:pt x="862425" y="511810"/>
                    <a:pt x="890365" y="535940"/>
                  </a:cubicBezTo>
                  <a:cubicBezTo>
                    <a:pt x="896715" y="542290"/>
                    <a:pt x="899255" y="548640"/>
                    <a:pt x="899255" y="557530"/>
                  </a:cubicBezTo>
                  <a:lnTo>
                    <a:pt x="899255" y="802640"/>
                  </a:lnTo>
                  <a:cubicBezTo>
                    <a:pt x="899255" y="826770"/>
                    <a:pt x="919575" y="847090"/>
                    <a:pt x="943705" y="847090"/>
                  </a:cubicBezTo>
                  <a:cubicBezTo>
                    <a:pt x="967835" y="847090"/>
                    <a:pt x="988155" y="826770"/>
                    <a:pt x="988155" y="802640"/>
                  </a:cubicBezTo>
                  <a:lnTo>
                    <a:pt x="988155" y="601980"/>
                  </a:lnTo>
                  <a:cubicBezTo>
                    <a:pt x="1036415" y="601980"/>
                    <a:pt x="1110075" y="607060"/>
                    <a:pt x="1138015" y="633730"/>
                  </a:cubicBezTo>
                  <a:cubicBezTo>
                    <a:pt x="1144365" y="640080"/>
                    <a:pt x="1146905" y="646430"/>
                    <a:pt x="1146905" y="655320"/>
                  </a:cubicBezTo>
                  <a:lnTo>
                    <a:pt x="1146905" y="894080"/>
                  </a:lnTo>
                  <a:cubicBezTo>
                    <a:pt x="1146905" y="918210"/>
                    <a:pt x="1167225" y="938530"/>
                    <a:pt x="1191355" y="938530"/>
                  </a:cubicBezTo>
                  <a:cubicBezTo>
                    <a:pt x="1215485" y="938530"/>
                    <a:pt x="1235805" y="918210"/>
                    <a:pt x="1235805" y="894080"/>
                  </a:cubicBezTo>
                  <a:lnTo>
                    <a:pt x="1235805" y="684530"/>
                  </a:lnTo>
                  <a:cubicBezTo>
                    <a:pt x="1285335" y="697230"/>
                    <a:pt x="1358995" y="731520"/>
                    <a:pt x="1362805" y="830580"/>
                  </a:cubicBezTo>
                  <a:lnTo>
                    <a:pt x="1364075" y="866140"/>
                  </a:lnTo>
                  <a:cubicBezTo>
                    <a:pt x="1369155" y="999490"/>
                    <a:pt x="1372965" y="1104900"/>
                    <a:pt x="1362805" y="1160780"/>
                  </a:cubicBezTo>
                  <a:close/>
                </a:path>
              </a:pathLst>
            </a:custGeom>
            <a:solidFill>
              <a:srgbClr val="005B52"/>
            </a:solidFill>
          </p:spPr>
        </p:sp>
      </p:grpSp>
      <p:sp>
        <p:nvSpPr>
          <p:cNvPr id="10" name="TextBox 10"/>
          <p:cNvSpPr txBox="1"/>
          <p:nvPr/>
        </p:nvSpPr>
        <p:spPr>
          <a:xfrm>
            <a:off x="7341412" y="4909568"/>
            <a:ext cx="3686262" cy="1336750"/>
          </a:xfrm>
          <a:prstGeom prst="rect">
            <a:avLst/>
          </a:prstGeom>
        </p:spPr>
        <p:txBody>
          <a:bodyPr lIns="0" tIns="0" rIns="0" bIns="0" rtlCol="0" anchor="t">
            <a:spAutoFit/>
          </a:bodyPr>
          <a:lstStyle/>
          <a:p>
            <a:pPr algn="ctr">
              <a:lnSpc>
                <a:spcPts val="9795"/>
              </a:lnSpc>
            </a:pPr>
            <a:r>
              <a:rPr lang="en-US" sz="6997" dirty="0">
                <a:solidFill>
                  <a:srgbClr val="F2FCFC"/>
                </a:solidFill>
                <a:latin typeface="SuperDario"/>
                <a:ea typeface="SuperDario"/>
                <a:cs typeface="SuperDario"/>
                <a:sym typeface="SuperDario"/>
              </a:rPr>
              <a:t>EASY LEVEL</a:t>
            </a:r>
          </a:p>
        </p:txBody>
      </p:sp>
      <p:sp>
        <p:nvSpPr>
          <p:cNvPr id="11" name="TextBox 11"/>
          <p:cNvSpPr txBox="1"/>
          <p:nvPr/>
        </p:nvSpPr>
        <p:spPr>
          <a:xfrm>
            <a:off x="2245740" y="3013328"/>
            <a:ext cx="13796520" cy="1795181"/>
          </a:xfrm>
          <a:prstGeom prst="rect">
            <a:avLst/>
          </a:prstGeom>
        </p:spPr>
        <p:txBody>
          <a:bodyPr lIns="0" tIns="0" rIns="0" bIns="0" rtlCol="0" anchor="t">
            <a:spAutoFit/>
          </a:bodyPr>
          <a:lstStyle/>
          <a:p>
            <a:pPr marL="0" lvl="0" indent="0" algn="ctr">
              <a:lnSpc>
                <a:spcPts val="14652"/>
              </a:lnSpc>
              <a:spcBef>
                <a:spcPct val="0"/>
              </a:spcBef>
            </a:pPr>
            <a:r>
              <a:rPr lang="en-US" sz="10465">
                <a:solidFill>
                  <a:srgbClr val="2E1B5B"/>
                </a:solidFill>
                <a:latin typeface="HK Modular"/>
                <a:ea typeface="HK Modular"/>
                <a:cs typeface="HK Modular"/>
                <a:sym typeface="HK Modular"/>
              </a:rPr>
              <a:t>LET'S PLAY</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0"/>
                                        </p:tgtEl>
                                      </p:cBhvr>
                                    </p:animEffect>
                                    <p:animScale>
                                      <p:cBhvr>
                                        <p:cTn id="10" dur="250" autoRev="1" fill="hold"/>
                                        <p:tgtEl>
                                          <p:spTgt spid="10"/>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7"/>
                                        </p:tgtEl>
                                      </p:cBhvr>
                                    </p:animEffect>
                                    <p:animScale>
                                      <p:cBhvr>
                                        <p:cTn id="13"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1710170" y="5482826"/>
            <a:ext cx="2437517" cy="3207260"/>
          </a:xfrm>
          <a:custGeom>
            <a:avLst/>
            <a:gdLst/>
            <a:ahLst/>
            <a:cxnLst/>
            <a:rect l="l" t="t" r="r" b="b"/>
            <a:pathLst>
              <a:path w="2437517" h="3207260">
                <a:moveTo>
                  <a:pt x="0" y="0"/>
                </a:moveTo>
                <a:lnTo>
                  <a:pt x="2437517" y="0"/>
                </a:lnTo>
                <a:lnTo>
                  <a:pt x="2437517" y="3207260"/>
                </a:lnTo>
                <a:lnTo>
                  <a:pt x="0" y="320726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14643021" y="6991296"/>
            <a:ext cx="2177936" cy="1698790"/>
          </a:xfrm>
          <a:custGeom>
            <a:avLst/>
            <a:gdLst/>
            <a:ahLst/>
            <a:cxnLst/>
            <a:rect l="l" t="t" r="r" b="b"/>
            <a:pathLst>
              <a:path w="2177936" h="1698790">
                <a:moveTo>
                  <a:pt x="0" y="0"/>
                </a:moveTo>
                <a:lnTo>
                  <a:pt x="2177936" y="0"/>
                </a:lnTo>
                <a:lnTo>
                  <a:pt x="2177936" y="1698790"/>
                </a:lnTo>
                <a:lnTo>
                  <a:pt x="0" y="169879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4" name="Freeform 24"/>
          <p:cNvSpPr/>
          <p:nvPr/>
        </p:nvSpPr>
        <p:spPr>
          <a:xfrm>
            <a:off x="15590886" y="2477303"/>
            <a:ext cx="3796770" cy="1718901"/>
          </a:xfrm>
          <a:custGeom>
            <a:avLst/>
            <a:gdLst/>
            <a:ahLst/>
            <a:cxnLst/>
            <a:rect l="l" t="t" r="r" b="b"/>
            <a:pathLst>
              <a:path w="3796770" h="1718901">
                <a:moveTo>
                  <a:pt x="0" y="0"/>
                </a:moveTo>
                <a:lnTo>
                  <a:pt x="3796770" y="0"/>
                </a:lnTo>
                <a:lnTo>
                  <a:pt x="3796770" y="1718901"/>
                </a:lnTo>
                <a:lnTo>
                  <a:pt x="0" y="171890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5" name="Freeform 25"/>
          <p:cNvSpPr/>
          <p:nvPr/>
        </p:nvSpPr>
        <p:spPr>
          <a:xfrm>
            <a:off x="-596948" y="894721"/>
            <a:ext cx="3796770" cy="1718901"/>
          </a:xfrm>
          <a:custGeom>
            <a:avLst/>
            <a:gdLst/>
            <a:ahLst/>
            <a:cxnLst/>
            <a:rect l="l" t="t" r="r" b="b"/>
            <a:pathLst>
              <a:path w="3796770" h="1718901">
                <a:moveTo>
                  <a:pt x="0" y="0"/>
                </a:moveTo>
                <a:lnTo>
                  <a:pt x="3796770" y="0"/>
                </a:lnTo>
                <a:lnTo>
                  <a:pt x="3796770" y="1718901"/>
                </a:lnTo>
                <a:lnTo>
                  <a:pt x="0" y="171890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6" name="Freeform 26"/>
          <p:cNvSpPr/>
          <p:nvPr/>
        </p:nvSpPr>
        <p:spPr>
          <a:xfrm>
            <a:off x="13271261" y="192230"/>
            <a:ext cx="3433272" cy="836470"/>
          </a:xfrm>
          <a:custGeom>
            <a:avLst/>
            <a:gdLst/>
            <a:ahLst/>
            <a:cxnLst/>
            <a:rect l="l" t="t" r="r" b="b"/>
            <a:pathLst>
              <a:path w="3433272" h="836470">
                <a:moveTo>
                  <a:pt x="0" y="0"/>
                </a:moveTo>
                <a:lnTo>
                  <a:pt x="3433272" y="0"/>
                </a:lnTo>
                <a:lnTo>
                  <a:pt x="3433272" y="836470"/>
                </a:lnTo>
                <a:lnTo>
                  <a:pt x="0" y="836470"/>
                </a:lnTo>
                <a:lnTo>
                  <a:pt x="0" y="0"/>
                </a:lnTo>
                <a:close/>
              </a:path>
            </a:pathLst>
          </a:custGeom>
          <a:blipFill>
            <a:blip>
              <a:extLst>
                <a:ext uri="{96DAC541-7B7A-43D3-8B79-37D633B846F1}">
                  <asvg:svgBlip xmlns:asvg="http://schemas.microsoft.com/office/drawing/2016/SVG/main" r:embed="rId6"/>
                </a:ext>
              </a:extLst>
            </a:blip>
            <a:stretch>
              <a:fillRect/>
            </a:stretch>
          </a:blipFill>
        </p:spPr>
      </p:sp>
      <p:pic>
        <p:nvPicPr>
          <p:cNvPr id="27" name="صورة 26">
            <a:extLst>
              <a:ext uri="{FF2B5EF4-FFF2-40B4-BE49-F238E27FC236}">
                <a16:creationId xmlns:a16="http://schemas.microsoft.com/office/drawing/2014/main" id="{F0F1CFA1-475A-2F22-55D1-521CFAB1A01A}"/>
              </a:ext>
            </a:extLst>
          </p:cNvPr>
          <p:cNvPicPr>
            <a:picLocks noChangeAspect="1"/>
          </p:cNvPicPr>
          <p:nvPr/>
        </p:nvPicPr>
        <p:blipFill>
          <a:blip r:embed="rId7"/>
          <a:stretch>
            <a:fillRect/>
          </a:stretch>
        </p:blipFill>
        <p:spPr>
          <a:xfrm>
            <a:off x="5010126" y="538982"/>
            <a:ext cx="8770456" cy="8151104"/>
          </a:xfrm>
          <a:prstGeom prst="rect">
            <a:avLst/>
          </a:prstGeom>
        </p:spPr>
      </p:pic>
      <p:sp>
        <p:nvSpPr>
          <p:cNvPr id="5" name="Freeform 33">
            <a:extLst>
              <a:ext uri="{FF2B5EF4-FFF2-40B4-BE49-F238E27FC236}">
                <a16:creationId xmlns:a16="http://schemas.microsoft.com/office/drawing/2014/main" id="{96F4B3CD-EEB0-255F-FE30-E518AFED741D}"/>
              </a:ext>
            </a:extLst>
          </p:cNvPr>
          <p:cNvSpPr/>
          <p:nvPr/>
        </p:nvSpPr>
        <p:spPr>
          <a:xfrm>
            <a:off x="15410529" y="6063207"/>
            <a:ext cx="642919" cy="557991"/>
          </a:xfrm>
          <a:custGeom>
            <a:avLst/>
            <a:gdLst/>
            <a:ahLst/>
            <a:cxnLst/>
            <a:rect l="l" t="t" r="r" b="b"/>
            <a:pathLst>
              <a:path w="883699" h="816217">
                <a:moveTo>
                  <a:pt x="0" y="0"/>
                </a:moveTo>
                <a:lnTo>
                  <a:pt x="883699" y="0"/>
                </a:lnTo>
                <a:lnTo>
                  <a:pt x="883699" y="816217"/>
                </a:lnTo>
                <a:lnTo>
                  <a:pt x="0" y="816217"/>
                </a:lnTo>
                <a:lnTo>
                  <a:pt x="0" y="0"/>
                </a:lnTo>
                <a:close/>
              </a:path>
            </a:pathLst>
          </a:custGeom>
          <a:blipFill>
            <a:blip>
              <a:extLst>
                <a:ext uri="{96DAC541-7B7A-43D3-8B79-37D633B846F1}">
                  <asvg:svgBlip xmlns:asvg="http://schemas.microsoft.com/office/drawing/2016/SVG/main" r:embed="rId8"/>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5910616" y="2397630"/>
            <a:ext cx="6689788" cy="1143346"/>
          </a:xfrm>
          <a:custGeom>
            <a:avLst/>
            <a:gdLst/>
            <a:ahLst/>
            <a:cxnLst/>
            <a:rect l="l" t="t" r="r" b="b"/>
            <a:pathLst>
              <a:path w="6689788" h="1143346">
                <a:moveTo>
                  <a:pt x="0" y="0"/>
                </a:moveTo>
                <a:lnTo>
                  <a:pt x="6689788" y="0"/>
                </a:lnTo>
                <a:lnTo>
                  <a:pt x="6689788" y="1143346"/>
                </a:lnTo>
                <a:lnTo>
                  <a:pt x="0" y="11433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2177018" y="4478545"/>
            <a:ext cx="4354036" cy="4211541"/>
          </a:xfrm>
          <a:custGeom>
            <a:avLst/>
            <a:gdLst/>
            <a:ahLst/>
            <a:cxnLst/>
            <a:rect l="l" t="t" r="r" b="b"/>
            <a:pathLst>
              <a:path w="4354036" h="4211541">
                <a:moveTo>
                  <a:pt x="0" y="0"/>
                </a:moveTo>
                <a:lnTo>
                  <a:pt x="4354036" y="0"/>
                </a:lnTo>
                <a:lnTo>
                  <a:pt x="4354036" y="4211541"/>
                </a:lnTo>
                <a:lnTo>
                  <a:pt x="0" y="42115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2177018" y="406460"/>
            <a:ext cx="13812802" cy="1190454"/>
          </a:xfrm>
          <a:prstGeom prst="rect">
            <a:avLst/>
          </a:prstGeom>
        </p:spPr>
        <p:txBody>
          <a:bodyPr lIns="0" tIns="0" rIns="0" bIns="0" rtlCol="0" anchor="t">
            <a:spAutoFit/>
          </a:bodyPr>
          <a:lstStyle/>
          <a:p>
            <a:pPr marL="0" lvl="0" indent="0" algn="ctr">
              <a:lnSpc>
                <a:spcPts val="10381"/>
              </a:lnSpc>
              <a:spcBef>
                <a:spcPct val="0"/>
              </a:spcBef>
            </a:pPr>
            <a:r>
              <a:rPr lang="en-US" sz="7415" dirty="0">
                <a:solidFill>
                  <a:srgbClr val="2E1B5B"/>
                </a:solidFill>
                <a:latin typeface="HK Modular"/>
                <a:ea typeface="HK Modular"/>
                <a:cs typeface="HK Modular"/>
                <a:sym typeface="HK Modular"/>
              </a:rPr>
              <a:t>SECOND level</a:t>
            </a:r>
          </a:p>
        </p:txBody>
      </p:sp>
      <p:pic>
        <p:nvPicPr>
          <p:cNvPr id="23" name="صورة 22">
            <a:extLst>
              <a:ext uri="{FF2B5EF4-FFF2-40B4-BE49-F238E27FC236}">
                <a16:creationId xmlns:a16="http://schemas.microsoft.com/office/drawing/2014/main" id="{224DB99B-E39F-6CB1-08A1-61950C58CCFE}"/>
              </a:ext>
            </a:extLst>
          </p:cNvPr>
          <p:cNvPicPr>
            <a:picLocks noChangeAspect="1"/>
          </p:cNvPicPr>
          <p:nvPr/>
        </p:nvPicPr>
        <p:blipFill>
          <a:blip r:embed="rId4"/>
          <a:stretch>
            <a:fillRect/>
          </a:stretch>
        </p:blipFill>
        <p:spPr>
          <a:xfrm>
            <a:off x="3459622" y="2537890"/>
            <a:ext cx="11368756" cy="5211220"/>
          </a:xfrm>
          <a:prstGeom prst="rect">
            <a:avLst/>
          </a:prstGeom>
        </p:spPr>
      </p:pic>
      <p:sp>
        <p:nvSpPr>
          <p:cNvPr id="4" name="Freeform 33">
            <a:extLst>
              <a:ext uri="{FF2B5EF4-FFF2-40B4-BE49-F238E27FC236}">
                <a16:creationId xmlns:a16="http://schemas.microsoft.com/office/drawing/2014/main" id="{EAF9C104-0562-FDE5-AFBC-94865303E000}"/>
              </a:ext>
            </a:extLst>
          </p:cNvPr>
          <p:cNvSpPr/>
          <p:nvPr/>
        </p:nvSpPr>
        <p:spPr>
          <a:xfrm>
            <a:off x="17126900" y="1596914"/>
            <a:ext cx="642919" cy="557991"/>
          </a:xfrm>
          <a:custGeom>
            <a:avLst/>
            <a:gdLst/>
            <a:ahLst/>
            <a:cxnLst/>
            <a:rect l="l" t="t" r="r" b="b"/>
            <a:pathLst>
              <a:path w="883699" h="816217">
                <a:moveTo>
                  <a:pt x="0" y="0"/>
                </a:moveTo>
                <a:lnTo>
                  <a:pt x="883699" y="0"/>
                </a:lnTo>
                <a:lnTo>
                  <a:pt x="883699" y="816217"/>
                </a:lnTo>
                <a:lnTo>
                  <a:pt x="0" y="81621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 name="Freeform 33">
            <a:extLst>
              <a:ext uri="{FF2B5EF4-FFF2-40B4-BE49-F238E27FC236}">
                <a16:creationId xmlns:a16="http://schemas.microsoft.com/office/drawing/2014/main" id="{ADD91804-9766-CD67-3360-4419DDDBEFEA}"/>
              </a:ext>
            </a:extLst>
          </p:cNvPr>
          <p:cNvSpPr/>
          <p:nvPr/>
        </p:nvSpPr>
        <p:spPr>
          <a:xfrm>
            <a:off x="16124120" y="1596914"/>
            <a:ext cx="642919" cy="557991"/>
          </a:xfrm>
          <a:custGeom>
            <a:avLst/>
            <a:gdLst/>
            <a:ahLst/>
            <a:cxnLst/>
            <a:rect l="l" t="t" r="r" b="b"/>
            <a:pathLst>
              <a:path w="883699" h="816217">
                <a:moveTo>
                  <a:pt x="0" y="0"/>
                </a:moveTo>
                <a:lnTo>
                  <a:pt x="883699" y="0"/>
                </a:lnTo>
                <a:lnTo>
                  <a:pt x="883699" y="816217"/>
                </a:lnTo>
                <a:lnTo>
                  <a:pt x="0" y="816217"/>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6"/>
                                        </p:tgtEl>
                                      </p:cBhvr>
                                    </p:animEffect>
                                    <p:animScale>
                                      <p:cBhvr>
                                        <p:cTn id="7"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grpSp>
        <p:nvGrpSpPr>
          <p:cNvPr id="5" name="Group 5"/>
          <p:cNvGrpSpPr/>
          <p:nvPr/>
        </p:nvGrpSpPr>
        <p:grpSpPr>
          <a:xfrm>
            <a:off x="9144000" y="-9450543"/>
            <a:ext cx="15976849" cy="1597684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9FF"/>
            </a:solidFill>
            <a:ln cap="sq">
              <a:no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marL="0" lvl="0" indent="0" algn="ctr">
                <a:lnSpc>
                  <a:spcPts val="3214"/>
                </a:lnSpc>
                <a:spcBef>
                  <a:spcPct val="0"/>
                </a:spcBef>
              </a:pPr>
              <a:endParaRPr/>
            </a:p>
          </p:txBody>
        </p:sp>
      </p:grpSp>
      <p:sp>
        <p:nvSpPr>
          <p:cNvPr id="9" name="Freeform 9"/>
          <p:cNvSpPr/>
          <p:nvPr/>
        </p:nvSpPr>
        <p:spPr>
          <a:xfrm>
            <a:off x="1792304" y="2119866"/>
            <a:ext cx="601617" cy="430619"/>
          </a:xfrm>
          <a:custGeom>
            <a:avLst/>
            <a:gdLst/>
            <a:ahLst/>
            <a:cxnLst/>
            <a:rect l="l" t="t" r="r" b="b"/>
            <a:pathLst>
              <a:path w="883699" h="816217">
                <a:moveTo>
                  <a:pt x="0" y="0"/>
                </a:moveTo>
                <a:lnTo>
                  <a:pt x="883699" y="0"/>
                </a:lnTo>
                <a:lnTo>
                  <a:pt x="883699" y="816217"/>
                </a:lnTo>
                <a:lnTo>
                  <a:pt x="0" y="8162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331607" y="4159191"/>
            <a:ext cx="1194997" cy="3370504"/>
          </a:xfrm>
          <a:custGeom>
            <a:avLst/>
            <a:gdLst/>
            <a:ahLst/>
            <a:cxnLst/>
            <a:rect l="l" t="t" r="r" b="b"/>
            <a:pathLst>
              <a:path w="1194997" h="3370504">
                <a:moveTo>
                  <a:pt x="0" y="0"/>
                </a:moveTo>
                <a:lnTo>
                  <a:pt x="1194997" y="0"/>
                </a:lnTo>
                <a:lnTo>
                  <a:pt x="1194997" y="3370504"/>
                </a:lnTo>
                <a:lnTo>
                  <a:pt x="0" y="337050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891137" y="3431266"/>
            <a:ext cx="4762450" cy="857241"/>
          </a:xfrm>
          <a:custGeom>
            <a:avLst/>
            <a:gdLst/>
            <a:ahLst/>
            <a:cxnLst/>
            <a:rect l="l" t="t" r="r" b="b"/>
            <a:pathLst>
              <a:path w="4762450" h="857241">
                <a:moveTo>
                  <a:pt x="0" y="0"/>
                </a:moveTo>
                <a:lnTo>
                  <a:pt x="4762450" y="0"/>
                </a:lnTo>
                <a:lnTo>
                  <a:pt x="4762450" y="857241"/>
                </a:lnTo>
                <a:lnTo>
                  <a:pt x="0" y="85724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54577" y="9014932"/>
            <a:ext cx="6157051" cy="1108269"/>
          </a:xfrm>
          <a:custGeom>
            <a:avLst/>
            <a:gdLst/>
            <a:ahLst/>
            <a:cxnLst/>
            <a:rect l="l" t="t" r="r" b="b"/>
            <a:pathLst>
              <a:path w="6157051" h="1108269">
                <a:moveTo>
                  <a:pt x="0" y="0"/>
                </a:moveTo>
                <a:lnTo>
                  <a:pt x="6157051" y="0"/>
                </a:lnTo>
                <a:lnTo>
                  <a:pt x="6157051" y="1108269"/>
                </a:lnTo>
                <a:lnTo>
                  <a:pt x="0" y="110826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5973899" y="9014932"/>
            <a:ext cx="6157051" cy="1108269"/>
          </a:xfrm>
          <a:custGeom>
            <a:avLst/>
            <a:gdLst/>
            <a:ahLst/>
            <a:cxnLst/>
            <a:rect l="l" t="t" r="r" b="b"/>
            <a:pathLst>
              <a:path w="6157051" h="1108269">
                <a:moveTo>
                  <a:pt x="0" y="0"/>
                </a:moveTo>
                <a:lnTo>
                  <a:pt x="6157050" y="0"/>
                </a:lnTo>
                <a:lnTo>
                  <a:pt x="6157050" y="1108269"/>
                </a:lnTo>
                <a:lnTo>
                  <a:pt x="0" y="110826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a:off x="12111899" y="9014932"/>
            <a:ext cx="6157051" cy="1108269"/>
          </a:xfrm>
          <a:custGeom>
            <a:avLst/>
            <a:gdLst/>
            <a:ahLst/>
            <a:cxnLst/>
            <a:rect l="l" t="t" r="r" b="b"/>
            <a:pathLst>
              <a:path w="6157051" h="1108269">
                <a:moveTo>
                  <a:pt x="0" y="0"/>
                </a:moveTo>
                <a:lnTo>
                  <a:pt x="6157051" y="0"/>
                </a:lnTo>
                <a:lnTo>
                  <a:pt x="6157051" y="1108269"/>
                </a:lnTo>
                <a:lnTo>
                  <a:pt x="0" y="110826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Freeform 15"/>
          <p:cNvSpPr/>
          <p:nvPr/>
        </p:nvSpPr>
        <p:spPr>
          <a:xfrm>
            <a:off x="16146422" y="1095283"/>
            <a:ext cx="1282537" cy="1687549"/>
          </a:xfrm>
          <a:custGeom>
            <a:avLst/>
            <a:gdLst/>
            <a:ahLst/>
            <a:cxnLst/>
            <a:rect l="l" t="t" r="r" b="b"/>
            <a:pathLst>
              <a:path w="1282537" h="1687549">
                <a:moveTo>
                  <a:pt x="0" y="0"/>
                </a:moveTo>
                <a:lnTo>
                  <a:pt x="1282537" y="0"/>
                </a:lnTo>
                <a:lnTo>
                  <a:pt x="1282537" y="1687549"/>
                </a:lnTo>
                <a:lnTo>
                  <a:pt x="0" y="168754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Freeform 16"/>
          <p:cNvSpPr/>
          <p:nvPr/>
        </p:nvSpPr>
        <p:spPr>
          <a:xfrm>
            <a:off x="15102749" y="2572600"/>
            <a:ext cx="2779797" cy="6590035"/>
          </a:xfrm>
          <a:custGeom>
            <a:avLst/>
            <a:gdLst/>
            <a:ahLst/>
            <a:cxnLst/>
            <a:rect l="l" t="t" r="r" b="b"/>
            <a:pathLst>
              <a:path w="2779797" h="6590035">
                <a:moveTo>
                  <a:pt x="0" y="0"/>
                </a:moveTo>
                <a:lnTo>
                  <a:pt x="2779797" y="0"/>
                </a:lnTo>
                <a:lnTo>
                  <a:pt x="2779797" y="6590035"/>
                </a:lnTo>
                <a:lnTo>
                  <a:pt x="0" y="659003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a:off x="2968116" y="6759513"/>
            <a:ext cx="1201561" cy="2403122"/>
          </a:xfrm>
          <a:custGeom>
            <a:avLst/>
            <a:gdLst/>
            <a:ahLst/>
            <a:cxnLst/>
            <a:rect l="l" t="t" r="r" b="b"/>
            <a:pathLst>
              <a:path w="1201561" h="2403122">
                <a:moveTo>
                  <a:pt x="0" y="0"/>
                </a:moveTo>
                <a:lnTo>
                  <a:pt x="1201561" y="0"/>
                </a:lnTo>
                <a:lnTo>
                  <a:pt x="1201561" y="2403122"/>
                </a:lnTo>
                <a:lnTo>
                  <a:pt x="0" y="240312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Freeform 19"/>
          <p:cNvSpPr/>
          <p:nvPr/>
        </p:nvSpPr>
        <p:spPr>
          <a:xfrm>
            <a:off x="13128202" y="8308967"/>
            <a:ext cx="441748" cy="702293"/>
          </a:xfrm>
          <a:custGeom>
            <a:avLst/>
            <a:gdLst/>
            <a:ahLst/>
            <a:cxnLst/>
            <a:rect l="l" t="t" r="r" b="b"/>
            <a:pathLst>
              <a:path w="526929" h="1053858">
                <a:moveTo>
                  <a:pt x="0" y="0"/>
                </a:moveTo>
                <a:lnTo>
                  <a:pt x="526929" y="0"/>
                </a:lnTo>
                <a:lnTo>
                  <a:pt x="526929" y="1053858"/>
                </a:lnTo>
                <a:lnTo>
                  <a:pt x="0" y="1053858"/>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0" name="Freeform 20"/>
          <p:cNvSpPr/>
          <p:nvPr/>
        </p:nvSpPr>
        <p:spPr>
          <a:xfrm>
            <a:off x="13801503" y="8308967"/>
            <a:ext cx="441748" cy="702293"/>
          </a:xfrm>
          <a:custGeom>
            <a:avLst/>
            <a:gdLst/>
            <a:ahLst/>
            <a:cxnLst/>
            <a:rect l="l" t="t" r="r" b="b"/>
            <a:pathLst>
              <a:path w="526929" h="1053858">
                <a:moveTo>
                  <a:pt x="0" y="0"/>
                </a:moveTo>
                <a:lnTo>
                  <a:pt x="526929" y="0"/>
                </a:lnTo>
                <a:lnTo>
                  <a:pt x="526929" y="1053858"/>
                </a:lnTo>
                <a:lnTo>
                  <a:pt x="0" y="1053858"/>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1" name="Freeform 21"/>
          <p:cNvSpPr/>
          <p:nvPr/>
        </p:nvSpPr>
        <p:spPr>
          <a:xfrm>
            <a:off x="14490676" y="8308967"/>
            <a:ext cx="441748" cy="702293"/>
          </a:xfrm>
          <a:custGeom>
            <a:avLst/>
            <a:gdLst/>
            <a:ahLst/>
            <a:cxnLst/>
            <a:rect l="l" t="t" r="r" b="b"/>
            <a:pathLst>
              <a:path w="526929" h="1053858">
                <a:moveTo>
                  <a:pt x="0" y="0"/>
                </a:moveTo>
                <a:lnTo>
                  <a:pt x="526928" y="0"/>
                </a:lnTo>
                <a:lnTo>
                  <a:pt x="526928" y="1053858"/>
                </a:lnTo>
                <a:lnTo>
                  <a:pt x="0" y="1053858"/>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2" name="Freeform 22"/>
          <p:cNvSpPr/>
          <p:nvPr/>
        </p:nvSpPr>
        <p:spPr>
          <a:xfrm>
            <a:off x="-891137" y="-421774"/>
            <a:ext cx="3187865" cy="1628709"/>
          </a:xfrm>
          <a:custGeom>
            <a:avLst/>
            <a:gdLst/>
            <a:ahLst/>
            <a:cxnLst/>
            <a:rect l="l" t="t" r="r" b="b"/>
            <a:pathLst>
              <a:path w="3187865" h="1628709">
                <a:moveTo>
                  <a:pt x="0" y="0"/>
                </a:moveTo>
                <a:lnTo>
                  <a:pt x="3187865" y="0"/>
                </a:lnTo>
                <a:lnTo>
                  <a:pt x="3187865" y="1628709"/>
                </a:lnTo>
                <a:lnTo>
                  <a:pt x="0" y="162870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3" name="Freeform 23"/>
          <p:cNvSpPr/>
          <p:nvPr/>
        </p:nvSpPr>
        <p:spPr>
          <a:xfrm>
            <a:off x="5249020" y="-348114"/>
            <a:ext cx="1449758" cy="740694"/>
          </a:xfrm>
          <a:custGeom>
            <a:avLst/>
            <a:gdLst/>
            <a:ahLst/>
            <a:cxnLst/>
            <a:rect l="l" t="t" r="r" b="b"/>
            <a:pathLst>
              <a:path w="1449758" h="740694">
                <a:moveTo>
                  <a:pt x="0" y="0"/>
                </a:moveTo>
                <a:lnTo>
                  <a:pt x="1449757" y="0"/>
                </a:lnTo>
                <a:lnTo>
                  <a:pt x="1449757" y="740694"/>
                </a:lnTo>
                <a:lnTo>
                  <a:pt x="0" y="740694"/>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4" name="Freeform 24"/>
          <p:cNvSpPr/>
          <p:nvPr/>
        </p:nvSpPr>
        <p:spPr>
          <a:xfrm>
            <a:off x="13351450" y="-385417"/>
            <a:ext cx="2794972" cy="1427977"/>
          </a:xfrm>
          <a:custGeom>
            <a:avLst/>
            <a:gdLst/>
            <a:ahLst/>
            <a:cxnLst/>
            <a:rect l="l" t="t" r="r" b="b"/>
            <a:pathLst>
              <a:path w="2794972" h="1427977">
                <a:moveTo>
                  <a:pt x="0" y="0"/>
                </a:moveTo>
                <a:lnTo>
                  <a:pt x="2794972" y="0"/>
                </a:lnTo>
                <a:lnTo>
                  <a:pt x="2794972" y="1427976"/>
                </a:lnTo>
                <a:lnTo>
                  <a:pt x="0" y="1427976"/>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6" name="TextBox 26"/>
          <p:cNvSpPr txBox="1"/>
          <p:nvPr/>
        </p:nvSpPr>
        <p:spPr>
          <a:xfrm>
            <a:off x="3828052" y="392580"/>
            <a:ext cx="10631895" cy="1142370"/>
          </a:xfrm>
          <a:prstGeom prst="rect">
            <a:avLst/>
          </a:prstGeom>
        </p:spPr>
        <p:txBody>
          <a:bodyPr lIns="0" tIns="0" rIns="0" bIns="0" rtlCol="0" anchor="t">
            <a:spAutoFit/>
          </a:bodyPr>
          <a:lstStyle/>
          <a:p>
            <a:pPr marL="0" lvl="0" indent="0" algn="ctr">
              <a:lnSpc>
                <a:spcPts val="9368"/>
              </a:lnSpc>
              <a:spcBef>
                <a:spcPct val="0"/>
              </a:spcBef>
            </a:pPr>
            <a:r>
              <a:rPr lang="en-US" sz="6691" dirty="0">
                <a:solidFill>
                  <a:srgbClr val="2E1B5B"/>
                </a:solidFill>
                <a:latin typeface="HK Modular"/>
                <a:ea typeface="HK Modular"/>
                <a:cs typeface="HK Modular"/>
                <a:sym typeface="HK Modular"/>
              </a:rPr>
              <a:t>THIRD LEVEL</a:t>
            </a:r>
          </a:p>
        </p:txBody>
      </p:sp>
      <p:pic>
        <p:nvPicPr>
          <p:cNvPr id="38" name="صورة 37">
            <a:extLst>
              <a:ext uri="{FF2B5EF4-FFF2-40B4-BE49-F238E27FC236}">
                <a16:creationId xmlns:a16="http://schemas.microsoft.com/office/drawing/2014/main" id="{3EBEFB2D-884B-21B7-44A9-FAF65E114AFB}"/>
              </a:ext>
            </a:extLst>
          </p:cNvPr>
          <p:cNvPicPr>
            <a:picLocks noChangeAspect="1"/>
          </p:cNvPicPr>
          <p:nvPr/>
        </p:nvPicPr>
        <p:blipFill>
          <a:blip r:embed="rId10"/>
          <a:stretch>
            <a:fillRect/>
          </a:stretch>
        </p:blipFill>
        <p:spPr>
          <a:xfrm>
            <a:off x="5265123" y="1415177"/>
            <a:ext cx="7477900" cy="7425606"/>
          </a:xfrm>
          <a:prstGeom prst="rect">
            <a:avLst/>
          </a:prstGeom>
        </p:spPr>
      </p:pic>
      <p:sp>
        <p:nvSpPr>
          <p:cNvPr id="39" name="Freeform 9">
            <a:extLst>
              <a:ext uri="{FF2B5EF4-FFF2-40B4-BE49-F238E27FC236}">
                <a16:creationId xmlns:a16="http://schemas.microsoft.com/office/drawing/2014/main" id="{C3AAC02D-6238-9D56-F205-1EA77B6024EB}"/>
              </a:ext>
            </a:extLst>
          </p:cNvPr>
          <p:cNvSpPr/>
          <p:nvPr/>
        </p:nvSpPr>
        <p:spPr>
          <a:xfrm>
            <a:off x="859041" y="2119866"/>
            <a:ext cx="601617" cy="430619"/>
          </a:xfrm>
          <a:custGeom>
            <a:avLst/>
            <a:gdLst/>
            <a:ahLst/>
            <a:cxnLst/>
            <a:rect l="l" t="t" r="r" b="b"/>
            <a:pathLst>
              <a:path w="883699" h="816217">
                <a:moveTo>
                  <a:pt x="0" y="0"/>
                </a:moveTo>
                <a:lnTo>
                  <a:pt x="883699" y="0"/>
                </a:lnTo>
                <a:lnTo>
                  <a:pt x="883699" y="816217"/>
                </a:lnTo>
                <a:lnTo>
                  <a:pt x="0" y="8162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0" name="Freeform 9">
            <a:extLst>
              <a:ext uri="{FF2B5EF4-FFF2-40B4-BE49-F238E27FC236}">
                <a16:creationId xmlns:a16="http://schemas.microsoft.com/office/drawing/2014/main" id="{38412AC7-D40C-35FE-887A-40C38B4A9AF1}"/>
              </a:ext>
            </a:extLst>
          </p:cNvPr>
          <p:cNvSpPr/>
          <p:nvPr/>
        </p:nvSpPr>
        <p:spPr>
          <a:xfrm>
            <a:off x="2725567" y="2119866"/>
            <a:ext cx="601617" cy="430619"/>
          </a:xfrm>
          <a:custGeom>
            <a:avLst/>
            <a:gdLst/>
            <a:ahLst/>
            <a:cxnLst/>
            <a:rect l="l" t="t" r="r" b="b"/>
            <a:pathLst>
              <a:path w="883699" h="816217">
                <a:moveTo>
                  <a:pt x="0" y="0"/>
                </a:moveTo>
                <a:lnTo>
                  <a:pt x="883699" y="0"/>
                </a:lnTo>
                <a:lnTo>
                  <a:pt x="883699" y="816217"/>
                </a:lnTo>
                <a:lnTo>
                  <a:pt x="0" y="816217"/>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6"/>
                                        </p:tgtEl>
                                      </p:cBhvr>
                                    </p:animEffect>
                                    <p:animScale>
                                      <p:cBhvr>
                                        <p:cTn id="7" dur="250" autoRev="1" fill="hold"/>
                                        <p:tgtEl>
                                          <p:spTgt spid="26"/>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40"/>
                                        </p:tgtEl>
                                      </p:cBhvr>
                                    </p:animEffect>
                                    <p:animScale>
                                      <p:cBhvr>
                                        <p:cTn id="10" dur="250" autoRev="1" fill="hold"/>
                                        <p:tgtEl>
                                          <p:spTgt spid="40"/>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9"/>
                                        </p:tgtEl>
                                      </p:cBhvr>
                                    </p:animEffect>
                                    <p:animScale>
                                      <p:cBhvr>
                                        <p:cTn id="13" dur="250" autoRev="1" fill="hold"/>
                                        <p:tgtEl>
                                          <p:spTgt spid="9"/>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39"/>
                                        </p:tgtEl>
                                      </p:cBhvr>
                                    </p:animEffect>
                                    <p:animScale>
                                      <p:cBhvr>
                                        <p:cTn id="16"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364811" y="8673126"/>
            <a:ext cx="9326406" cy="1780496"/>
          </a:xfrm>
          <a:custGeom>
            <a:avLst/>
            <a:gdLst/>
            <a:ahLst/>
            <a:cxnLst/>
            <a:rect l="l" t="t" r="r" b="b"/>
            <a:pathLst>
              <a:path w="9326406" h="1780496">
                <a:moveTo>
                  <a:pt x="0" y="0"/>
                </a:moveTo>
                <a:lnTo>
                  <a:pt x="9326405" y="0"/>
                </a:lnTo>
                <a:lnTo>
                  <a:pt x="9326405" y="1780495"/>
                </a:lnTo>
                <a:lnTo>
                  <a:pt x="0" y="178049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8961594" y="8673126"/>
            <a:ext cx="9326406" cy="1780496"/>
          </a:xfrm>
          <a:custGeom>
            <a:avLst/>
            <a:gdLst/>
            <a:ahLst/>
            <a:cxnLst/>
            <a:rect l="l" t="t" r="r" b="b"/>
            <a:pathLst>
              <a:path w="9326406" h="1780496">
                <a:moveTo>
                  <a:pt x="0" y="0"/>
                </a:moveTo>
                <a:lnTo>
                  <a:pt x="9326406" y="0"/>
                </a:lnTo>
                <a:lnTo>
                  <a:pt x="9326406" y="1780495"/>
                </a:lnTo>
                <a:lnTo>
                  <a:pt x="0" y="178049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326425" y="5126540"/>
            <a:ext cx="1889363" cy="3546586"/>
          </a:xfrm>
          <a:custGeom>
            <a:avLst/>
            <a:gdLst/>
            <a:ahLst/>
            <a:cxnLst/>
            <a:rect l="l" t="t" r="r" b="b"/>
            <a:pathLst>
              <a:path w="1889363" h="3546586">
                <a:moveTo>
                  <a:pt x="0" y="0"/>
                </a:moveTo>
                <a:lnTo>
                  <a:pt x="1889363" y="0"/>
                </a:lnTo>
                <a:lnTo>
                  <a:pt x="1889363" y="3546586"/>
                </a:lnTo>
                <a:lnTo>
                  <a:pt x="0" y="35465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4630400" y="2951904"/>
            <a:ext cx="970188" cy="970188"/>
          </a:xfrm>
          <a:custGeom>
            <a:avLst/>
            <a:gdLst/>
            <a:ahLst/>
            <a:cxnLst/>
            <a:rect l="l" t="t" r="r" b="b"/>
            <a:pathLst>
              <a:path w="970188" h="970188">
                <a:moveTo>
                  <a:pt x="0" y="0"/>
                </a:moveTo>
                <a:lnTo>
                  <a:pt x="970188" y="0"/>
                </a:lnTo>
                <a:lnTo>
                  <a:pt x="970188" y="970188"/>
                </a:lnTo>
                <a:lnTo>
                  <a:pt x="0" y="9701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15771471" y="2951904"/>
            <a:ext cx="970188" cy="970188"/>
          </a:xfrm>
          <a:custGeom>
            <a:avLst/>
            <a:gdLst/>
            <a:ahLst/>
            <a:cxnLst/>
            <a:rect l="l" t="t" r="r" b="b"/>
            <a:pathLst>
              <a:path w="970188" h="970188">
                <a:moveTo>
                  <a:pt x="0" y="0"/>
                </a:moveTo>
                <a:lnTo>
                  <a:pt x="970188" y="0"/>
                </a:lnTo>
                <a:lnTo>
                  <a:pt x="970188" y="970188"/>
                </a:lnTo>
                <a:lnTo>
                  <a:pt x="0" y="9701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4872222" y="577497"/>
            <a:ext cx="9514676" cy="1052468"/>
          </a:xfrm>
          <a:prstGeom prst="rect">
            <a:avLst/>
          </a:prstGeom>
        </p:spPr>
        <p:txBody>
          <a:bodyPr wrap="square" lIns="0" tIns="0" rIns="0" bIns="0" rtlCol="0" anchor="t">
            <a:spAutoFit/>
          </a:bodyPr>
          <a:lstStyle/>
          <a:p>
            <a:pPr marL="0" lvl="0" indent="0" algn="l">
              <a:lnSpc>
                <a:spcPts val="9150"/>
              </a:lnSpc>
              <a:spcBef>
                <a:spcPct val="0"/>
              </a:spcBef>
            </a:pPr>
            <a:r>
              <a:rPr lang="en-US" sz="6536" dirty="0">
                <a:solidFill>
                  <a:srgbClr val="2E1B5B"/>
                </a:solidFill>
                <a:latin typeface="HK Modular"/>
                <a:ea typeface="HK Modular"/>
                <a:cs typeface="HK Modular"/>
                <a:sym typeface="HK Modular"/>
              </a:rPr>
              <a:t>Fourth level</a:t>
            </a:r>
          </a:p>
        </p:txBody>
      </p:sp>
      <p:sp>
        <p:nvSpPr>
          <p:cNvPr id="13" name="Freeform 13"/>
          <p:cNvSpPr/>
          <p:nvPr/>
        </p:nvSpPr>
        <p:spPr>
          <a:xfrm>
            <a:off x="14630400" y="4453536"/>
            <a:ext cx="7315200" cy="1396538"/>
          </a:xfrm>
          <a:custGeom>
            <a:avLst/>
            <a:gdLst/>
            <a:ahLst/>
            <a:cxnLst/>
            <a:rect l="l" t="t" r="r" b="b"/>
            <a:pathLst>
              <a:path w="7315200" h="1396538">
                <a:moveTo>
                  <a:pt x="0" y="0"/>
                </a:moveTo>
                <a:lnTo>
                  <a:pt x="7315200" y="0"/>
                </a:lnTo>
                <a:lnTo>
                  <a:pt x="7315200" y="1396538"/>
                </a:lnTo>
                <a:lnTo>
                  <a:pt x="0" y="13965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4" name="Freeform 14"/>
          <p:cNvSpPr/>
          <p:nvPr/>
        </p:nvSpPr>
        <p:spPr>
          <a:xfrm>
            <a:off x="14191972" y="6455251"/>
            <a:ext cx="1760480" cy="1366773"/>
          </a:xfrm>
          <a:custGeom>
            <a:avLst/>
            <a:gdLst/>
            <a:ahLst/>
            <a:cxnLst/>
            <a:rect l="l" t="t" r="r" b="b"/>
            <a:pathLst>
              <a:path w="1760480" h="1366773">
                <a:moveTo>
                  <a:pt x="0" y="0"/>
                </a:moveTo>
                <a:lnTo>
                  <a:pt x="1760481" y="0"/>
                </a:lnTo>
                <a:lnTo>
                  <a:pt x="1760481" y="1366773"/>
                </a:lnTo>
                <a:lnTo>
                  <a:pt x="0" y="136677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Freeform 16"/>
          <p:cNvSpPr/>
          <p:nvPr/>
        </p:nvSpPr>
        <p:spPr>
          <a:xfrm rot="-1018533">
            <a:off x="1094615" y="1081344"/>
            <a:ext cx="2721875" cy="2108216"/>
          </a:xfrm>
          <a:custGeom>
            <a:avLst/>
            <a:gdLst/>
            <a:ahLst/>
            <a:cxnLst/>
            <a:rect l="l" t="t" r="r" b="b"/>
            <a:pathLst>
              <a:path w="2721875" h="2108216">
                <a:moveTo>
                  <a:pt x="0" y="0"/>
                </a:moveTo>
                <a:lnTo>
                  <a:pt x="2721874" y="0"/>
                </a:lnTo>
                <a:lnTo>
                  <a:pt x="2721874" y="2108216"/>
                </a:lnTo>
                <a:lnTo>
                  <a:pt x="0" y="2108216"/>
                </a:lnTo>
                <a:lnTo>
                  <a:pt x="0" y="0"/>
                </a:lnTo>
                <a:close/>
              </a:path>
            </a:pathLst>
          </a:custGeom>
          <a:blipFill>
            <a:blip>
              <a:extLst>
                <a:ext uri="{96DAC541-7B7A-43D3-8B79-37D633B846F1}">
                  <asvg:svgBlip xmlns:asvg="http://schemas.microsoft.com/office/drawing/2016/SVG/main" r:embed="rId6"/>
                </a:ext>
              </a:extLst>
            </a:blip>
            <a:stretch>
              <a:fillRect/>
            </a:stretch>
          </a:blipFill>
        </p:spPr>
      </p:sp>
      <p:pic>
        <p:nvPicPr>
          <p:cNvPr id="18" name="صورة 17">
            <a:extLst>
              <a:ext uri="{FF2B5EF4-FFF2-40B4-BE49-F238E27FC236}">
                <a16:creationId xmlns:a16="http://schemas.microsoft.com/office/drawing/2014/main" id="{27F7F5D2-91E5-D844-6D13-BF92C2199EA5}"/>
              </a:ext>
            </a:extLst>
          </p:cNvPr>
          <p:cNvPicPr>
            <a:picLocks noChangeAspect="1"/>
          </p:cNvPicPr>
          <p:nvPr/>
        </p:nvPicPr>
        <p:blipFill>
          <a:blip r:embed="rId7"/>
          <a:stretch>
            <a:fillRect/>
          </a:stretch>
        </p:blipFill>
        <p:spPr>
          <a:xfrm>
            <a:off x="4265616" y="2120798"/>
            <a:ext cx="9756768" cy="621689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2"/>
                                        </p:tgtEl>
                                      </p:cBhvr>
                                    </p:animEffect>
                                    <p:animScale>
                                      <p:cBhvr>
                                        <p:cTn id="7" dur="250" autoRev="1" fill="hold"/>
                                        <p:tgtEl>
                                          <p:spTgt spid="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30000"/>
        </a:solidFill>
        <a:effectLst/>
      </p:bgPr>
    </p:bg>
    <p:spTree>
      <p:nvGrpSpPr>
        <p:cNvPr id="1" name=""/>
        <p:cNvGrpSpPr/>
        <p:nvPr/>
      </p:nvGrpSpPr>
      <p:grpSpPr>
        <a:xfrm>
          <a:off x="0" y="0"/>
          <a:ext cx="0" cy="0"/>
          <a:chOff x="0" y="0"/>
          <a:chExt cx="0" cy="0"/>
        </a:xfrm>
      </p:grpSpPr>
      <p:grpSp>
        <p:nvGrpSpPr>
          <p:cNvPr id="2" name="Group 2"/>
          <p:cNvGrpSpPr/>
          <p:nvPr/>
        </p:nvGrpSpPr>
        <p:grpSpPr>
          <a:xfrm>
            <a:off x="-77519" y="5655447"/>
            <a:ext cx="18443039" cy="5613191"/>
            <a:chOff x="0" y="0"/>
            <a:chExt cx="4857426" cy="1478371"/>
          </a:xfrm>
        </p:grpSpPr>
        <p:sp>
          <p:nvSpPr>
            <p:cNvPr id="3" name="Freeform 3"/>
            <p:cNvSpPr/>
            <p:nvPr/>
          </p:nvSpPr>
          <p:spPr>
            <a:xfrm>
              <a:off x="0" y="0"/>
              <a:ext cx="4857426" cy="1478371"/>
            </a:xfrm>
            <a:custGeom>
              <a:avLst/>
              <a:gdLst/>
              <a:ahLst/>
              <a:cxnLst/>
              <a:rect l="l" t="t" r="r" b="b"/>
              <a:pathLst>
                <a:path w="4857426" h="1478371">
                  <a:moveTo>
                    <a:pt x="0" y="0"/>
                  </a:moveTo>
                  <a:lnTo>
                    <a:pt x="4857426" y="0"/>
                  </a:lnTo>
                  <a:lnTo>
                    <a:pt x="4857426" y="1478371"/>
                  </a:lnTo>
                  <a:lnTo>
                    <a:pt x="0" y="1478371"/>
                  </a:lnTo>
                  <a:close/>
                </a:path>
              </a:pathLst>
            </a:custGeom>
            <a:solidFill>
              <a:srgbClr val="AF0707"/>
            </a:solidFill>
          </p:spPr>
        </p:sp>
        <p:sp>
          <p:nvSpPr>
            <p:cNvPr id="4" name="TextBox 4"/>
            <p:cNvSpPr txBox="1"/>
            <p:nvPr/>
          </p:nvSpPr>
          <p:spPr>
            <a:xfrm>
              <a:off x="0" y="-47625"/>
              <a:ext cx="4857426" cy="1525996"/>
            </a:xfrm>
            <a:prstGeom prst="rect">
              <a:avLst/>
            </a:prstGeom>
          </p:spPr>
          <p:txBody>
            <a:bodyPr lIns="50800" tIns="50800" rIns="50800" bIns="50800" rtlCol="0" anchor="ctr"/>
            <a:lstStyle/>
            <a:p>
              <a:pPr algn="ctr">
                <a:lnSpc>
                  <a:spcPts val="3214"/>
                </a:lnSpc>
              </a:pPr>
              <a:endParaRPr/>
            </a:p>
          </p:txBody>
        </p:sp>
      </p:grpSp>
      <p:sp>
        <p:nvSpPr>
          <p:cNvPr id="5" name="Freeform 5"/>
          <p:cNvSpPr/>
          <p:nvPr/>
        </p:nvSpPr>
        <p:spPr>
          <a:xfrm>
            <a:off x="14203681" y="2517729"/>
            <a:ext cx="2432660" cy="4582065"/>
          </a:xfrm>
          <a:custGeom>
            <a:avLst/>
            <a:gdLst/>
            <a:ahLst/>
            <a:cxnLst/>
            <a:rect l="l" t="t" r="r" b="b"/>
            <a:pathLst>
              <a:path w="2432660" h="4582065">
                <a:moveTo>
                  <a:pt x="0" y="0"/>
                </a:moveTo>
                <a:lnTo>
                  <a:pt x="2432660" y="0"/>
                </a:lnTo>
                <a:lnTo>
                  <a:pt x="2432660" y="4582065"/>
                </a:lnTo>
                <a:lnTo>
                  <a:pt x="0" y="45820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635359" y="3898919"/>
            <a:ext cx="3398085" cy="3513057"/>
          </a:xfrm>
          <a:custGeom>
            <a:avLst/>
            <a:gdLst/>
            <a:ahLst/>
            <a:cxnLst/>
            <a:rect l="l" t="t" r="r" b="b"/>
            <a:pathLst>
              <a:path w="3398085" h="3513057">
                <a:moveTo>
                  <a:pt x="0" y="0"/>
                </a:moveTo>
                <a:lnTo>
                  <a:pt x="3398085" y="0"/>
                </a:lnTo>
                <a:lnTo>
                  <a:pt x="3398085" y="3513057"/>
                </a:lnTo>
                <a:lnTo>
                  <a:pt x="0" y="351305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6867075" y="6057644"/>
            <a:ext cx="4553850" cy="2122059"/>
          </a:xfrm>
          <a:custGeom>
            <a:avLst/>
            <a:gdLst/>
            <a:ahLst/>
            <a:cxnLst/>
            <a:rect l="l" t="t" r="r" b="b"/>
            <a:pathLst>
              <a:path w="2554501" h="1091469">
                <a:moveTo>
                  <a:pt x="0" y="0"/>
                </a:moveTo>
                <a:lnTo>
                  <a:pt x="2554502" y="0"/>
                </a:lnTo>
                <a:lnTo>
                  <a:pt x="2554502" y="1091469"/>
                </a:lnTo>
                <a:lnTo>
                  <a:pt x="0" y="109146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4409555" y="2035885"/>
            <a:ext cx="9468891" cy="3278395"/>
          </a:xfrm>
          <a:prstGeom prst="rect">
            <a:avLst/>
          </a:prstGeom>
        </p:spPr>
        <p:txBody>
          <a:bodyPr lIns="0" tIns="0" rIns="0" bIns="0" rtlCol="0" anchor="t">
            <a:spAutoFit/>
          </a:bodyPr>
          <a:lstStyle/>
          <a:p>
            <a:pPr marL="0" lvl="0" indent="0" algn="ctr">
              <a:lnSpc>
                <a:spcPts val="13134"/>
              </a:lnSpc>
              <a:spcBef>
                <a:spcPct val="0"/>
              </a:spcBef>
            </a:pPr>
            <a:r>
              <a:rPr lang="en-US" sz="9381">
                <a:solidFill>
                  <a:srgbClr val="FFFFFF"/>
                </a:solidFill>
                <a:latin typeface="HK Modular"/>
                <a:ea typeface="HK Modular"/>
                <a:cs typeface="HK Modular"/>
                <a:sym typeface="HK Modular"/>
              </a:rPr>
              <a:t>HARD LEVEL</a:t>
            </a:r>
          </a:p>
        </p:txBody>
      </p:sp>
      <p:grpSp>
        <p:nvGrpSpPr>
          <p:cNvPr id="9" name="Group 9"/>
          <p:cNvGrpSpPr>
            <a:grpSpLocks noChangeAspect="1"/>
          </p:cNvGrpSpPr>
          <p:nvPr/>
        </p:nvGrpSpPr>
        <p:grpSpPr>
          <a:xfrm rot="-1629761">
            <a:off x="10722373" y="7748502"/>
            <a:ext cx="984652" cy="1246254"/>
            <a:chOff x="0" y="0"/>
            <a:chExt cx="1457960" cy="1845310"/>
          </a:xfrm>
        </p:grpSpPr>
        <p:sp>
          <p:nvSpPr>
            <p:cNvPr id="10" name="Freeform 10"/>
            <p:cNvSpPr/>
            <p:nvPr/>
          </p:nvSpPr>
          <p:spPr>
            <a:xfrm>
              <a:off x="44508" y="44761"/>
              <a:ext cx="1369984" cy="1756099"/>
            </a:xfrm>
            <a:custGeom>
              <a:avLst/>
              <a:gdLst/>
              <a:ahLst/>
              <a:cxnLst/>
              <a:rect l="l" t="t" r="r" b="b"/>
              <a:pathLst>
                <a:path w="1369984" h="1756099">
                  <a:moveTo>
                    <a:pt x="899102" y="515309"/>
                  </a:moveTo>
                  <a:cubicBezTo>
                    <a:pt x="899102" y="392119"/>
                    <a:pt x="641292" y="425139"/>
                    <a:pt x="641292" y="425139"/>
                  </a:cubicBezTo>
                  <a:lnTo>
                    <a:pt x="641292" y="148279"/>
                  </a:lnTo>
                  <a:cubicBezTo>
                    <a:pt x="641292" y="-49841"/>
                    <a:pt x="377132" y="-46031"/>
                    <a:pt x="377132" y="139389"/>
                  </a:cubicBezTo>
                  <a:lnTo>
                    <a:pt x="377132" y="931869"/>
                  </a:lnTo>
                  <a:lnTo>
                    <a:pt x="213302" y="768039"/>
                  </a:lnTo>
                  <a:cubicBezTo>
                    <a:pt x="162502" y="717239"/>
                    <a:pt x="49472" y="698189"/>
                    <a:pt x="11372" y="768039"/>
                  </a:cubicBezTo>
                  <a:cubicBezTo>
                    <a:pt x="-26728" y="837889"/>
                    <a:pt x="43122" y="931869"/>
                    <a:pt x="43122" y="931869"/>
                  </a:cubicBezTo>
                  <a:cubicBezTo>
                    <a:pt x="43122" y="931869"/>
                    <a:pt x="433012" y="1453839"/>
                    <a:pt x="483812" y="1756099"/>
                  </a:cubicBezTo>
                  <a:lnTo>
                    <a:pt x="1167072" y="1756099"/>
                  </a:lnTo>
                  <a:cubicBezTo>
                    <a:pt x="1167072" y="1743399"/>
                    <a:pt x="1349952" y="1192219"/>
                    <a:pt x="1362652" y="1126179"/>
                  </a:cubicBezTo>
                  <a:cubicBezTo>
                    <a:pt x="1375352" y="1060139"/>
                    <a:pt x="1369002" y="940759"/>
                    <a:pt x="1362652" y="785819"/>
                  </a:cubicBezTo>
                  <a:cubicBezTo>
                    <a:pt x="1356302" y="632149"/>
                    <a:pt x="1211522" y="590239"/>
                    <a:pt x="1146752" y="590239"/>
                  </a:cubicBezTo>
                  <a:lnTo>
                    <a:pt x="1144212" y="594049"/>
                  </a:lnTo>
                  <a:cubicBezTo>
                    <a:pt x="1122622" y="506419"/>
                    <a:pt x="952442" y="515309"/>
                    <a:pt x="899102" y="515309"/>
                  </a:cubicBezTo>
                  <a:close/>
                </a:path>
              </a:pathLst>
            </a:custGeom>
            <a:solidFill>
              <a:srgbClr val="E9EEF1"/>
            </a:solidFill>
          </p:spPr>
        </p:sp>
        <p:sp>
          <p:nvSpPr>
            <p:cNvPr id="11" name="Freeform 11"/>
            <p:cNvSpPr/>
            <p:nvPr/>
          </p:nvSpPr>
          <p:spPr>
            <a:xfrm>
              <a:off x="-95" y="2540"/>
              <a:ext cx="1457586" cy="1844040"/>
            </a:xfrm>
            <a:custGeom>
              <a:avLst/>
              <a:gdLst/>
              <a:ahLst/>
              <a:cxnLst/>
              <a:rect l="l" t="t" r="r" b="b"/>
              <a:pathLst>
                <a:path w="1457586" h="1844040">
                  <a:moveTo>
                    <a:pt x="1451705" y="863600"/>
                  </a:moveTo>
                  <a:lnTo>
                    <a:pt x="1450435" y="828040"/>
                  </a:lnTo>
                  <a:cubicBezTo>
                    <a:pt x="1444085" y="669290"/>
                    <a:pt x="1312005" y="601980"/>
                    <a:pt x="1215485" y="591820"/>
                  </a:cubicBezTo>
                  <a:cubicBezTo>
                    <a:pt x="1210405" y="585470"/>
                    <a:pt x="1205325" y="577850"/>
                    <a:pt x="1198975" y="572770"/>
                  </a:cubicBezTo>
                  <a:cubicBezTo>
                    <a:pt x="1145635" y="519430"/>
                    <a:pt x="1045305" y="514350"/>
                    <a:pt x="977995" y="514350"/>
                  </a:cubicBezTo>
                  <a:cubicBezTo>
                    <a:pt x="971645" y="497840"/>
                    <a:pt x="961485" y="483870"/>
                    <a:pt x="947515" y="471170"/>
                  </a:cubicBezTo>
                  <a:cubicBezTo>
                    <a:pt x="892905" y="422910"/>
                    <a:pt x="791305" y="419100"/>
                    <a:pt x="729075" y="421640"/>
                  </a:cubicBezTo>
                  <a:lnTo>
                    <a:pt x="729075" y="193040"/>
                  </a:lnTo>
                  <a:cubicBezTo>
                    <a:pt x="729075" y="119380"/>
                    <a:pt x="698595" y="73660"/>
                    <a:pt x="674465" y="49530"/>
                  </a:cubicBezTo>
                  <a:cubicBezTo>
                    <a:pt x="641445" y="17780"/>
                    <a:pt x="598265" y="0"/>
                    <a:pt x="551275" y="0"/>
                  </a:cubicBezTo>
                  <a:cubicBezTo>
                    <a:pt x="463645" y="0"/>
                    <a:pt x="376015" y="63500"/>
                    <a:pt x="376015" y="184150"/>
                  </a:cubicBezTo>
                  <a:lnTo>
                    <a:pt x="376015" y="868680"/>
                  </a:lnTo>
                  <a:lnTo>
                    <a:pt x="288385" y="781050"/>
                  </a:lnTo>
                  <a:cubicBezTo>
                    <a:pt x="246475" y="739140"/>
                    <a:pt x="176625" y="716280"/>
                    <a:pt x="116935" y="725170"/>
                  </a:cubicBezTo>
                  <a:cubicBezTo>
                    <a:pt x="72485" y="731520"/>
                    <a:pt x="36925" y="755650"/>
                    <a:pt x="16605" y="791210"/>
                  </a:cubicBezTo>
                  <a:cubicBezTo>
                    <a:pt x="-32925" y="880110"/>
                    <a:pt x="43275" y="988060"/>
                    <a:pt x="52165" y="1000760"/>
                  </a:cubicBezTo>
                  <a:cubicBezTo>
                    <a:pt x="55975" y="1005840"/>
                    <a:pt x="436975" y="1517650"/>
                    <a:pt x="483965" y="1805940"/>
                  </a:cubicBezTo>
                  <a:lnTo>
                    <a:pt x="483965" y="1807210"/>
                  </a:lnTo>
                  <a:cubicBezTo>
                    <a:pt x="483965" y="1808480"/>
                    <a:pt x="483965" y="1809750"/>
                    <a:pt x="485235" y="1811020"/>
                  </a:cubicBezTo>
                  <a:cubicBezTo>
                    <a:pt x="485235" y="1812290"/>
                    <a:pt x="486505" y="1813560"/>
                    <a:pt x="486505" y="1816100"/>
                  </a:cubicBezTo>
                  <a:cubicBezTo>
                    <a:pt x="486505" y="1817370"/>
                    <a:pt x="487775" y="1818640"/>
                    <a:pt x="487775" y="1818640"/>
                  </a:cubicBezTo>
                  <a:cubicBezTo>
                    <a:pt x="489045" y="1819910"/>
                    <a:pt x="489045" y="1821180"/>
                    <a:pt x="490315" y="1822450"/>
                  </a:cubicBezTo>
                  <a:cubicBezTo>
                    <a:pt x="490315" y="1823720"/>
                    <a:pt x="491585" y="1823720"/>
                    <a:pt x="492855" y="1824990"/>
                  </a:cubicBezTo>
                  <a:cubicBezTo>
                    <a:pt x="494125" y="1826260"/>
                    <a:pt x="495395" y="1827530"/>
                    <a:pt x="495395" y="1828800"/>
                  </a:cubicBezTo>
                  <a:lnTo>
                    <a:pt x="497935" y="1831340"/>
                  </a:lnTo>
                  <a:cubicBezTo>
                    <a:pt x="499205" y="1832610"/>
                    <a:pt x="500475" y="1833880"/>
                    <a:pt x="501745" y="1833880"/>
                  </a:cubicBezTo>
                  <a:lnTo>
                    <a:pt x="504285" y="1836420"/>
                  </a:lnTo>
                  <a:cubicBezTo>
                    <a:pt x="505555" y="1837690"/>
                    <a:pt x="506825" y="1837690"/>
                    <a:pt x="508095" y="1838960"/>
                  </a:cubicBezTo>
                  <a:cubicBezTo>
                    <a:pt x="509365" y="1838960"/>
                    <a:pt x="510635" y="1840230"/>
                    <a:pt x="510635" y="1840230"/>
                  </a:cubicBezTo>
                  <a:cubicBezTo>
                    <a:pt x="511905" y="1841500"/>
                    <a:pt x="514445" y="1841500"/>
                    <a:pt x="515715" y="1841500"/>
                  </a:cubicBezTo>
                  <a:cubicBezTo>
                    <a:pt x="516985" y="1841500"/>
                    <a:pt x="516985" y="1841500"/>
                    <a:pt x="518255" y="1842770"/>
                  </a:cubicBezTo>
                  <a:cubicBezTo>
                    <a:pt x="520795" y="1842770"/>
                    <a:pt x="523335" y="1844040"/>
                    <a:pt x="527145" y="1844040"/>
                  </a:cubicBezTo>
                  <a:lnTo>
                    <a:pt x="1210405" y="1844040"/>
                  </a:lnTo>
                  <a:cubicBezTo>
                    <a:pt x="1231995" y="1844040"/>
                    <a:pt x="1251045" y="1827530"/>
                    <a:pt x="1254855" y="1807210"/>
                  </a:cubicBezTo>
                  <a:cubicBezTo>
                    <a:pt x="1258665" y="1790700"/>
                    <a:pt x="1290415" y="1694180"/>
                    <a:pt x="1319625" y="1600200"/>
                  </a:cubicBezTo>
                  <a:cubicBezTo>
                    <a:pt x="1388205" y="1385570"/>
                    <a:pt x="1441545" y="1217930"/>
                    <a:pt x="1449165" y="1178560"/>
                  </a:cubicBezTo>
                  <a:cubicBezTo>
                    <a:pt x="1461865" y="1111250"/>
                    <a:pt x="1458055" y="1007110"/>
                    <a:pt x="1451705" y="863600"/>
                  </a:cubicBezTo>
                  <a:close/>
                  <a:moveTo>
                    <a:pt x="1362805" y="1160780"/>
                  </a:moveTo>
                  <a:cubicBezTo>
                    <a:pt x="1356455" y="1197610"/>
                    <a:pt x="1284065" y="1422400"/>
                    <a:pt x="1235805" y="1572260"/>
                  </a:cubicBezTo>
                  <a:cubicBezTo>
                    <a:pt x="1204055" y="1671320"/>
                    <a:pt x="1187545" y="1724660"/>
                    <a:pt x="1177385" y="1755140"/>
                  </a:cubicBezTo>
                  <a:lnTo>
                    <a:pt x="563975" y="1755140"/>
                  </a:lnTo>
                  <a:cubicBezTo>
                    <a:pt x="490315" y="1443990"/>
                    <a:pt x="138525" y="969010"/>
                    <a:pt x="123285" y="948690"/>
                  </a:cubicBezTo>
                  <a:cubicBezTo>
                    <a:pt x="111855" y="933450"/>
                    <a:pt x="75025" y="869950"/>
                    <a:pt x="95345" y="833120"/>
                  </a:cubicBezTo>
                  <a:cubicBezTo>
                    <a:pt x="97885" y="829310"/>
                    <a:pt x="105505" y="815340"/>
                    <a:pt x="130905" y="811530"/>
                  </a:cubicBezTo>
                  <a:cubicBezTo>
                    <a:pt x="162655" y="806450"/>
                    <a:pt x="204565" y="820420"/>
                    <a:pt x="227425" y="843280"/>
                  </a:cubicBezTo>
                  <a:lnTo>
                    <a:pt x="337915" y="953770"/>
                  </a:lnTo>
                  <a:cubicBezTo>
                    <a:pt x="353155" y="969010"/>
                    <a:pt x="367125" y="982980"/>
                    <a:pt x="377285" y="994410"/>
                  </a:cubicBezTo>
                  <a:lnTo>
                    <a:pt x="377285" y="1050290"/>
                  </a:lnTo>
                  <a:cubicBezTo>
                    <a:pt x="377285" y="1074420"/>
                    <a:pt x="397605" y="1094740"/>
                    <a:pt x="421735" y="1094740"/>
                  </a:cubicBezTo>
                  <a:cubicBezTo>
                    <a:pt x="445865" y="1094740"/>
                    <a:pt x="466185" y="1074420"/>
                    <a:pt x="466185" y="1050290"/>
                  </a:cubicBezTo>
                  <a:lnTo>
                    <a:pt x="466185" y="181610"/>
                  </a:lnTo>
                  <a:cubicBezTo>
                    <a:pt x="466185" y="115570"/>
                    <a:pt x="509365" y="86360"/>
                    <a:pt x="552545" y="86360"/>
                  </a:cubicBezTo>
                  <a:cubicBezTo>
                    <a:pt x="593185" y="86360"/>
                    <a:pt x="641445" y="113030"/>
                    <a:pt x="641445" y="190500"/>
                  </a:cubicBezTo>
                  <a:lnTo>
                    <a:pt x="641445" y="791210"/>
                  </a:lnTo>
                  <a:cubicBezTo>
                    <a:pt x="641445" y="815340"/>
                    <a:pt x="661765" y="835660"/>
                    <a:pt x="685895" y="835660"/>
                  </a:cubicBezTo>
                  <a:cubicBezTo>
                    <a:pt x="710025" y="835660"/>
                    <a:pt x="730345" y="815340"/>
                    <a:pt x="730345" y="791210"/>
                  </a:cubicBezTo>
                  <a:lnTo>
                    <a:pt x="730345" y="508000"/>
                  </a:lnTo>
                  <a:cubicBezTo>
                    <a:pt x="790035" y="505460"/>
                    <a:pt x="862425" y="511810"/>
                    <a:pt x="890365" y="535940"/>
                  </a:cubicBezTo>
                  <a:cubicBezTo>
                    <a:pt x="896715" y="542290"/>
                    <a:pt x="899255" y="548640"/>
                    <a:pt x="899255" y="557530"/>
                  </a:cubicBezTo>
                  <a:lnTo>
                    <a:pt x="899255" y="802640"/>
                  </a:lnTo>
                  <a:cubicBezTo>
                    <a:pt x="899255" y="826770"/>
                    <a:pt x="919575" y="847090"/>
                    <a:pt x="943705" y="847090"/>
                  </a:cubicBezTo>
                  <a:cubicBezTo>
                    <a:pt x="967835" y="847090"/>
                    <a:pt x="988155" y="826770"/>
                    <a:pt x="988155" y="802640"/>
                  </a:cubicBezTo>
                  <a:lnTo>
                    <a:pt x="988155" y="601980"/>
                  </a:lnTo>
                  <a:cubicBezTo>
                    <a:pt x="1036415" y="601980"/>
                    <a:pt x="1110075" y="607060"/>
                    <a:pt x="1138015" y="633730"/>
                  </a:cubicBezTo>
                  <a:cubicBezTo>
                    <a:pt x="1144365" y="640080"/>
                    <a:pt x="1146905" y="646430"/>
                    <a:pt x="1146905" y="655320"/>
                  </a:cubicBezTo>
                  <a:lnTo>
                    <a:pt x="1146905" y="894080"/>
                  </a:lnTo>
                  <a:cubicBezTo>
                    <a:pt x="1146905" y="918210"/>
                    <a:pt x="1167225" y="938530"/>
                    <a:pt x="1191355" y="938530"/>
                  </a:cubicBezTo>
                  <a:cubicBezTo>
                    <a:pt x="1215485" y="938530"/>
                    <a:pt x="1235805" y="918210"/>
                    <a:pt x="1235805" y="894080"/>
                  </a:cubicBezTo>
                  <a:lnTo>
                    <a:pt x="1235805" y="684530"/>
                  </a:lnTo>
                  <a:cubicBezTo>
                    <a:pt x="1285335" y="697230"/>
                    <a:pt x="1358995" y="731520"/>
                    <a:pt x="1362805" y="830580"/>
                  </a:cubicBezTo>
                  <a:lnTo>
                    <a:pt x="1364075" y="866140"/>
                  </a:lnTo>
                  <a:cubicBezTo>
                    <a:pt x="1369155" y="999490"/>
                    <a:pt x="1372965" y="1104900"/>
                    <a:pt x="1362805" y="1160780"/>
                  </a:cubicBezTo>
                  <a:close/>
                </a:path>
              </a:pathLst>
            </a:custGeom>
            <a:solidFill>
              <a:srgbClr val="005B52"/>
            </a:solidFill>
          </p:spPr>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0" y="8641080"/>
            <a:ext cx="9144000" cy="1645920"/>
          </a:xfrm>
          <a:custGeom>
            <a:avLst/>
            <a:gdLst/>
            <a:ahLst/>
            <a:cxnLst/>
            <a:rect l="l" t="t" r="r" b="b"/>
            <a:pathLst>
              <a:path w="9144000" h="1645920">
                <a:moveTo>
                  <a:pt x="0" y="0"/>
                </a:moveTo>
                <a:lnTo>
                  <a:pt x="9144000" y="0"/>
                </a:lnTo>
                <a:lnTo>
                  <a:pt x="9144000" y="1645920"/>
                </a:lnTo>
                <a:lnTo>
                  <a:pt x="0" y="164592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144000" y="8641080"/>
            <a:ext cx="9144000" cy="1645920"/>
          </a:xfrm>
          <a:custGeom>
            <a:avLst/>
            <a:gdLst/>
            <a:ahLst/>
            <a:cxnLst/>
            <a:rect l="l" t="t" r="r" b="b"/>
            <a:pathLst>
              <a:path w="9144000" h="1645920">
                <a:moveTo>
                  <a:pt x="0" y="0"/>
                </a:moveTo>
                <a:lnTo>
                  <a:pt x="9144000" y="0"/>
                </a:lnTo>
                <a:lnTo>
                  <a:pt x="9144000" y="1645920"/>
                </a:lnTo>
                <a:lnTo>
                  <a:pt x="0" y="164592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a:off x="14168012" y="0"/>
            <a:ext cx="2830804" cy="3620796"/>
          </a:xfrm>
          <a:custGeom>
            <a:avLst/>
            <a:gdLst/>
            <a:ahLst/>
            <a:cxnLst/>
            <a:rect l="l" t="t" r="r" b="b"/>
            <a:pathLst>
              <a:path w="2830804" h="3620796">
                <a:moveTo>
                  <a:pt x="2830804" y="0"/>
                </a:moveTo>
                <a:lnTo>
                  <a:pt x="0" y="0"/>
                </a:lnTo>
                <a:lnTo>
                  <a:pt x="0" y="3620796"/>
                </a:lnTo>
                <a:lnTo>
                  <a:pt x="2830804" y="3620796"/>
                </a:lnTo>
                <a:lnTo>
                  <a:pt x="2830804"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2152718" y="6018373"/>
            <a:ext cx="1598782" cy="2664636"/>
          </a:xfrm>
          <a:custGeom>
            <a:avLst/>
            <a:gdLst/>
            <a:ahLst/>
            <a:cxnLst/>
            <a:rect l="l" t="t" r="r" b="b"/>
            <a:pathLst>
              <a:path w="1598782" h="2664636">
                <a:moveTo>
                  <a:pt x="0" y="0"/>
                </a:moveTo>
                <a:lnTo>
                  <a:pt x="1598782" y="0"/>
                </a:lnTo>
                <a:lnTo>
                  <a:pt x="1598782" y="2664636"/>
                </a:lnTo>
                <a:lnTo>
                  <a:pt x="0" y="26646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418522" y="-123825"/>
            <a:ext cx="2231249" cy="2853923"/>
          </a:xfrm>
          <a:custGeom>
            <a:avLst/>
            <a:gdLst/>
            <a:ahLst/>
            <a:cxnLst/>
            <a:rect l="l" t="t" r="r" b="b"/>
            <a:pathLst>
              <a:path w="2231249" h="2853923">
                <a:moveTo>
                  <a:pt x="0" y="0"/>
                </a:moveTo>
                <a:lnTo>
                  <a:pt x="2231249" y="0"/>
                </a:lnTo>
                <a:lnTo>
                  <a:pt x="2231249" y="2853923"/>
                </a:lnTo>
                <a:lnTo>
                  <a:pt x="0" y="285392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657494" y="3620796"/>
            <a:ext cx="4589229" cy="1844223"/>
          </a:xfrm>
          <a:prstGeom prst="rect">
            <a:avLst/>
          </a:prstGeom>
        </p:spPr>
        <p:txBody>
          <a:bodyPr wrap="square" lIns="0" tIns="0" rIns="0" bIns="0" rtlCol="0" anchor="t">
            <a:spAutoFit/>
          </a:bodyPr>
          <a:lstStyle/>
          <a:p>
            <a:pPr marL="0" lvl="0" indent="0" algn="ctr">
              <a:lnSpc>
                <a:spcPts val="7568"/>
              </a:lnSpc>
              <a:spcBef>
                <a:spcPct val="0"/>
              </a:spcBef>
            </a:pPr>
            <a:r>
              <a:rPr lang="en-US" sz="5406" dirty="0">
                <a:solidFill>
                  <a:srgbClr val="2E1B5B"/>
                </a:solidFill>
                <a:latin typeface="HK Modular"/>
                <a:ea typeface="HK Modular"/>
                <a:cs typeface="HK Modular"/>
                <a:sym typeface="HK Modular"/>
              </a:rPr>
              <a:t>Fifth level </a:t>
            </a:r>
          </a:p>
        </p:txBody>
      </p:sp>
      <p:pic>
        <p:nvPicPr>
          <p:cNvPr id="20" name="صورة 19">
            <a:extLst>
              <a:ext uri="{FF2B5EF4-FFF2-40B4-BE49-F238E27FC236}">
                <a16:creationId xmlns:a16="http://schemas.microsoft.com/office/drawing/2014/main" id="{564B75F5-C004-EA67-2C27-64CAB2DFFC05}"/>
              </a:ext>
            </a:extLst>
          </p:cNvPr>
          <p:cNvPicPr>
            <a:picLocks noChangeAspect="1"/>
          </p:cNvPicPr>
          <p:nvPr/>
        </p:nvPicPr>
        <p:blipFill>
          <a:blip r:embed="rId5"/>
          <a:stretch>
            <a:fillRect/>
          </a:stretch>
        </p:blipFill>
        <p:spPr>
          <a:xfrm>
            <a:off x="5381546" y="150765"/>
            <a:ext cx="7524908" cy="835840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8"/>
                                        </p:tgtEl>
                                      </p:cBhvr>
                                    </p:animEffect>
                                    <p:animScale>
                                      <p:cBhvr>
                                        <p:cTn id="7" dur="25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grpSp>
        <p:nvGrpSpPr>
          <p:cNvPr id="2" name="Group 2"/>
          <p:cNvGrpSpPr/>
          <p:nvPr/>
        </p:nvGrpSpPr>
        <p:grpSpPr>
          <a:xfrm>
            <a:off x="9144000" y="-9450543"/>
            <a:ext cx="15976849" cy="1597684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F9FF"/>
            </a:solidFill>
            <a:ln cap="sq">
              <a:no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marL="0" lvl="0" indent="0" algn="ctr">
                <a:lnSpc>
                  <a:spcPts val="3214"/>
                </a:lnSpc>
                <a:spcBef>
                  <a:spcPct val="0"/>
                </a:spcBef>
              </a:pPr>
              <a:endParaRPr sz="2400"/>
            </a:p>
          </p:txBody>
        </p:sp>
      </p:grpSp>
      <p:sp>
        <p:nvSpPr>
          <p:cNvPr id="5" name="Freeform 5"/>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517401" y="7411839"/>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5489307" y="7389792"/>
            <a:ext cx="2804555" cy="1300294"/>
          </a:xfrm>
          <a:custGeom>
            <a:avLst/>
            <a:gdLst/>
            <a:ahLst/>
            <a:cxnLst/>
            <a:rect l="l" t="t" r="r" b="b"/>
            <a:pathLst>
              <a:path w="2804555" h="1300294">
                <a:moveTo>
                  <a:pt x="0" y="0"/>
                </a:moveTo>
                <a:lnTo>
                  <a:pt x="2804556" y="0"/>
                </a:lnTo>
                <a:lnTo>
                  <a:pt x="2804556" y="1300294"/>
                </a:lnTo>
                <a:lnTo>
                  <a:pt x="0" y="130029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AutoShape 9"/>
          <p:cNvSpPr/>
          <p:nvPr/>
        </p:nvSpPr>
        <p:spPr>
          <a:xfrm>
            <a:off x="3526321" y="2705100"/>
            <a:ext cx="11121802"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2237598" y="1204748"/>
            <a:ext cx="13812802" cy="1367106"/>
          </a:xfrm>
          <a:prstGeom prst="rect">
            <a:avLst/>
          </a:prstGeom>
        </p:spPr>
        <p:txBody>
          <a:bodyPr lIns="0" tIns="0" rIns="0" bIns="0" rtlCol="0" anchor="t">
            <a:spAutoFit/>
          </a:bodyPr>
          <a:lstStyle/>
          <a:p>
            <a:pPr lvl="0" algn="ctr">
              <a:lnSpc>
                <a:spcPts val="10381"/>
              </a:lnSpc>
              <a:spcBef>
                <a:spcPct val="0"/>
              </a:spcBef>
            </a:pPr>
            <a:r>
              <a:rPr lang="en-US" sz="9600" dirty="0">
                <a:solidFill>
                  <a:srgbClr val="2E1B5B"/>
                </a:solidFill>
                <a:latin typeface="HelveticaNeueLT Arabic 55 Roman" panose="020B0604020202020204" pitchFamily="34" charset="-78"/>
                <a:ea typeface="HK Modular"/>
                <a:cs typeface="HelveticaNeueLT Arabic 55 Roman" panose="020B0604020202020204" pitchFamily="34" charset="-78"/>
                <a:sym typeface="HK Modular"/>
              </a:rPr>
              <a:t>Results &amp; Conclusion</a:t>
            </a:r>
          </a:p>
        </p:txBody>
      </p:sp>
      <p:grpSp>
        <p:nvGrpSpPr>
          <p:cNvPr id="27" name="مجموعة 26">
            <a:extLst>
              <a:ext uri="{FF2B5EF4-FFF2-40B4-BE49-F238E27FC236}">
                <a16:creationId xmlns:a16="http://schemas.microsoft.com/office/drawing/2014/main" id="{FB6579A9-3795-3B06-7249-67EFFC6DE74D}"/>
              </a:ext>
            </a:extLst>
          </p:cNvPr>
          <p:cNvGrpSpPr/>
          <p:nvPr/>
        </p:nvGrpSpPr>
        <p:grpSpPr>
          <a:xfrm>
            <a:off x="3526321" y="3042013"/>
            <a:ext cx="1490034" cy="1591169"/>
            <a:chOff x="3526321" y="3666273"/>
            <a:chExt cx="1490034" cy="1591169"/>
          </a:xfrm>
        </p:grpSpPr>
        <p:sp>
          <p:nvSpPr>
            <p:cNvPr id="13" name="Freeform 13"/>
            <p:cNvSpPr/>
            <p:nvPr/>
          </p:nvSpPr>
          <p:spPr>
            <a:xfrm>
              <a:off x="3526321" y="3767408"/>
              <a:ext cx="1490034" cy="1490034"/>
            </a:xfrm>
            <a:custGeom>
              <a:avLst/>
              <a:gdLst/>
              <a:ahLst/>
              <a:cxnLst/>
              <a:rect l="l" t="t" r="r" b="b"/>
              <a:pathLst>
                <a:path w="1490034" h="1490034">
                  <a:moveTo>
                    <a:pt x="0" y="0"/>
                  </a:moveTo>
                  <a:lnTo>
                    <a:pt x="1490034" y="0"/>
                  </a:lnTo>
                  <a:lnTo>
                    <a:pt x="1490034" y="1490033"/>
                  </a:lnTo>
                  <a:lnTo>
                    <a:pt x="0" y="149003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3590705" y="3666273"/>
              <a:ext cx="1361266" cy="1442446"/>
            </a:xfrm>
            <a:prstGeom prst="rect">
              <a:avLst/>
            </a:prstGeom>
          </p:spPr>
          <p:txBody>
            <a:bodyPr lIns="0" tIns="0" rIns="0" bIns="0" rtlCol="0" anchor="t">
              <a:spAutoFit/>
            </a:bodyPr>
            <a:lstStyle/>
            <a:p>
              <a:pPr algn="ctr">
                <a:lnSpc>
                  <a:spcPts val="12248"/>
                </a:lnSpc>
              </a:pPr>
              <a:r>
                <a:rPr lang="en-US" sz="9600" b="1" dirty="0">
                  <a:solidFill>
                    <a:srgbClr val="FFFFFF"/>
                  </a:solidFill>
                  <a:latin typeface="Anonymous Pro Bold"/>
                  <a:ea typeface="Anonymous Pro Bold"/>
                  <a:cs typeface="Anonymous Pro Bold"/>
                  <a:sym typeface="Anonymous Pro Bold"/>
                </a:rPr>
                <a:t>A</a:t>
              </a:r>
            </a:p>
          </p:txBody>
        </p:sp>
      </p:grpSp>
      <p:grpSp>
        <p:nvGrpSpPr>
          <p:cNvPr id="28" name="مجموعة 27">
            <a:extLst>
              <a:ext uri="{FF2B5EF4-FFF2-40B4-BE49-F238E27FC236}">
                <a16:creationId xmlns:a16="http://schemas.microsoft.com/office/drawing/2014/main" id="{70DB406C-667F-8CB7-6BDA-D22C4B236DCB}"/>
              </a:ext>
            </a:extLst>
          </p:cNvPr>
          <p:cNvGrpSpPr/>
          <p:nvPr/>
        </p:nvGrpSpPr>
        <p:grpSpPr>
          <a:xfrm>
            <a:off x="6689535" y="3042013"/>
            <a:ext cx="1490034" cy="1591169"/>
            <a:chOff x="7428564" y="3666273"/>
            <a:chExt cx="1490034" cy="1591169"/>
          </a:xfrm>
        </p:grpSpPr>
        <p:sp>
          <p:nvSpPr>
            <p:cNvPr id="14" name="Freeform 14"/>
            <p:cNvSpPr/>
            <p:nvPr/>
          </p:nvSpPr>
          <p:spPr>
            <a:xfrm>
              <a:off x="7428564" y="3767408"/>
              <a:ext cx="1490034" cy="1490034"/>
            </a:xfrm>
            <a:custGeom>
              <a:avLst/>
              <a:gdLst/>
              <a:ahLst/>
              <a:cxnLst/>
              <a:rect l="l" t="t" r="r" b="b"/>
              <a:pathLst>
                <a:path w="1490034" h="1490034">
                  <a:moveTo>
                    <a:pt x="0" y="0"/>
                  </a:moveTo>
                  <a:lnTo>
                    <a:pt x="1490034" y="0"/>
                  </a:lnTo>
                  <a:lnTo>
                    <a:pt x="1490034" y="1490033"/>
                  </a:lnTo>
                  <a:lnTo>
                    <a:pt x="0" y="149003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TextBox 18"/>
            <p:cNvSpPr txBox="1"/>
            <p:nvPr/>
          </p:nvSpPr>
          <p:spPr>
            <a:xfrm>
              <a:off x="7492948" y="3666273"/>
              <a:ext cx="1361266" cy="1442446"/>
            </a:xfrm>
            <a:prstGeom prst="rect">
              <a:avLst/>
            </a:prstGeom>
          </p:spPr>
          <p:txBody>
            <a:bodyPr lIns="0" tIns="0" rIns="0" bIns="0" rtlCol="0" anchor="t">
              <a:spAutoFit/>
            </a:bodyPr>
            <a:lstStyle/>
            <a:p>
              <a:pPr algn="ctr">
                <a:lnSpc>
                  <a:spcPts val="12248"/>
                </a:lnSpc>
              </a:pPr>
              <a:r>
                <a:rPr lang="en-US" sz="9600" b="1" dirty="0">
                  <a:solidFill>
                    <a:srgbClr val="FFFFFF"/>
                  </a:solidFill>
                  <a:latin typeface="Anonymous Pro Bold"/>
                  <a:ea typeface="Anonymous Pro Bold"/>
                  <a:cs typeface="Anonymous Pro Bold"/>
                  <a:sym typeface="Anonymous Pro Bold"/>
                </a:rPr>
                <a:t>B</a:t>
              </a:r>
            </a:p>
          </p:txBody>
        </p:sp>
      </p:grpSp>
      <p:grpSp>
        <p:nvGrpSpPr>
          <p:cNvPr id="29" name="مجموعة 28">
            <a:extLst>
              <a:ext uri="{FF2B5EF4-FFF2-40B4-BE49-F238E27FC236}">
                <a16:creationId xmlns:a16="http://schemas.microsoft.com/office/drawing/2014/main" id="{7124337F-AFE7-BDBD-8BFD-B7289DA1BB25}"/>
              </a:ext>
            </a:extLst>
          </p:cNvPr>
          <p:cNvGrpSpPr/>
          <p:nvPr/>
        </p:nvGrpSpPr>
        <p:grpSpPr>
          <a:xfrm>
            <a:off x="9852749" y="3009900"/>
            <a:ext cx="1490034" cy="1591169"/>
            <a:chOff x="11330806" y="3634160"/>
            <a:chExt cx="1490034" cy="1591169"/>
          </a:xfrm>
        </p:grpSpPr>
        <p:sp>
          <p:nvSpPr>
            <p:cNvPr id="15" name="Freeform 15"/>
            <p:cNvSpPr/>
            <p:nvPr/>
          </p:nvSpPr>
          <p:spPr>
            <a:xfrm>
              <a:off x="11330806" y="3735295"/>
              <a:ext cx="1490034" cy="1490034"/>
            </a:xfrm>
            <a:custGeom>
              <a:avLst/>
              <a:gdLst/>
              <a:ahLst/>
              <a:cxnLst/>
              <a:rect l="l" t="t" r="r" b="b"/>
              <a:pathLst>
                <a:path w="1490034" h="1490034">
                  <a:moveTo>
                    <a:pt x="0" y="0"/>
                  </a:moveTo>
                  <a:lnTo>
                    <a:pt x="1490034" y="0"/>
                  </a:lnTo>
                  <a:lnTo>
                    <a:pt x="1490034" y="1490034"/>
                  </a:lnTo>
                  <a:lnTo>
                    <a:pt x="0" y="149003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11395190" y="3634160"/>
              <a:ext cx="1361266" cy="1442446"/>
            </a:xfrm>
            <a:prstGeom prst="rect">
              <a:avLst/>
            </a:prstGeom>
          </p:spPr>
          <p:txBody>
            <a:bodyPr lIns="0" tIns="0" rIns="0" bIns="0" rtlCol="0" anchor="t">
              <a:spAutoFit/>
            </a:bodyPr>
            <a:lstStyle/>
            <a:p>
              <a:pPr algn="ctr">
                <a:lnSpc>
                  <a:spcPts val="12248"/>
                </a:lnSpc>
              </a:pPr>
              <a:r>
                <a:rPr lang="en-US" sz="9600" b="1" dirty="0">
                  <a:solidFill>
                    <a:srgbClr val="FFFFFF"/>
                  </a:solidFill>
                  <a:latin typeface="Anonymous Pro Bold"/>
                  <a:ea typeface="Anonymous Pro Bold"/>
                  <a:cs typeface="Anonymous Pro Bold"/>
                  <a:sym typeface="Anonymous Pro Bold"/>
                </a:rPr>
                <a:t>C</a:t>
              </a:r>
            </a:p>
          </p:txBody>
        </p:sp>
      </p:grpSp>
      <p:sp>
        <p:nvSpPr>
          <p:cNvPr id="22" name="Freeform 22"/>
          <p:cNvSpPr/>
          <p:nvPr/>
        </p:nvSpPr>
        <p:spPr>
          <a:xfrm>
            <a:off x="15901473" y="2500713"/>
            <a:ext cx="4773054" cy="1162890"/>
          </a:xfrm>
          <a:custGeom>
            <a:avLst/>
            <a:gdLst/>
            <a:ahLst/>
            <a:cxnLst/>
            <a:rect l="l" t="t" r="r" b="b"/>
            <a:pathLst>
              <a:path w="4773054" h="1162890">
                <a:moveTo>
                  <a:pt x="0" y="0"/>
                </a:moveTo>
                <a:lnTo>
                  <a:pt x="4773054" y="0"/>
                </a:lnTo>
                <a:lnTo>
                  <a:pt x="4773054" y="1162890"/>
                </a:lnTo>
                <a:lnTo>
                  <a:pt x="0" y="116289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3" name="Freeform 23"/>
          <p:cNvSpPr/>
          <p:nvPr/>
        </p:nvSpPr>
        <p:spPr>
          <a:xfrm flipH="1">
            <a:off x="-1953962" y="454551"/>
            <a:ext cx="4509584" cy="2041612"/>
          </a:xfrm>
          <a:custGeom>
            <a:avLst/>
            <a:gdLst/>
            <a:ahLst/>
            <a:cxnLst/>
            <a:rect l="l" t="t" r="r" b="b"/>
            <a:pathLst>
              <a:path w="4509584" h="2041612">
                <a:moveTo>
                  <a:pt x="4509584" y="0"/>
                </a:moveTo>
                <a:lnTo>
                  <a:pt x="0" y="0"/>
                </a:lnTo>
                <a:lnTo>
                  <a:pt x="0" y="2041612"/>
                </a:lnTo>
                <a:lnTo>
                  <a:pt x="4509584" y="2041612"/>
                </a:lnTo>
                <a:lnTo>
                  <a:pt x="4509584" y="0"/>
                </a:lnTo>
                <a:close/>
              </a:path>
            </a:pathLst>
          </a:custGeom>
          <a:blipFill>
            <a:blip>
              <a:extLst>
                <a:ext uri="{96DAC541-7B7A-43D3-8B79-37D633B846F1}">
                  <asvg:svgBlip xmlns:asvg="http://schemas.microsoft.com/office/drawing/2016/SVG/main" r:embed="rId7"/>
                </a:ext>
              </a:extLst>
            </a:blip>
            <a:stretch>
              <a:fillRect/>
            </a:stretch>
          </a:blipFill>
        </p:spPr>
      </p:sp>
      <p:sp>
        <p:nvSpPr>
          <p:cNvPr id="24" name="Freeform 24"/>
          <p:cNvSpPr/>
          <p:nvPr/>
        </p:nvSpPr>
        <p:spPr>
          <a:xfrm>
            <a:off x="14135255" y="454551"/>
            <a:ext cx="2911262" cy="709289"/>
          </a:xfrm>
          <a:custGeom>
            <a:avLst/>
            <a:gdLst/>
            <a:ahLst/>
            <a:cxnLst/>
            <a:rect l="l" t="t" r="r" b="b"/>
            <a:pathLst>
              <a:path w="2911262" h="709289">
                <a:moveTo>
                  <a:pt x="0" y="0"/>
                </a:moveTo>
                <a:lnTo>
                  <a:pt x="2911262" y="0"/>
                </a:lnTo>
                <a:lnTo>
                  <a:pt x="2911262" y="709289"/>
                </a:lnTo>
                <a:lnTo>
                  <a:pt x="0" y="709289"/>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30" name="مجموعة 29">
            <a:extLst>
              <a:ext uri="{FF2B5EF4-FFF2-40B4-BE49-F238E27FC236}">
                <a16:creationId xmlns:a16="http://schemas.microsoft.com/office/drawing/2014/main" id="{D85896EB-7F0C-8DDA-1A50-24AD6E144BA3}"/>
              </a:ext>
            </a:extLst>
          </p:cNvPr>
          <p:cNvGrpSpPr/>
          <p:nvPr/>
        </p:nvGrpSpPr>
        <p:grpSpPr>
          <a:xfrm>
            <a:off x="13015962" y="3026750"/>
            <a:ext cx="1490034" cy="1591169"/>
            <a:chOff x="13015962" y="3651010"/>
            <a:chExt cx="1490034" cy="1591169"/>
          </a:xfrm>
        </p:grpSpPr>
        <p:sp>
          <p:nvSpPr>
            <p:cNvPr id="25" name="Freeform 15">
              <a:extLst>
                <a:ext uri="{FF2B5EF4-FFF2-40B4-BE49-F238E27FC236}">
                  <a16:creationId xmlns:a16="http://schemas.microsoft.com/office/drawing/2014/main" id="{117BF7A0-562E-16E0-8BA2-03624C46B9ED}"/>
                </a:ext>
              </a:extLst>
            </p:cNvPr>
            <p:cNvSpPr/>
            <p:nvPr/>
          </p:nvSpPr>
          <p:spPr>
            <a:xfrm>
              <a:off x="13015962" y="3752145"/>
              <a:ext cx="1490034" cy="1490034"/>
            </a:xfrm>
            <a:custGeom>
              <a:avLst/>
              <a:gdLst/>
              <a:ahLst/>
              <a:cxnLst/>
              <a:rect l="l" t="t" r="r" b="b"/>
              <a:pathLst>
                <a:path w="1490034" h="1490034">
                  <a:moveTo>
                    <a:pt x="0" y="0"/>
                  </a:moveTo>
                  <a:lnTo>
                    <a:pt x="1490034" y="0"/>
                  </a:lnTo>
                  <a:lnTo>
                    <a:pt x="1490034" y="1490034"/>
                  </a:lnTo>
                  <a:lnTo>
                    <a:pt x="0" y="149003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6" name="TextBox 19">
              <a:extLst>
                <a:ext uri="{FF2B5EF4-FFF2-40B4-BE49-F238E27FC236}">
                  <a16:creationId xmlns:a16="http://schemas.microsoft.com/office/drawing/2014/main" id="{F06B3399-0A3B-329A-798C-3E034C2DF084}"/>
                </a:ext>
              </a:extLst>
            </p:cNvPr>
            <p:cNvSpPr txBox="1"/>
            <p:nvPr/>
          </p:nvSpPr>
          <p:spPr>
            <a:xfrm>
              <a:off x="13080346" y="3651010"/>
              <a:ext cx="1361266" cy="1442446"/>
            </a:xfrm>
            <a:prstGeom prst="rect">
              <a:avLst/>
            </a:prstGeom>
          </p:spPr>
          <p:txBody>
            <a:bodyPr lIns="0" tIns="0" rIns="0" bIns="0" rtlCol="0" anchor="t">
              <a:spAutoFit/>
            </a:bodyPr>
            <a:lstStyle/>
            <a:p>
              <a:pPr algn="ctr">
                <a:lnSpc>
                  <a:spcPts val="12248"/>
                </a:lnSpc>
              </a:pPr>
              <a:r>
                <a:rPr lang="en-US" sz="9600" b="1" dirty="0">
                  <a:solidFill>
                    <a:srgbClr val="FFFFFF"/>
                  </a:solidFill>
                  <a:latin typeface="Anonymous Pro Bold"/>
                  <a:ea typeface="Anonymous Pro Bold"/>
                  <a:cs typeface="Anonymous Pro Bold"/>
                  <a:sym typeface="Anonymous Pro Bold"/>
                </a:rPr>
                <a:t>D</a:t>
              </a:r>
            </a:p>
          </p:txBody>
        </p:sp>
      </p:grpSp>
      <p:sp>
        <p:nvSpPr>
          <p:cNvPr id="31" name="Rectangle 1">
            <a:extLst>
              <a:ext uri="{FF2B5EF4-FFF2-40B4-BE49-F238E27FC236}">
                <a16:creationId xmlns:a16="http://schemas.microsoft.com/office/drawing/2014/main" id="{0E8806B6-A270-476C-1D55-31B32F768E9D}"/>
              </a:ext>
            </a:extLst>
          </p:cNvPr>
          <p:cNvSpPr>
            <a:spLocks noChangeArrowheads="1"/>
          </p:cNvSpPr>
          <p:nvPr/>
        </p:nvSpPr>
        <p:spPr bwMode="auto">
          <a:xfrm>
            <a:off x="2952846" y="4734317"/>
            <a:ext cx="25203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2E1B5B"/>
                </a:solidFill>
                <a:effectLst/>
                <a:latin typeface="HelveticaNeueLT Arabic 55 Roman" panose="020B0604020202020204" pitchFamily="34" charset="-78"/>
                <a:cs typeface="HelveticaNeueLT Arabic 55 Roman" panose="020B0604020202020204" pitchFamily="34" charset="-78"/>
              </a:rPr>
              <a:t>Efficiently solves beginner and intermediate levels</a:t>
            </a:r>
          </a:p>
        </p:txBody>
      </p:sp>
      <p:sp>
        <p:nvSpPr>
          <p:cNvPr id="32" name="Rectangle 2">
            <a:extLst>
              <a:ext uri="{FF2B5EF4-FFF2-40B4-BE49-F238E27FC236}">
                <a16:creationId xmlns:a16="http://schemas.microsoft.com/office/drawing/2014/main" id="{BE3159AD-403F-B4D3-2A73-627BB011003E}"/>
              </a:ext>
            </a:extLst>
          </p:cNvPr>
          <p:cNvSpPr>
            <a:spLocks noChangeArrowheads="1"/>
          </p:cNvSpPr>
          <p:nvPr/>
        </p:nvSpPr>
        <p:spPr bwMode="auto">
          <a:xfrm>
            <a:off x="6174352" y="4734317"/>
            <a:ext cx="25204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2E1B5B"/>
                </a:solidFill>
                <a:effectLst/>
                <a:latin typeface="HelveticaNeueLT Arabic 55 Roman" panose="020B0604020202020204" pitchFamily="34" charset="-78"/>
                <a:cs typeface="HelveticaNeueLT Arabic 55 Roman" panose="020B0604020202020204" pitchFamily="34" charset="-78"/>
              </a:rPr>
              <a:t>Advanced levels require longer search times</a:t>
            </a:r>
          </a:p>
        </p:txBody>
      </p:sp>
      <p:sp>
        <p:nvSpPr>
          <p:cNvPr id="33" name="Rectangle 3">
            <a:extLst>
              <a:ext uri="{FF2B5EF4-FFF2-40B4-BE49-F238E27FC236}">
                <a16:creationId xmlns:a16="http://schemas.microsoft.com/office/drawing/2014/main" id="{620054CD-499F-D304-2823-0BA58FACCF82}"/>
              </a:ext>
            </a:extLst>
          </p:cNvPr>
          <p:cNvSpPr>
            <a:spLocks noChangeArrowheads="1"/>
          </p:cNvSpPr>
          <p:nvPr/>
        </p:nvSpPr>
        <p:spPr bwMode="auto">
          <a:xfrm>
            <a:off x="9042657" y="4734317"/>
            <a:ext cx="304762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2E1B5B"/>
                </a:solidFill>
                <a:effectLst/>
                <a:latin typeface="HelveticaNeueLT Arabic 55 Roman" panose="020B0604020202020204" pitchFamily="34" charset="-78"/>
                <a:cs typeface="HelveticaNeueLT Arabic 55 Roman" panose="020B0604020202020204" pitchFamily="34" charset="-78"/>
              </a:rPr>
              <a:t>Combines Artificial Intelligence algorithms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2E1B5B"/>
                </a:solidFill>
                <a:effectLst/>
                <a:latin typeface="HelveticaNeueLT Arabic 55 Roman" panose="020B0604020202020204" pitchFamily="34" charset="-78"/>
                <a:cs typeface="HelveticaNeueLT Arabic 55 Roman" panose="020B0604020202020204" pitchFamily="34" charset="-78"/>
              </a:rPr>
              <a:t>with practical implementation</a:t>
            </a:r>
          </a:p>
        </p:txBody>
      </p:sp>
      <p:sp>
        <p:nvSpPr>
          <p:cNvPr id="35" name="مربع نص 34">
            <a:extLst>
              <a:ext uri="{FF2B5EF4-FFF2-40B4-BE49-F238E27FC236}">
                <a16:creationId xmlns:a16="http://schemas.microsoft.com/office/drawing/2014/main" id="{856704FD-BFDB-B7EA-098D-55834CFE2F8A}"/>
              </a:ext>
            </a:extLst>
          </p:cNvPr>
          <p:cNvSpPr txBox="1"/>
          <p:nvPr/>
        </p:nvSpPr>
        <p:spPr>
          <a:xfrm>
            <a:off x="12237165" y="4734317"/>
            <a:ext cx="3252141" cy="3539430"/>
          </a:xfrm>
          <a:prstGeom prst="rect">
            <a:avLst/>
          </a:prstGeom>
          <a:noFill/>
        </p:spPr>
        <p:txBody>
          <a:bodyPr wrap="square">
            <a:spAutoFit/>
          </a:bodyPr>
          <a:lstStyle/>
          <a:p>
            <a:pPr algn="ctr"/>
            <a:r>
              <a:rPr lang="en-US" sz="3200" dirty="0">
                <a:solidFill>
                  <a:srgbClr val="2E1B5B"/>
                </a:solidFill>
                <a:latin typeface="HelveticaNeueLT Arabic 55 Roman" panose="020B0604020202020204" pitchFamily="34" charset="-78"/>
                <a:cs typeface="HelveticaNeueLT Arabic 55 Roman" panose="020B0604020202020204" pitchFamily="34" charset="-78"/>
              </a:rPr>
              <a:t>Provides a strong educational platform for learning search algorithms and problem solving</a:t>
            </a:r>
            <a:endParaRPr lang="ar-SY" sz="3200" dirty="0">
              <a:solidFill>
                <a:srgbClr val="2E1B5B"/>
              </a:solidFill>
              <a:latin typeface="HelveticaNeueLT Arabic 55 Roman" panose="020B0604020202020204" pitchFamily="34" charset="-78"/>
              <a:cs typeface="HelveticaNeueLT Arabic 55 Roman" panose="020B0604020202020204" pitchFamily="34" charset="-78"/>
            </a:endParaRPr>
          </a:p>
        </p:txBody>
      </p:sp>
      <p:sp>
        <p:nvSpPr>
          <p:cNvPr id="11" name="Freeform 7">
            <a:extLst>
              <a:ext uri="{FF2B5EF4-FFF2-40B4-BE49-F238E27FC236}">
                <a16:creationId xmlns:a16="http://schemas.microsoft.com/office/drawing/2014/main" id="{27D2C369-C0B1-7A80-6025-B6A28F2D439A}"/>
              </a:ext>
            </a:extLst>
          </p:cNvPr>
          <p:cNvSpPr/>
          <p:nvPr/>
        </p:nvSpPr>
        <p:spPr>
          <a:xfrm>
            <a:off x="1164362" y="7411839"/>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7">
            <a:extLst>
              <a:ext uri="{FF2B5EF4-FFF2-40B4-BE49-F238E27FC236}">
                <a16:creationId xmlns:a16="http://schemas.microsoft.com/office/drawing/2014/main" id="{52447D90-D1D5-30E7-F345-F2C67A0ED29E}"/>
              </a:ext>
            </a:extLst>
          </p:cNvPr>
          <p:cNvSpPr/>
          <p:nvPr/>
        </p:nvSpPr>
        <p:spPr>
          <a:xfrm>
            <a:off x="1811323" y="7411839"/>
            <a:ext cx="511299" cy="1278247"/>
          </a:xfrm>
          <a:custGeom>
            <a:avLst/>
            <a:gdLst/>
            <a:ahLst/>
            <a:cxnLst/>
            <a:rect l="l" t="t" r="r" b="b"/>
            <a:pathLst>
              <a:path w="511299" h="1278247">
                <a:moveTo>
                  <a:pt x="0" y="0"/>
                </a:moveTo>
                <a:lnTo>
                  <a:pt x="511299" y="0"/>
                </a:lnTo>
                <a:lnTo>
                  <a:pt x="511299" y="1278247"/>
                </a:lnTo>
                <a:lnTo>
                  <a:pt x="0" y="1278247"/>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2455552" y="5976596"/>
            <a:ext cx="1445550" cy="2713489"/>
          </a:xfrm>
          <a:custGeom>
            <a:avLst/>
            <a:gdLst/>
            <a:ahLst/>
            <a:cxnLst/>
            <a:rect l="l" t="t" r="r" b="b"/>
            <a:pathLst>
              <a:path w="1445550" h="2713489">
                <a:moveTo>
                  <a:pt x="0" y="0"/>
                </a:moveTo>
                <a:lnTo>
                  <a:pt x="1445550" y="0"/>
                </a:lnTo>
                <a:lnTo>
                  <a:pt x="1445550" y="2713490"/>
                </a:lnTo>
                <a:lnTo>
                  <a:pt x="0" y="271349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050401" y="5566472"/>
            <a:ext cx="1681072" cy="3123613"/>
          </a:xfrm>
          <a:custGeom>
            <a:avLst/>
            <a:gdLst/>
            <a:ahLst/>
            <a:cxnLst/>
            <a:rect l="l" t="t" r="r" b="b"/>
            <a:pathLst>
              <a:path w="1681072" h="3123613">
                <a:moveTo>
                  <a:pt x="0" y="0"/>
                </a:moveTo>
                <a:lnTo>
                  <a:pt x="1681072" y="0"/>
                </a:lnTo>
                <a:lnTo>
                  <a:pt x="1681072" y="3123613"/>
                </a:lnTo>
                <a:lnTo>
                  <a:pt x="0" y="31236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5910616" y="2397630"/>
            <a:ext cx="6689788" cy="1143346"/>
          </a:xfrm>
          <a:custGeom>
            <a:avLst/>
            <a:gdLst/>
            <a:ahLst/>
            <a:cxnLst/>
            <a:rect l="l" t="t" r="r" b="b"/>
            <a:pathLst>
              <a:path w="6689788" h="1143346">
                <a:moveTo>
                  <a:pt x="0" y="0"/>
                </a:moveTo>
                <a:lnTo>
                  <a:pt x="6689788" y="0"/>
                </a:lnTo>
                <a:lnTo>
                  <a:pt x="6689788" y="1143346"/>
                </a:lnTo>
                <a:lnTo>
                  <a:pt x="0" y="11433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2177018" y="4478545"/>
            <a:ext cx="4354036" cy="4211541"/>
          </a:xfrm>
          <a:custGeom>
            <a:avLst/>
            <a:gdLst/>
            <a:ahLst/>
            <a:cxnLst/>
            <a:rect l="l" t="t" r="r" b="b"/>
            <a:pathLst>
              <a:path w="4354036" h="4211541">
                <a:moveTo>
                  <a:pt x="0" y="0"/>
                </a:moveTo>
                <a:lnTo>
                  <a:pt x="4354036" y="0"/>
                </a:lnTo>
                <a:lnTo>
                  <a:pt x="4354036" y="4211541"/>
                </a:lnTo>
                <a:lnTo>
                  <a:pt x="0" y="42115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6628293" y="1125211"/>
            <a:ext cx="748490" cy="748490"/>
          </a:xfrm>
          <a:custGeom>
            <a:avLst/>
            <a:gdLst/>
            <a:ahLst/>
            <a:cxnLst/>
            <a:rect l="l" t="t" r="r" b="b"/>
            <a:pathLst>
              <a:path w="748490" h="748490">
                <a:moveTo>
                  <a:pt x="0" y="0"/>
                </a:moveTo>
                <a:lnTo>
                  <a:pt x="748489" y="0"/>
                </a:lnTo>
                <a:lnTo>
                  <a:pt x="748489" y="748490"/>
                </a:lnTo>
                <a:lnTo>
                  <a:pt x="0" y="748490"/>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9" name="Group 9"/>
          <p:cNvGrpSpPr/>
          <p:nvPr/>
        </p:nvGrpSpPr>
        <p:grpSpPr>
          <a:xfrm flipV="1">
            <a:off x="6705600" y="6021816"/>
            <a:ext cx="9345721" cy="2245880"/>
            <a:chOff x="0" y="0"/>
            <a:chExt cx="14535574" cy="3033896"/>
          </a:xfrm>
        </p:grpSpPr>
        <p:sp>
          <p:nvSpPr>
            <p:cNvPr id="10" name="Freeform 10"/>
            <p:cNvSpPr/>
            <p:nvPr/>
          </p:nvSpPr>
          <p:spPr>
            <a:xfrm>
              <a:off x="0" y="0"/>
              <a:ext cx="14535575" cy="3033896"/>
            </a:xfrm>
            <a:custGeom>
              <a:avLst/>
              <a:gdLst/>
              <a:ahLst/>
              <a:cxnLst/>
              <a:rect l="l" t="t" r="r" b="b"/>
              <a:pathLst>
                <a:path w="14535575" h="3033896">
                  <a:moveTo>
                    <a:pt x="496570" y="0"/>
                  </a:moveTo>
                  <a:lnTo>
                    <a:pt x="496570" y="3033896"/>
                  </a:lnTo>
                  <a:lnTo>
                    <a:pt x="12789324" y="3033896"/>
                  </a:lnTo>
                  <a:lnTo>
                    <a:pt x="12789324" y="0"/>
                  </a:lnTo>
                  <a:cubicBezTo>
                    <a:pt x="12789324" y="0"/>
                    <a:pt x="496570" y="0"/>
                    <a:pt x="496570" y="0"/>
                  </a:cubicBezTo>
                  <a:close/>
                  <a:moveTo>
                    <a:pt x="13285894" y="485006"/>
                  </a:moveTo>
                  <a:lnTo>
                    <a:pt x="13285894" y="455887"/>
                  </a:lnTo>
                  <a:cubicBezTo>
                    <a:pt x="13285894" y="222250"/>
                    <a:pt x="13063644" y="0"/>
                    <a:pt x="12789324" y="0"/>
                  </a:cubicBezTo>
                  <a:lnTo>
                    <a:pt x="12789324" y="3033896"/>
                  </a:lnTo>
                  <a:cubicBezTo>
                    <a:pt x="13063644" y="3033896"/>
                    <a:pt x="13285894" y="2811646"/>
                    <a:pt x="13285894" y="2537326"/>
                  </a:cubicBezTo>
                  <a:lnTo>
                    <a:pt x="13285894" y="957446"/>
                  </a:lnTo>
                  <a:cubicBezTo>
                    <a:pt x="13793894" y="972686"/>
                    <a:pt x="14298084" y="948556"/>
                    <a:pt x="14535575" y="991736"/>
                  </a:cubicBezTo>
                  <a:cubicBezTo>
                    <a:pt x="14131714" y="805046"/>
                    <a:pt x="13697375" y="669156"/>
                    <a:pt x="13285894" y="485006"/>
                  </a:cubicBezTo>
                  <a:close/>
                  <a:moveTo>
                    <a:pt x="0" y="455887"/>
                  </a:moveTo>
                  <a:lnTo>
                    <a:pt x="0" y="2537326"/>
                  </a:lnTo>
                  <a:cubicBezTo>
                    <a:pt x="0" y="2811646"/>
                    <a:pt x="222250" y="3033896"/>
                    <a:pt x="496570" y="3033896"/>
                  </a:cubicBezTo>
                  <a:lnTo>
                    <a:pt x="496570" y="0"/>
                  </a:lnTo>
                  <a:cubicBezTo>
                    <a:pt x="222250" y="0"/>
                    <a:pt x="0" y="222250"/>
                    <a:pt x="0" y="455887"/>
                  </a:cubicBezTo>
                  <a:close/>
                </a:path>
              </a:pathLst>
            </a:custGeom>
            <a:solidFill>
              <a:srgbClr val="F0F9FF"/>
            </a:solidFill>
          </p:spPr>
        </p:sp>
      </p:grpSp>
      <p:grpSp>
        <p:nvGrpSpPr>
          <p:cNvPr id="11" name="Group 11"/>
          <p:cNvGrpSpPr/>
          <p:nvPr/>
        </p:nvGrpSpPr>
        <p:grpSpPr>
          <a:xfrm>
            <a:off x="1600200" y="2705099"/>
            <a:ext cx="7151223" cy="3271497"/>
            <a:chOff x="0" y="0"/>
            <a:chExt cx="16062488" cy="5016591"/>
          </a:xfrm>
        </p:grpSpPr>
        <p:sp>
          <p:nvSpPr>
            <p:cNvPr id="12" name="Freeform 12"/>
            <p:cNvSpPr/>
            <p:nvPr/>
          </p:nvSpPr>
          <p:spPr>
            <a:xfrm>
              <a:off x="0" y="0"/>
              <a:ext cx="16062488" cy="5016591"/>
            </a:xfrm>
            <a:custGeom>
              <a:avLst/>
              <a:gdLst/>
              <a:ahLst/>
              <a:cxnLst/>
              <a:rect l="l" t="t" r="r" b="b"/>
              <a:pathLst>
                <a:path w="16062488" h="5016591">
                  <a:moveTo>
                    <a:pt x="16062488" y="439420"/>
                  </a:moveTo>
                  <a:lnTo>
                    <a:pt x="16062488" y="3330031"/>
                  </a:lnTo>
                  <a:cubicBezTo>
                    <a:pt x="16062488" y="3572601"/>
                    <a:pt x="15865638" y="3769451"/>
                    <a:pt x="15623068" y="3769451"/>
                  </a:cubicBezTo>
                  <a:lnTo>
                    <a:pt x="1780540" y="3769451"/>
                  </a:lnTo>
                  <a:cubicBezTo>
                    <a:pt x="1925320" y="4196171"/>
                    <a:pt x="2146300" y="4598761"/>
                    <a:pt x="2298700" y="5016591"/>
                  </a:cubicBezTo>
                  <a:cubicBezTo>
                    <a:pt x="2123440" y="4762591"/>
                    <a:pt x="1510030" y="4246971"/>
                    <a:pt x="1162050" y="3769451"/>
                  </a:cubicBezTo>
                  <a:lnTo>
                    <a:pt x="439420" y="3769451"/>
                  </a:lnTo>
                  <a:cubicBezTo>
                    <a:pt x="196850" y="3769451"/>
                    <a:pt x="0" y="3572601"/>
                    <a:pt x="0" y="3330032"/>
                  </a:cubicBezTo>
                  <a:lnTo>
                    <a:pt x="0" y="439420"/>
                  </a:lnTo>
                  <a:cubicBezTo>
                    <a:pt x="0" y="196850"/>
                    <a:pt x="196850" y="0"/>
                    <a:pt x="439420" y="0"/>
                  </a:cubicBezTo>
                  <a:lnTo>
                    <a:pt x="15623068" y="0"/>
                  </a:lnTo>
                  <a:cubicBezTo>
                    <a:pt x="15865638" y="0"/>
                    <a:pt x="16062488" y="196850"/>
                    <a:pt x="16062488" y="439420"/>
                  </a:cubicBezTo>
                  <a:close/>
                </a:path>
              </a:pathLst>
            </a:custGeom>
            <a:solidFill>
              <a:srgbClr val="F0F9FF"/>
            </a:solidFill>
          </p:spPr>
        </p:sp>
      </p:grpSp>
      <p:sp>
        <p:nvSpPr>
          <p:cNvPr id="13" name="Freeform 13"/>
          <p:cNvSpPr/>
          <p:nvPr/>
        </p:nvSpPr>
        <p:spPr>
          <a:xfrm rot="-1018533">
            <a:off x="816080" y="445347"/>
            <a:ext cx="2721875" cy="2108216"/>
          </a:xfrm>
          <a:custGeom>
            <a:avLst/>
            <a:gdLst/>
            <a:ahLst/>
            <a:cxnLst/>
            <a:rect l="l" t="t" r="r" b="b"/>
            <a:pathLst>
              <a:path w="2721875" h="2108216">
                <a:moveTo>
                  <a:pt x="0" y="0"/>
                </a:moveTo>
                <a:lnTo>
                  <a:pt x="2721874" y="0"/>
                </a:lnTo>
                <a:lnTo>
                  <a:pt x="2721874" y="2108216"/>
                </a:lnTo>
                <a:lnTo>
                  <a:pt x="0" y="210821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6" name="TextBox 16"/>
          <p:cNvSpPr txBox="1"/>
          <p:nvPr/>
        </p:nvSpPr>
        <p:spPr>
          <a:xfrm>
            <a:off x="2237599" y="1303"/>
            <a:ext cx="13812802" cy="2487861"/>
          </a:xfrm>
          <a:prstGeom prst="rect">
            <a:avLst/>
          </a:prstGeom>
        </p:spPr>
        <p:txBody>
          <a:bodyPr lIns="0" tIns="0" rIns="0" bIns="0" rtlCol="0" anchor="t">
            <a:spAutoFit/>
          </a:bodyPr>
          <a:lstStyle/>
          <a:p>
            <a:pPr marL="0" marR="0" lvl="0" indent="0" algn="ctr" defTabSz="914400" rtl="0" eaLnBrk="1" fontAlgn="auto" latinLnBrk="0" hangingPunct="1">
              <a:lnSpc>
                <a:spcPts val="10381"/>
              </a:lnSpc>
              <a:spcBef>
                <a:spcPct val="0"/>
              </a:spcBef>
              <a:spcAft>
                <a:spcPts val="0"/>
              </a:spcAft>
              <a:buClrTx/>
              <a:buSzTx/>
              <a:buFontTx/>
              <a:buNone/>
              <a:tabLst/>
              <a:defRPr/>
            </a:pPr>
            <a:r>
              <a:rPr kumimoji="0" lang="en-US" sz="6000" b="0" i="0" u="none" strike="noStrike" kern="1200" cap="none" spc="0" normalizeH="0" baseline="0" noProof="0" dirty="0">
                <a:ln>
                  <a:noFill/>
                </a:ln>
                <a:solidFill>
                  <a:srgbClr val="2E1B5B"/>
                </a:solidFill>
                <a:effectLst/>
                <a:uLnTx/>
                <a:uFillTx/>
                <a:latin typeface="HK Modular"/>
                <a:ea typeface="HK Modular"/>
                <a:cs typeface="HK Modular"/>
                <a:sym typeface="HK Modular"/>
              </a:rPr>
              <a:t>Future </a:t>
            </a:r>
          </a:p>
          <a:p>
            <a:pPr marL="0" marR="0" lvl="0" indent="0" algn="ctr" defTabSz="914400" rtl="0" eaLnBrk="1" fontAlgn="auto" latinLnBrk="0" hangingPunct="1">
              <a:lnSpc>
                <a:spcPts val="10381"/>
              </a:lnSpc>
              <a:spcBef>
                <a:spcPct val="0"/>
              </a:spcBef>
              <a:spcAft>
                <a:spcPts val="0"/>
              </a:spcAft>
              <a:buClrTx/>
              <a:buSzTx/>
              <a:buFontTx/>
              <a:buNone/>
              <a:tabLst/>
              <a:defRPr/>
            </a:pPr>
            <a:r>
              <a:rPr kumimoji="0" lang="en-US" sz="6000" b="0" i="0" u="none" strike="noStrike" kern="1200" cap="none" spc="0" normalizeH="0" baseline="0" noProof="0" dirty="0">
                <a:ln>
                  <a:noFill/>
                </a:ln>
                <a:solidFill>
                  <a:srgbClr val="2E1B5B"/>
                </a:solidFill>
                <a:effectLst/>
                <a:uLnTx/>
                <a:uFillTx/>
                <a:latin typeface="HK Modular"/>
                <a:ea typeface="HK Modular"/>
                <a:cs typeface="HK Modular"/>
                <a:sym typeface="HK Modular"/>
              </a:rPr>
              <a:t>Improvements</a:t>
            </a:r>
          </a:p>
        </p:txBody>
      </p:sp>
      <p:sp>
        <p:nvSpPr>
          <p:cNvPr id="18" name="TextBox 18"/>
          <p:cNvSpPr txBox="1"/>
          <p:nvPr/>
        </p:nvSpPr>
        <p:spPr>
          <a:xfrm>
            <a:off x="1891432" y="2950201"/>
            <a:ext cx="8453477" cy="1899751"/>
          </a:xfrm>
          <a:prstGeom prst="rect">
            <a:avLst/>
          </a:prstGeom>
        </p:spPr>
        <p:txBody>
          <a:bodyPr wrap="square" lIns="0" tIns="0" rIns="0" bIns="0" rtlCol="0" anchor="t">
            <a:spAutoFit/>
          </a:bodyPr>
          <a:lstStyle/>
          <a:p>
            <a:pPr marL="571500" marR="0" lvl="0" indent="-571500" algn="l" defTabSz="914400" rtl="0" eaLnBrk="1" fontAlgn="auto" latinLnBrk="0" hangingPunct="1">
              <a:lnSpc>
                <a:spcPts val="5056"/>
              </a:lnSpc>
              <a:spcBef>
                <a:spcPts val="0"/>
              </a:spcBef>
              <a:spcAft>
                <a:spcPts val="0"/>
              </a:spcAft>
              <a:buClrTx/>
              <a:buSzTx/>
              <a:buFont typeface="Courier New" panose="02070309020205020404" pitchFamily="49" charset="0"/>
              <a:buChar char="o"/>
              <a:tabLst/>
              <a:defRPr/>
            </a:pPr>
            <a:r>
              <a:rPr kumimoji="0" lang="en-US" sz="2800" b="1" i="0"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Implement IDA* Search</a:t>
            </a:r>
          </a:p>
          <a:p>
            <a:pPr marL="571500" marR="0" lvl="0" indent="-571500" algn="l" defTabSz="914400" rtl="0" eaLnBrk="1" fontAlgn="auto" latinLnBrk="0" hangingPunct="1">
              <a:lnSpc>
                <a:spcPts val="5056"/>
              </a:lnSpc>
              <a:spcBef>
                <a:spcPts val="0"/>
              </a:spcBef>
              <a:spcAft>
                <a:spcPts val="0"/>
              </a:spcAft>
              <a:buClrTx/>
              <a:buSzTx/>
              <a:buFont typeface="Courier New" panose="02070309020205020404" pitchFamily="49" charset="0"/>
              <a:buChar char="o"/>
              <a:tabLst/>
              <a:defRPr/>
            </a:pPr>
            <a:r>
              <a:rPr kumimoji="0" lang="en-US" sz="2800" b="1" i="0"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Add Pattern Database Heuristics</a:t>
            </a:r>
          </a:p>
          <a:p>
            <a:pPr marL="571500" marR="0" lvl="0" indent="-571500" algn="l" defTabSz="914400" rtl="0" eaLnBrk="1" fontAlgn="auto" latinLnBrk="0" hangingPunct="1">
              <a:lnSpc>
                <a:spcPts val="5056"/>
              </a:lnSpc>
              <a:spcBef>
                <a:spcPts val="0"/>
              </a:spcBef>
              <a:spcAft>
                <a:spcPts val="0"/>
              </a:spcAft>
              <a:buClrTx/>
              <a:buSzTx/>
              <a:buFont typeface="Courier New" panose="02070309020205020404" pitchFamily="49" charset="0"/>
              <a:buChar char="o"/>
              <a:tabLst/>
              <a:defRPr/>
            </a:pPr>
            <a:r>
              <a:rPr kumimoji="0" lang="en-US" sz="2800" b="1" i="0"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Improve Deadlock Detection</a:t>
            </a:r>
          </a:p>
        </p:txBody>
      </p:sp>
      <p:sp>
        <p:nvSpPr>
          <p:cNvPr id="19" name="TextBox 19"/>
          <p:cNvSpPr txBox="1"/>
          <p:nvPr/>
        </p:nvSpPr>
        <p:spPr>
          <a:xfrm>
            <a:off x="6919995" y="6080973"/>
            <a:ext cx="9694093" cy="1888274"/>
          </a:xfrm>
          <a:prstGeom prst="rect">
            <a:avLst/>
          </a:prstGeom>
        </p:spPr>
        <p:txBody>
          <a:bodyPr wrap="square" lIns="0" tIns="0" rIns="0" bIns="0" rtlCol="0" anchor="t">
            <a:spAutoFit/>
          </a:bodyPr>
          <a:lstStyle/>
          <a:p>
            <a:pPr marL="457200" marR="0" lvl="0" indent="-457200" algn="l" defTabSz="914400" rtl="0" eaLnBrk="1" fontAlgn="auto" latinLnBrk="0" hangingPunct="1">
              <a:lnSpc>
                <a:spcPts val="5056"/>
              </a:lnSpc>
              <a:spcBef>
                <a:spcPts val="0"/>
              </a:spcBef>
              <a:spcAft>
                <a:spcPts val="0"/>
              </a:spcAft>
              <a:buClrTx/>
              <a:buSzTx/>
              <a:buFont typeface="Courier New" panose="02070309020205020404" pitchFamily="49" charset="0"/>
              <a:buChar char="o"/>
              <a:tabLst/>
              <a:defRPr/>
            </a:pPr>
            <a:r>
              <a:rPr kumimoji="0" lang="en-US" sz="2800" b="1" i="0"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Generate Random Levels</a:t>
            </a:r>
          </a:p>
          <a:p>
            <a:pPr marL="457200" marR="0" lvl="0" indent="-457200" algn="l" defTabSz="914400" rtl="0" eaLnBrk="1" fontAlgn="auto" latinLnBrk="0" hangingPunct="1">
              <a:lnSpc>
                <a:spcPts val="5056"/>
              </a:lnSpc>
              <a:spcBef>
                <a:spcPts val="0"/>
              </a:spcBef>
              <a:spcAft>
                <a:spcPts val="0"/>
              </a:spcAft>
              <a:buClrTx/>
              <a:buSzTx/>
              <a:buFont typeface="Courier New" panose="02070309020205020404" pitchFamily="49" charset="0"/>
              <a:buChar char="o"/>
              <a:tabLst/>
              <a:defRPr/>
            </a:pPr>
            <a:r>
              <a:rPr kumimoji="0" lang="en-US" sz="2800" b="1" i="0"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Compare Multiple Search Algorithms</a:t>
            </a:r>
          </a:p>
          <a:p>
            <a:pPr marL="457200" marR="0" lvl="0" indent="-457200" algn="l" defTabSz="914400" rtl="0" eaLnBrk="1" fontAlgn="auto" latinLnBrk="0" hangingPunct="1">
              <a:lnSpc>
                <a:spcPts val="5056"/>
              </a:lnSpc>
              <a:spcBef>
                <a:spcPts val="0"/>
              </a:spcBef>
              <a:spcAft>
                <a:spcPts val="0"/>
              </a:spcAft>
              <a:buClrTx/>
              <a:buSzTx/>
              <a:buFont typeface="Courier New" panose="02070309020205020404" pitchFamily="49" charset="0"/>
              <a:buChar char="o"/>
              <a:tabLst/>
              <a:defRPr/>
            </a:pPr>
            <a:r>
              <a:rPr kumimoji="0" lang="en-US" sz="2800" b="1" i="0" u="none" strike="noStrike" kern="1200" cap="none" spc="0" normalizeH="0" baseline="0" noProof="0" dirty="0">
                <a:ln>
                  <a:noFill/>
                </a:ln>
                <a:solidFill>
                  <a:srgbClr val="000000"/>
                </a:solidFill>
                <a:effectLst/>
                <a:uLnTx/>
                <a:uFillTx/>
                <a:latin typeface="Anonymous Pro Bold"/>
                <a:ea typeface="Anonymous Pro Bold"/>
                <a:cs typeface="Anonymous Pro Bold"/>
                <a:sym typeface="Anonymous Pro Bold"/>
              </a:rPr>
              <a:t>Apply Reinforcement Learning Techniques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F5FF"/>
        </a:solidFill>
        <a:effectLst/>
      </p:bgPr>
    </p:bg>
    <p:spTree>
      <p:nvGrpSpPr>
        <p:cNvPr id="1" name=""/>
        <p:cNvGrpSpPr/>
        <p:nvPr/>
      </p:nvGrpSpPr>
      <p:grpSpPr>
        <a:xfrm>
          <a:off x="0" y="0"/>
          <a:ext cx="0" cy="0"/>
          <a:chOff x="0" y="0"/>
          <a:chExt cx="0" cy="0"/>
        </a:xfrm>
      </p:grpSpPr>
      <p:sp>
        <p:nvSpPr>
          <p:cNvPr id="2" name="Freeform 2"/>
          <p:cNvSpPr/>
          <p:nvPr/>
        </p:nvSpPr>
        <p:spPr>
          <a:xfrm>
            <a:off x="-230735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475996" y="8690086"/>
            <a:ext cx="12229780" cy="2090181"/>
          </a:xfrm>
          <a:custGeom>
            <a:avLst/>
            <a:gdLst/>
            <a:ahLst/>
            <a:cxnLst/>
            <a:rect l="l" t="t" r="r" b="b"/>
            <a:pathLst>
              <a:path w="12229780" h="2090181">
                <a:moveTo>
                  <a:pt x="0" y="0"/>
                </a:moveTo>
                <a:lnTo>
                  <a:pt x="12229781" y="0"/>
                </a:lnTo>
                <a:lnTo>
                  <a:pt x="12229781" y="2090180"/>
                </a:lnTo>
                <a:lnTo>
                  <a:pt x="0" y="209018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961731" y="2104912"/>
            <a:ext cx="13629156" cy="3038588"/>
          </a:xfrm>
          <a:prstGeom prst="rect">
            <a:avLst/>
          </a:prstGeom>
        </p:spPr>
        <p:txBody>
          <a:bodyPr lIns="0" tIns="0" rIns="0" bIns="0" rtlCol="0" anchor="t">
            <a:spAutoFit/>
          </a:bodyPr>
          <a:lstStyle/>
          <a:p>
            <a:pPr marL="0" lvl="0" indent="0" algn="ctr">
              <a:lnSpc>
                <a:spcPts val="12276"/>
              </a:lnSpc>
              <a:spcBef>
                <a:spcPct val="0"/>
              </a:spcBef>
            </a:pPr>
            <a:r>
              <a:rPr lang="en-US" sz="8768" dirty="0">
                <a:solidFill>
                  <a:srgbClr val="2E1B5B"/>
                </a:solidFill>
                <a:latin typeface="HK Modular"/>
                <a:ea typeface="HK Modular"/>
                <a:cs typeface="HK Modular"/>
                <a:sym typeface="HK Modular"/>
              </a:rPr>
              <a:t>THANK YOU FOR PLAYING!</a:t>
            </a:r>
          </a:p>
        </p:txBody>
      </p:sp>
      <p:sp>
        <p:nvSpPr>
          <p:cNvPr id="5" name="Freeform 5"/>
          <p:cNvSpPr/>
          <p:nvPr/>
        </p:nvSpPr>
        <p:spPr>
          <a:xfrm>
            <a:off x="16022675" y="1028700"/>
            <a:ext cx="3187865" cy="1628709"/>
          </a:xfrm>
          <a:custGeom>
            <a:avLst/>
            <a:gdLst/>
            <a:ahLst/>
            <a:cxnLst/>
            <a:rect l="l" t="t" r="r" b="b"/>
            <a:pathLst>
              <a:path w="3187865" h="1628709">
                <a:moveTo>
                  <a:pt x="0" y="0"/>
                </a:moveTo>
                <a:lnTo>
                  <a:pt x="3187865" y="0"/>
                </a:lnTo>
                <a:lnTo>
                  <a:pt x="3187865" y="1628709"/>
                </a:lnTo>
                <a:lnTo>
                  <a:pt x="0" y="16287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20987" y="47045"/>
            <a:ext cx="3187865" cy="1628709"/>
          </a:xfrm>
          <a:custGeom>
            <a:avLst/>
            <a:gdLst/>
            <a:ahLst/>
            <a:cxnLst/>
            <a:rect l="l" t="t" r="r" b="b"/>
            <a:pathLst>
              <a:path w="3187865" h="1628709">
                <a:moveTo>
                  <a:pt x="0" y="0"/>
                </a:moveTo>
                <a:lnTo>
                  <a:pt x="3187864" y="0"/>
                </a:lnTo>
                <a:lnTo>
                  <a:pt x="3187864" y="1628709"/>
                </a:lnTo>
                <a:lnTo>
                  <a:pt x="0" y="16287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088565" y="2528934"/>
            <a:ext cx="1746332" cy="892217"/>
          </a:xfrm>
          <a:custGeom>
            <a:avLst/>
            <a:gdLst/>
            <a:ahLst/>
            <a:cxnLst/>
            <a:rect l="l" t="t" r="r" b="b"/>
            <a:pathLst>
              <a:path w="1746332" h="892217">
                <a:moveTo>
                  <a:pt x="0" y="0"/>
                </a:moveTo>
                <a:lnTo>
                  <a:pt x="1746332" y="0"/>
                </a:lnTo>
                <a:lnTo>
                  <a:pt x="1746332" y="892217"/>
                </a:lnTo>
                <a:lnTo>
                  <a:pt x="0" y="89221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5294406" y="5791303"/>
            <a:ext cx="1518062" cy="2849605"/>
          </a:xfrm>
          <a:custGeom>
            <a:avLst/>
            <a:gdLst/>
            <a:ahLst/>
            <a:cxnLst/>
            <a:rect l="l" t="t" r="r" b="b"/>
            <a:pathLst>
              <a:path w="1518062" h="2849605">
                <a:moveTo>
                  <a:pt x="0" y="0"/>
                </a:moveTo>
                <a:lnTo>
                  <a:pt x="1518062" y="0"/>
                </a:lnTo>
                <a:lnTo>
                  <a:pt x="1518062" y="2849605"/>
                </a:lnTo>
                <a:lnTo>
                  <a:pt x="0" y="284960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6330324" y="1675754"/>
            <a:ext cx="1545974" cy="2034177"/>
          </a:xfrm>
          <a:custGeom>
            <a:avLst/>
            <a:gdLst/>
            <a:ahLst/>
            <a:cxnLst/>
            <a:rect l="l" t="t" r="r" b="b"/>
            <a:pathLst>
              <a:path w="1545974" h="2034177">
                <a:moveTo>
                  <a:pt x="0" y="0"/>
                </a:moveTo>
                <a:lnTo>
                  <a:pt x="1545974" y="0"/>
                </a:lnTo>
                <a:lnTo>
                  <a:pt x="1545974" y="2034177"/>
                </a:lnTo>
                <a:lnTo>
                  <a:pt x="0" y="203417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a:off x="14795856" y="3709931"/>
            <a:ext cx="8829368" cy="1509019"/>
          </a:xfrm>
          <a:custGeom>
            <a:avLst/>
            <a:gdLst/>
            <a:ahLst/>
            <a:cxnLst/>
            <a:rect l="l" t="t" r="r" b="b"/>
            <a:pathLst>
              <a:path w="8829368" h="1509019">
                <a:moveTo>
                  <a:pt x="0" y="0"/>
                </a:moveTo>
                <a:lnTo>
                  <a:pt x="8829367" y="0"/>
                </a:lnTo>
                <a:lnTo>
                  <a:pt x="8829367" y="1509019"/>
                </a:lnTo>
                <a:lnTo>
                  <a:pt x="0" y="150901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Freeform 11"/>
          <p:cNvSpPr/>
          <p:nvPr/>
        </p:nvSpPr>
        <p:spPr>
          <a:xfrm>
            <a:off x="7688768" y="5933334"/>
            <a:ext cx="2659240" cy="1378764"/>
          </a:xfrm>
          <a:custGeom>
            <a:avLst/>
            <a:gdLst/>
            <a:ahLst/>
            <a:cxnLst/>
            <a:rect l="l" t="t" r="r" b="b"/>
            <a:pathLst>
              <a:path w="2659240" h="1378764">
                <a:moveTo>
                  <a:pt x="0" y="0"/>
                </a:moveTo>
                <a:lnTo>
                  <a:pt x="2659240" y="0"/>
                </a:lnTo>
                <a:lnTo>
                  <a:pt x="2659240" y="1378764"/>
                </a:lnTo>
                <a:lnTo>
                  <a:pt x="0" y="1378764"/>
                </a:lnTo>
                <a:lnTo>
                  <a:pt x="0" y="0"/>
                </a:lnTo>
                <a:close/>
              </a:path>
            </a:pathLst>
          </a:custGeom>
          <a:blipFill>
            <a:blip>
              <a:extLst>
                <a:ext uri="{96DAC541-7B7A-43D3-8B79-37D633B846F1}">
                  <asvg:svgBlip xmlns:asvg="http://schemas.microsoft.com/office/drawing/2016/SVG/main" r:embed="rId2"/>
                </a:ext>
              </a:extLst>
            </a:blip>
            <a:stretch>
              <a:fillRect r="-203366"/>
            </a:stretch>
          </a:blipFill>
        </p:spPr>
      </p:sp>
      <p:sp>
        <p:nvSpPr>
          <p:cNvPr id="12" name="Freeform 12"/>
          <p:cNvSpPr/>
          <p:nvPr/>
        </p:nvSpPr>
        <p:spPr>
          <a:xfrm>
            <a:off x="-4431735" y="4285287"/>
            <a:ext cx="8239269" cy="1408166"/>
          </a:xfrm>
          <a:custGeom>
            <a:avLst/>
            <a:gdLst/>
            <a:ahLst/>
            <a:cxnLst/>
            <a:rect l="l" t="t" r="r" b="b"/>
            <a:pathLst>
              <a:path w="8239269" h="1408166">
                <a:moveTo>
                  <a:pt x="0" y="0"/>
                </a:moveTo>
                <a:lnTo>
                  <a:pt x="8239269" y="0"/>
                </a:lnTo>
                <a:lnTo>
                  <a:pt x="8239269" y="1408166"/>
                </a:lnTo>
                <a:lnTo>
                  <a:pt x="0" y="14081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Freeform 13"/>
          <p:cNvSpPr/>
          <p:nvPr/>
        </p:nvSpPr>
        <p:spPr>
          <a:xfrm>
            <a:off x="9475996" y="-600009"/>
            <a:ext cx="3867541" cy="1975962"/>
          </a:xfrm>
          <a:custGeom>
            <a:avLst/>
            <a:gdLst/>
            <a:ahLst/>
            <a:cxnLst/>
            <a:rect l="l" t="t" r="r" b="b"/>
            <a:pathLst>
              <a:path w="3867541" h="1975962">
                <a:moveTo>
                  <a:pt x="0" y="0"/>
                </a:moveTo>
                <a:lnTo>
                  <a:pt x="3867542" y="0"/>
                </a:lnTo>
                <a:lnTo>
                  <a:pt x="3867542" y="1975962"/>
                </a:lnTo>
                <a:lnTo>
                  <a:pt x="0" y="19759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Freeform 15"/>
          <p:cNvSpPr/>
          <p:nvPr/>
        </p:nvSpPr>
        <p:spPr>
          <a:xfrm>
            <a:off x="8652494" y="7509586"/>
            <a:ext cx="983013" cy="983013"/>
          </a:xfrm>
          <a:custGeom>
            <a:avLst/>
            <a:gdLst/>
            <a:ahLst/>
            <a:cxnLst/>
            <a:rect l="l" t="t" r="r" b="b"/>
            <a:pathLst>
              <a:path w="983013" h="983013">
                <a:moveTo>
                  <a:pt x="0" y="0"/>
                </a:moveTo>
                <a:lnTo>
                  <a:pt x="983012" y="0"/>
                </a:lnTo>
                <a:lnTo>
                  <a:pt x="983012" y="983012"/>
                </a:lnTo>
                <a:lnTo>
                  <a:pt x="0" y="98301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6" name="Freeform 16"/>
          <p:cNvSpPr/>
          <p:nvPr/>
        </p:nvSpPr>
        <p:spPr>
          <a:xfrm>
            <a:off x="13693137" y="7114200"/>
            <a:ext cx="2205437" cy="1575885"/>
          </a:xfrm>
          <a:custGeom>
            <a:avLst/>
            <a:gdLst/>
            <a:ahLst/>
            <a:cxnLst/>
            <a:rect l="l" t="t" r="r" b="b"/>
            <a:pathLst>
              <a:path w="2205437" h="1575885">
                <a:moveTo>
                  <a:pt x="0" y="0"/>
                </a:moveTo>
                <a:lnTo>
                  <a:pt x="2205437" y="0"/>
                </a:lnTo>
                <a:lnTo>
                  <a:pt x="2205437" y="1575886"/>
                </a:lnTo>
                <a:lnTo>
                  <a:pt x="0" y="157588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7" name="Freeform 17"/>
          <p:cNvSpPr/>
          <p:nvPr/>
        </p:nvSpPr>
        <p:spPr>
          <a:xfrm>
            <a:off x="11227303" y="5742126"/>
            <a:ext cx="1586538" cy="2947960"/>
          </a:xfrm>
          <a:custGeom>
            <a:avLst/>
            <a:gdLst/>
            <a:ahLst/>
            <a:cxnLst/>
            <a:rect l="l" t="t" r="r" b="b"/>
            <a:pathLst>
              <a:path w="1586538" h="2947960">
                <a:moveTo>
                  <a:pt x="0" y="0"/>
                </a:moveTo>
                <a:lnTo>
                  <a:pt x="1586539" y="0"/>
                </a:lnTo>
                <a:lnTo>
                  <a:pt x="1586539" y="2947960"/>
                </a:lnTo>
                <a:lnTo>
                  <a:pt x="0" y="294796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8" name="Freeform 18"/>
          <p:cNvSpPr/>
          <p:nvPr/>
        </p:nvSpPr>
        <p:spPr>
          <a:xfrm>
            <a:off x="1028700" y="5693453"/>
            <a:ext cx="1488096" cy="1903378"/>
          </a:xfrm>
          <a:custGeom>
            <a:avLst/>
            <a:gdLst/>
            <a:ahLst/>
            <a:cxnLst/>
            <a:rect l="l" t="t" r="r" b="b"/>
            <a:pathLst>
              <a:path w="1488096" h="1903378">
                <a:moveTo>
                  <a:pt x="0" y="0"/>
                </a:moveTo>
                <a:lnTo>
                  <a:pt x="1488096" y="0"/>
                </a:lnTo>
                <a:lnTo>
                  <a:pt x="1488096" y="1903378"/>
                </a:lnTo>
                <a:lnTo>
                  <a:pt x="0" y="1903378"/>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9" name="Freeform 33">
            <a:extLst>
              <a:ext uri="{FF2B5EF4-FFF2-40B4-BE49-F238E27FC236}">
                <a16:creationId xmlns:a16="http://schemas.microsoft.com/office/drawing/2014/main" id="{6CEE0C14-4793-7101-7196-FD5B091C1D2C}"/>
              </a:ext>
            </a:extLst>
          </p:cNvPr>
          <p:cNvSpPr/>
          <p:nvPr/>
        </p:nvSpPr>
        <p:spPr>
          <a:xfrm>
            <a:off x="1088565" y="3168478"/>
            <a:ext cx="883699" cy="816217"/>
          </a:xfrm>
          <a:custGeom>
            <a:avLst/>
            <a:gdLst/>
            <a:ahLst/>
            <a:cxnLst/>
            <a:rect l="l" t="t" r="r" b="b"/>
            <a:pathLst>
              <a:path w="883699" h="816217">
                <a:moveTo>
                  <a:pt x="0" y="0"/>
                </a:moveTo>
                <a:lnTo>
                  <a:pt x="883699" y="0"/>
                </a:lnTo>
                <a:lnTo>
                  <a:pt x="883699" y="816217"/>
                </a:lnTo>
                <a:lnTo>
                  <a:pt x="0" y="816217"/>
                </a:lnTo>
                <a:lnTo>
                  <a:pt x="0" y="0"/>
                </a:lnTo>
                <a:close/>
              </a:path>
            </a:pathLst>
          </a:custGeom>
          <a:blipFill>
            <a:blip>
              <a:extLst>
                <a:ext uri="{96DAC541-7B7A-43D3-8B79-37D633B846F1}">
                  <asvg:svgBlip xmlns:asvg="http://schemas.microsoft.com/office/drawing/2016/SVG/main" r:embed="rId10"/>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631</Words>
  <Application>Microsoft Office PowerPoint</Application>
  <PresentationFormat>مخصص</PresentationFormat>
  <Paragraphs>87</Paragraphs>
  <Slides>17</Slides>
  <Notes>3</Notes>
  <HiddenSlides>0</HiddenSlides>
  <MMClips>0</MMClips>
  <ScaleCrop>false</ScaleCrop>
  <HeadingPairs>
    <vt:vector size="6" baseType="variant">
      <vt:variant>
        <vt:lpstr>الخطوط المستخدمة</vt:lpstr>
      </vt:variant>
      <vt:variant>
        <vt:i4>10</vt:i4>
      </vt:variant>
      <vt:variant>
        <vt:lpstr>نسق</vt:lpstr>
      </vt:variant>
      <vt:variant>
        <vt:i4>1</vt:i4>
      </vt:variant>
      <vt:variant>
        <vt:lpstr>عناوين الشرائح</vt:lpstr>
      </vt:variant>
      <vt:variant>
        <vt:i4>17</vt:i4>
      </vt:variant>
    </vt:vector>
  </HeadingPairs>
  <TitlesOfParts>
    <vt:vector size="28" baseType="lpstr">
      <vt:lpstr>Arial</vt:lpstr>
      <vt:lpstr>Anonymous Pro Bold</vt:lpstr>
      <vt:lpstr>HelveticaNeueLT Arabic 55 Roman</vt:lpstr>
      <vt:lpstr>Calibri</vt:lpstr>
      <vt:lpstr>Anonymous Pro</vt:lpstr>
      <vt:lpstr>Anonymous Pro Italics</vt:lpstr>
      <vt:lpstr>Wingdings</vt:lpstr>
      <vt:lpstr>HK Modular</vt:lpstr>
      <vt:lpstr>Courier New</vt:lpstr>
      <vt:lpstr>SuperDario</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Illustrative Pixel Art Game Presentation</dc:title>
  <dc:creator>Lenovo</dc:creator>
  <cp:lastModifiedBy>fedaasadeq@outlook.sa</cp:lastModifiedBy>
  <cp:revision>16</cp:revision>
  <dcterms:created xsi:type="dcterms:W3CDTF">2006-08-16T00:00:00Z</dcterms:created>
  <dcterms:modified xsi:type="dcterms:W3CDTF">2026-06-05T06:09:50Z</dcterms:modified>
  <dc:identifier>DAG-pKSRqt0</dc:identifier>
</cp:coreProperties>
</file>